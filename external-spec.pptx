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2" r:id="rId4"/>
    <p:sldMasterId id="2147484331" r:id="rId5"/>
  </p:sldMasterIdLst>
  <p:notesMasterIdLst>
    <p:notesMasterId r:id="rId16"/>
  </p:notesMasterIdLst>
  <p:handoutMasterIdLst>
    <p:handoutMasterId r:id="rId17"/>
  </p:handoutMasterIdLst>
  <p:sldIdLst>
    <p:sldId id="2389" r:id="rId6"/>
    <p:sldId id="2390" r:id="rId7"/>
    <p:sldId id="2392" r:id="rId8"/>
    <p:sldId id="2393" r:id="rId9"/>
    <p:sldId id="2394" r:id="rId10"/>
    <p:sldId id="2395" r:id="rId11"/>
    <p:sldId id="2396" r:id="rId12"/>
    <p:sldId id="2397" r:id="rId13"/>
    <p:sldId id="2398" r:id="rId14"/>
    <p:sldId id="2399" r:id="rId15"/>
  </p:sldIdLst>
  <p:sldSz cx="12192000" cy="6858000"/>
  <p:notesSz cx="7104063" cy="10234613"/>
  <p:defaultTextStyle>
    <a:defPPr>
      <a:defRPr lang="ja-JP"/>
    </a:defPPr>
    <a:lvl1pPr algn="l" rtl="0" fontAlgn="base">
      <a:spcBef>
        <a:spcPct val="0"/>
      </a:spcBef>
      <a:spcAft>
        <a:spcPct val="0"/>
      </a:spcAft>
      <a:defRPr kumimoji="1" b="1" kern="1200">
        <a:solidFill>
          <a:schemeClr val="tx1"/>
        </a:solidFill>
        <a:latin typeface="HGP創英角ｺﾞｼｯｸUB" pitchFamily="50" charset="-128"/>
        <a:ea typeface="ＭＳ Ｐゴシック" pitchFamily="50" charset="-128"/>
        <a:cs typeface="+mn-cs"/>
      </a:defRPr>
    </a:lvl1pPr>
    <a:lvl2pPr marL="457200" algn="l" rtl="0" fontAlgn="base">
      <a:spcBef>
        <a:spcPct val="0"/>
      </a:spcBef>
      <a:spcAft>
        <a:spcPct val="0"/>
      </a:spcAft>
      <a:defRPr kumimoji="1" b="1" kern="1200">
        <a:solidFill>
          <a:schemeClr val="tx1"/>
        </a:solidFill>
        <a:latin typeface="HGP創英角ｺﾞｼｯｸUB" pitchFamily="50" charset="-128"/>
        <a:ea typeface="ＭＳ Ｐゴシック" pitchFamily="50" charset="-128"/>
        <a:cs typeface="+mn-cs"/>
      </a:defRPr>
    </a:lvl2pPr>
    <a:lvl3pPr marL="914400" algn="l" rtl="0" fontAlgn="base">
      <a:spcBef>
        <a:spcPct val="0"/>
      </a:spcBef>
      <a:spcAft>
        <a:spcPct val="0"/>
      </a:spcAft>
      <a:defRPr kumimoji="1" b="1" kern="1200">
        <a:solidFill>
          <a:schemeClr val="tx1"/>
        </a:solidFill>
        <a:latin typeface="HGP創英角ｺﾞｼｯｸUB" pitchFamily="50" charset="-128"/>
        <a:ea typeface="ＭＳ Ｐゴシック" pitchFamily="50" charset="-128"/>
        <a:cs typeface="+mn-cs"/>
      </a:defRPr>
    </a:lvl3pPr>
    <a:lvl4pPr marL="1371600" algn="l" rtl="0" fontAlgn="base">
      <a:spcBef>
        <a:spcPct val="0"/>
      </a:spcBef>
      <a:spcAft>
        <a:spcPct val="0"/>
      </a:spcAft>
      <a:defRPr kumimoji="1" b="1" kern="1200">
        <a:solidFill>
          <a:schemeClr val="tx1"/>
        </a:solidFill>
        <a:latin typeface="HGP創英角ｺﾞｼｯｸUB" pitchFamily="50" charset="-128"/>
        <a:ea typeface="ＭＳ Ｐゴシック" pitchFamily="50" charset="-128"/>
        <a:cs typeface="+mn-cs"/>
      </a:defRPr>
    </a:lvl4pPr>
    <a:lvl5pPr marL="1828800" algn="l" rtl="0" fontAlgn="base">
      <a:spcBef>
        <a:spcPct val="0"/>
      </a:spcBef>
      <a:spcAft>
        <a:spcPct val="0"/>
      </a:spcAft>
      <a:defRPr kumimoji="1" b="1" kern="1200">
        <a:solidFill>
          <a:schemeClr val="tx1"/>
        </a:solidFill>
        <a:latin typeface="HGP創英角ｺﾞｼｯｸUB" pitchFamily="50" charset="-128"/>
        <a:ea typeface="ＭＳ Ｐゴシック" pitchFamily="50" charset="-128"/>
        <a:cs typeface="+mn-cs"/>
      </a:defRPr>
    </a:lvl5pPr>
    <a:lvl6pPr marL="2286000" algn="l" defTabSz="914400" rtl="0" eaLnBrk="1" latinLnBrk="0" hangingPunct="1">
      <a:defRPr kumimoji="1" b="1" kern="1200">
        <a:solidFill>
          <a:schemeClr val="tx1"/>
        </a:solidFill>
        <a:latin typeface="HGP創英角ｺﾞｼｯｸUB" pitchFamily="50" charset="-128"/>
        <a:ea typeface="ＭＳ Ｐゴシック" pitchFamily="50" charset="-128"/>
        <a:cs typeface="+mn-cs"/>
      </a:defRPr>
    </a:lvl6pPr>
    <a:lvl7pPr marL="2743200" algn="l" defTabSz="914400" rtl="0" eaLnBrk="1" latinLnBrk="0" hangingPunct="1">
      <a:defRPr kumimoji="1" b="1" kern="1200">
        <a:solidFill>
          <a:schemeClr val="tx1"/>
        </a:solidFill>
        <a:latin typeface="HGP創英角ｺﾞｼｯｸUB" pitchFamily="50" charset="-128"/>
        <a:ea typeface="ＭＳ Ｐゴシック" pitchFamily="50" charset="-128"/>
        <a:cs typeface="+mn-cs"/>
      </a:defRPr>
    </a:lvl7pPr>
    <a:lvl8pPr marL="3200400" algn="l" defTabSz="914400" rtl="0" eaLnBrk="1" latinLnBrk="0" hangingPunct="1">
      <a:defRPr kumimoji="1" b="1" kern="1200">
        <a:solidFill>
          <a:schemeClr val="tx1"/>
        </a:solidFill>
        <a:latin typeface="HGP創英角ｺﾞｼｯｸUB" pitchFamily="50" charset="-128"/>
        <a:ea typeface="ＭＳ Ｐゴシック" pitchFamily="50" charset="-128"/>
        <a:cs typeface="+mn-cs"/>
      </a:defRPr>
    </a:lvl8pPr>
    <a:lvl9pPr marL="3657600" algn="l" defTabSz="914400" rtl="0" eaLnBrk="1" latinLnBrk="0" hangingPunct="1">
      <a:defRPr kumimoji="1" b="1" kern="1200">
        <a:solidFill>
          <a:schemeClr val="tx1"/>
        </a:solidFill>
        <a:latin typeface="HGP創英角ｺﾞｼｯｸUB" pitchFamily="50" charset="-128"/>
        <a:ea typeface="ＭＳ Ｐゴシック" pitchFamily="50" charset="-128"/>
        <a:cs typeface="+mn-cs"/>
      </a:defRPr>
    </a:lvl9pPr>
  </p:defaultTextStyle>
  <p:extLst>
    <p:ext uri="{EFAFB233-063F-42B5-8137-9DF3F51BA10A}">
      <p15:sldGuideLst xmlns:p15="http://schemas.microsoft.com/office/powerpoint/2012/main">
        <p15:guide id="1" orient="horz" pos="487" userDrawn="1">
          <p15:clr>
            <a:srgbClr val="A4A3A4"/>
          </p15:clr>
        </p15:guide>
        <p15:guide id="2" pos="279" userDrawn="1">
          <p15:clr>
            <a:srgbClr val="A4A3A4"/>
          </p15:clr>
        </p15:guide>
        <p15:guide id="3" pos="7393" userDrawn="1">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FFFF66"/>
    <a:srgbClr val="99CCFF"/>
    <a:srgbClr val="FFFFCC"/>
    <a:srgbClr val="0000CC"/>
    <a:srgbClr val="CCCCFF"/>
    <a:srgbClr val="FFDDF7"/>
    <a:srgbClr val="FFF0EB"/>
    <a:srgbClr val="A70000"/>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81" autoAdjust="0"/>
    <p:restoredTop sz="72278" autoAdjust="0"/>
  </p:normalViewPr>
  <p:slideViewPr>
    <p:cSldViewPr snapToGrid="0">
      <p:cViewPr varScale="1">
        <p:scale>
          <a:sx n="56" d="100"/>
          <a:sy n="56" d="100"/>
        </p:scale>
        <p:origin x="56" y="92"/>
      </p:cViewPr>
      <p:guideLst>
        <p:guide orient="horz" pos="487"/>
        <p:guide pos="279"/>
        <p:guide pos="7393"/>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2260" y="588"/>
      </p:cViewPr>
      <p:guideLst>
        <p:guide orient="horz" pos="3223"/>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2" y="3"/>
            <a:ext cx="3079486" cy="51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29" tIns="49514" rIns="99029" bIns="49514" numCol="1" anchor="t" anchorCtr="0" compatLnSpc="1">
            <a:prstTxWarp prst="textNoShape">
              <a:avLst/>
            </a:prstTxWarp>
          </a:bodyPr>
          <a:lstStyle>
            <a:lvl1pPr defTabSz="991933">
              <a:spcBef>
                <a:spcPct val="0"/>
              </a:spcBef>
              <a:defRPr sz="1200" b="0">
                <a:latin typeface="Arial" charset="0"/>
                <a:ea typeface="ＭＳ Ｐゴシック" pitchFamily="50" charset="-128"/>
              </a:defRPr>
            </a:lvl1pPr>
          </a:lstStyle>
          <a:p>
            <a:pPr>
              <a:defRPr/>
            </a:pPr>
            <a:endParaRPr lang="en-US" altLang="ja-JP"/>
          </a:p>
        </p:txBody>
      </p:sp>
      <p:sp>
        <p:nvSpPr>
          <p:cNvPr id="60419" name="Rectangle 3"/>
          <p:cNvSpPr>
            <a:spLocks noGrp="1" noChangeArrowheads="1"/>
          </p:cNvSpPr>
          <p:nvPr>
            <p:ph type="dt" sz="quarter" idx="1"/>
          </p:nvPr>
        </p:nvSpPr>
        <p:spPr bwMode="auto">
          <a:xfrm>
            <a:off x="4022905" y="3"/>
            <a:ext cx="3079486" cy="51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29" tIns="49514" rIns="99029" bIns="49514" numCol="1" anchor="t" anchorCtr="0" compatLnSpc="1">
            <a:prstTxWarp prst="textNoShape">
              <a:avLst/>
            </a:prstTxWarp>
          </a:bodyPr>
          <a:lstStyle>
            <a:lvl1pPr algn="r" defTabSz="991933">
              <a:spcBef>
                <a:spcPct val="0"/>
              </a:spcBef>
              <a:defRPr sz="1200" b="0">
                <a:latin typeface="Arial" charset="0"/>
                <a:ea typeface="ＭＳ Ｐゴシック" pitchFamily="50" charset="-128"/>
              </a:defRPr>
            </a:lvl1pPr>
          </a:lstStyle>
          <a:p>
            <a:pPr>
              <a:defRPr/>
            </a:pPr>
            <a:endParaRPr lang="en-US" altLang="ja-JP"/>
          </a:p>
        </p:txBody>
      </p:sp>
      <p:sp>
        <p:nvSpPr>
          <p:cNvPr id="60420" name="Rectangle 4"/>
          <p:cNvSpPr>
            <a:spLocks noGrp="1" noChangeArrowheads="1"/>
          </p:cNvSpPr>
          <p:nvPr>
            <p:ph type="ftr" sz="quarter" idx="2"/>
          </p:nvPr>
        </p:nvSpPr>
        <p:spPr bwMode="auto">
          <a:xfrm>
            <a:off x="2" y="9722801"/>
            <a:ext cx="3079486" cy="51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29" tIns="49514" rIns="99029" bIns="49514" numCol="1" anchor="b" anchorCtr="0" compatLnSpc="1">
            <a:prstTxWarp prst="textNoShape">
              <a:avLst/>
            </a:prstTxWarp>
          </a:bodyPr>
          <a:lstStyle>
            <a:lvl1pPr defTabSz="991933">
              <a:spcBef>
                <a:spcPct val="0"/>
              </a:spcBef>
              <a:defRPr sz="1200" b="0">
                <a:latin typeface="Arial" charset="0"/>
                <a:ea typeface="ＭＳ Ｐゴシック" pitchFamily="50" charset="-128"/>
              </a:defRPr>
            </a:lvl1pPr>
          </a:lstStyle>
          <a:p>
            <a:pPr>
              <a:defRPr/>
            </a:pPr>
            <a:endParaRPr lang="en-US" altLang="ja-JP"/>
          </a:p>
        </p:txBody>
      </p:sp>
      <p:sp>
        <p:nvSpPr>
          <p:cNvPr id="60421" name="Rectangle 5"/>
          <p:cNvSpPr>
            <a:spLocks noGrp="1" noChangeArrowheads="1"/>
          </p:cNvSpPr>
          <p:nvPr>
            <p:ph type="sldNum" sz="quarter" idx="3"/>
          </p:nvPr>
        </p:nvSpPr>
        <p:spPr bwMode="auto">
          <a:xfrm>
            <a:off x="4022905" y="9722801"/>
            <a:ext cx="3079486" cy="51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29" tIns="49514" rIns="99029" bIns="49514" numCol="1" anchor="b" anchorCtr="0" compatLnSpc="1">
            <a:prstTxWarp prst="textNoShape">
              <a:avLst/>
            </a:prstTxWarp>
          </a:bodyPr>
          <a:lstStyle>
            <a:lvl1pPr algn="r" defTabSz="991933">
              <a:spcBef>
                <a:spcPct val="0"/>
              </a:spcBef>
              <a:defRPr sz="1200" b="0">
                <a:latin typeface="Arial" charset="0"/>
                <a:ea typeface="ＭＳ Ｐゴシック" pitchFamily="50" charset="-128"/>
              </a:defRPr>
            </a:lvl1pPr>
          </a:lstStyle>
          <a:p>
            <a:pPr>
              <a:defRPr/>
            </a:pPr>
            <a:fld id="{36E63D7F-5C27-4A51-9420-3DD3EB3B9E29}" type="slidenum">
              <a:rPr lang="en-US" altLang="ja-JP"/>
              <a:pPr>
                <a:defRPr/>
              </a:pPr>
              <a:t>‹#›</a:t>
            </a:fld>
            <a:endParaRPr lang="en-US" altLang="ja-JP"/>
          </a:p>
        </p:txBody>
      </p:sp>
    </p:spTree>
    <p:extLst>
      <p:ext uri="{BB962C8B-B14F-4D97-AF65-F5344CB8AC3E}">
        <p14:creationId xmlns:p14="http://schemas.microsoft.com/office/powerpoint/2010/main" val="26643468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2" y="3"/>
            <a:ext cx="3079486" cy="51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29" tIns="49514" rIns="99029" bIns="49514" numCol="1" anchor="t" anchorCtr="0" compatLnSpc="1">
            <a:prstTxWarp prst="textNoShape">
              <a:avLst/>
            </a:prstTxWarp>
          </a:bodyPr>
          <a:lstStyle>
            <a:lvl1pPr defTabSz="991933">
              <a:spcBef>
                <a:spcPct val="0"/>
              </a:spcBef>
              <a:defRPr sz="1200" b="0">
                <a:latin typeface="Arial" charset="0"/>
                <a:ea typeface="ＭＳ Ｐゴシック" pitchFamily="50" charset="-128"/>
              </a:defRPr>
            </a:lvl1pPr>
          </a:lstStyle>
          <a:p>
            <a:pPr>
              <a:defRPr/>
            </a:pPr>
            <a:endParaRPr lang="en-US" altLang="ja-JP"/>
          </a:p>
        </p:txBody>
      </p:sp>
      <p:sp>
        <p:nvSpPr>
          <p:cNvPr id="9219" name="Rectangle 3"/>
          <p:cNvSpPr>
            <a:spLocks noGrp="1" noChangeArrowheads="1"/>
          </p:cNvSpPr>
          <p:nvPr>
            <p:ph type="dt" idx="1"/>
          </p:nvPr>
        </p:nvSpPr>
        <p:spPr bwMode="auto">
          <a:xfrm>
            <a:off x="4022905" y="3"/>
            <a:ext cx="3079486" cy="51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29" tIns="49514" rIns="99029" bIns="49514" numCol="1" anchor="t" anchorCtr="0" compatLnSpc="1">
            <a:prstTxWarp prst="textNoShape">
              <a:avLst/>
            </a:prstTxWarp>
          </a:bodyPr>
          <a:lstStyle>
            <a:lvl1pPr algn="r" defTabSz="991933">
              <a:spcBef>
                <a:spcPct val="0"/>
              </a:spcBef>
              <a:defRPr sz="1200" b="0">
                <a:latin typeface="Arial" charset="0"/>
                <a:ea typeface="ＭＳ Ｐゴシック" pitchFamily="50" charset="-128"/>
              </a:defRPr>
            </a:lvl1pPr>
          </a:lstStyle>
          <a:p>
            <a:pPr>
              <a:defRPr/>
            </a:pPr>
            <a:endParaRPr lang="en-US" altLang="ja-JP"/>
          </a:p>
        </p:txBody>
      </p:sp>
      <p:sp>
        <p:nvSpPr>
          <p:cNvPr id="14340" name="Rectangle 4"/>
          <p:cNvSpPr>
            <a:spLocks noGrp="1" noRot="1" noChangeAspect="1" noChangeArrowheads="1" noTextEdit="1"/>
          </p:cNvSpPr>
          <p:nvPr>
            <p:ph type="sldImg" idx="2"/>
          </p:nvPr>
        </p:nvSpPr>
        <p:spPr bwMode="auto">
          <a:xfrm>
            <a:off x="142875" y="769938"/>
            <a:ext cx="6821488" cy="38369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p:cNvSpPr>
            <a:spLocks noGrp="1" noChangeArrowheads="1"/>
          </p:cNvSpPr>
          <p:nvPr>
            <p:ph type="body" sz="quarter" idx="3"/>
          </p:nvPr>
        </p:nvSpPr>
        <p:spPr bwMode="auto">
          <a:xfrm>
            <a:off x="709237" y="4861400"/>
            <a:ext cx="5685592" cy="4604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29" tIns="49514" rIns="99029" bIns="49514"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9222" name="Rectangle 6"/>
          <p:cNvSpPr>
            <a:spLocks noGrp="1" noChangeArrowheads="1"/>
          </p:cNvSpPr>
          <p:nvPr>
            <p:ph type="ftr" sz="quarter" idx="4"/>
          </p:nvPr>
        </p:nvSpPr>
        <p:spPr bwMode="auto">
          <a:xfrm>
            <a:off x="2" y="9722801"/>
            <a:ext cx="3079486" cy="51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29" tIns="49514" rIns="99029" bIns="49514" numCol="1" anchor="b" anchorCtr="0" compatLnSpc="1">
            <a:prstTxWarp prst="textNoShape">
              <a:avLst/>
            </a:prstTxWarp>
          </a:bodyPr>
          <a:lstStyle>
            <a:lvl1pPr defTabSz="991933">
              <a:spcBef>
                <a:spcPct val="0"/>
              </a:spcBef>
              <a:defRPr sz="1200" b="0">
                <a:latin typeface="Arial" charset="0"/>
                <a:ea typeface="ＭＳ Ｐゴシック" pitchFamily="50" charset="-128"/>
              </a:defRPr>
            </a:lvl1pPr>
          </a:lstStyle>
          <a:p>
            <a:pPr>
              <a:defRPr/>
            </a:pPr>
            <a:endParaRPr lang="en-US" altLang="ja-JP"/>
          </a:p>
        </p:txBody>
      </p:sp>
      <p:sp>
        <p:nvSpPr>
          <p:cNvPr id="9223" name="Rectangle 7"/>
          <p:cNvSpPr>
            <a:spLocks noGrp="1" noChangeArrowheads="1"/>
          </p:cNvSpPr>
          <p:nvPr>
            <p:ph type="sldNum" sz="quarter" idx="5"/>
          </p:nvPr>
        </p:nvSpPr>
        <p:spPr bwMode="auto">
          <a:xfrm>
            <a:off x="4022905" y="9722801"/>
            <a:ext cx="3079486" cy="51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29" tIns="49514" rIns="99029" bIns="49514" numCol="1" anchor="b" anchorCtr="0" compatLnSpc="1">
            <a:prstTxWarp prst="textNoShape">
              <a:avLst/>
            </a:prstTxWarp>
          </a:bodyPr>
          <a:lstStyle>
            <a:lvl1pPr algn="r" defTabSz="991933">
              <a:spcBef>
                <a:spcPct val="0"/>
              </a:spcBef>
              <a:defRPr sz="1200" b="0">
                <a:latin typeface="Arial" charset="0"/>
                <a:ea typeface="ＭＳ Ｐゴシック" pitchFamily="50" charset="-128"/>
              </a:defRPr>
            </a:lvl1pPr>
          </a:lstStyle>
          <a:p>
            <a:pPr>
              <a:defRPr/>
            </a:pPr>
            <a:fld id="{CABF7AC7-1497-4ABD-9B5E-DCC8A129EF99}" type="slidenum">
              <a:rPr lang="en-US" altLang="ja-JP"/>
              <a:pPr>
                <a:defRPr/>
              </a:pPr>
              <a:t>‹#›</a:t>
            </a:fld>
            <a:endParaRPr lang="en-US" altLang="ja-JP"/>
          </a:p>
        </p:txBody>
      </p:sp>
    </p:spTree>
    <p:extLst>
      <p:ext uri="{BB962C8B-B14F-4D97-AF65-F5344CB8AC3E}">
        <p14:creationId xmlns:p14="http://schemas.microsoft.com/office/powerpoint/2010/main" val="20024891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CABF7AC7-1497-4ABD-9B5E-DCC8A129EF99}" type="slidenum">
              <a:rPr lang="en-US" altLang="ja-JP" smtClean="0"/>
              <a:pPr>
                <a:defRPr/>
              </a:pPr>
              <a:t>1</a:t>
            </a:fld>
            <a:endParaRPr lang="en-US" altLang="ja-JP"/>
          </a:p>
        </p:txBody>
      </p:sp>
    </p:spTree>
    <p:extLst>
      <p:ext uri="{BB962C8B-B14F-4D97-AF65-F5344CB8AC3E}">
        <p14:creationId xmlns:p14="http://schemas.microsoft.com/office/powerpoint/2010/main" val="4030521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p>
        </p:txBody>
      </p:sp>
      <p:sp>
        <p:nvSpPr>
          <p:cNvPr id="3" name="Notes Placeholder 2"/>
          <p:cNvSpPr>
            <a:spLocks noGrp="1"/>
          </p:cNvSpPr>
          <p:nvPr>
            <p:ph type="body" idx="1"/>
          </p:nvPr>
        </p:nvSpPr>
        <p:spPr/>
        <p:txBody>
          <a:bodyPr/>
          <a:lstStyle/>
          <a:p>
            <a:r>
              <a:rPr lang="ja-JP" dirty="0">
                <a:latin typeface="Meiryo UI"/>
                <a:ea typeface="Meiryo UI"/>
              </a:rPr>
              <a:t>【補足説明】</a:t>
            </a:r>
          </a:p>
          <a:p>
            <a:r>
              <a:rPr lang="ja-JP" dirty="0">
                <a:latin typeface="Meiryo UI"/>
                <a:ea typeface="Meiryo UI"/>
              </a:rPr>
              <a:t>Claude Team の共有には「Web UI（claude.ai）」と「Claude Code CLI」の2つの独立した経路があります。</a:t>
            </a:r>
          </a:p>
          <a:p>
            <a:endParaRPr lang="ja-JP" dirty="0">
              <a:latin typeface="Meiryo UI"/>
              <a:ea typeface="Meiryo UI"/>
            </a:endParaRPr>
          </a:p>
          <a:p>
            <a:r>
              <a:rPr lang="ja-JP" dirty="0">
                <a:latin typeface="Meiryo UI"/>
                <a:ea typeface="Meiryo UI"/>
              </a:rPr>
              <a:t>■ Web UI（Projects）</a:t>
            </a:r>
          </a:p>
          <a:p>
            <a:r>
              <a:rPr lang="ja-JP" dirty="0">
                <a:latin typeface="Meiryo UI"/>
                <a:ea typeface="Meiryo UI"/>
              </a:rPr>
              <a:t>・ブラウザ上で Project 単位の共有を行う仕組みです。</a:t>
            </a:r>
          </a:p>
          <a:p>
            <a:r>
              <a:rPr lang="ja-JP" dirty="0">
                <a:latin typeface="Meiryo UI"/>
                <a:ea typeface="Meiryo UI"/>
              </a:rPr>
              <a:t>・ドキュメント・カスタム指示・チャット履歴をまとめて管理できます。</a:t>
            </a:r>
          </a:p>
          <a:p>
            <a:r>
              <a:rPr lang="ja-JP" dirty="0">
                <a:latin typeface="Meiryo UI"/>
                <a:ea typeface="Meiryo UI"/>
              </a:rPr>
              <a:t>・非エンジニアを含むチーム全体での利用に適しています。</a:t>
            </a:r>
          </a:p>
          <a:p>
            <a:endParaRPr lang="ja-JP" dirty="0">
              <a:latin typeface="Meiryo UI"/>
              <a:ea typeface="Meiryo UI"/>
            </a:endParaRPr>
          </a:p>
          <a:p>
            <a:r>
              <a:rPr lang="ja-JP" dirty="0">
                <a:latin typeface="Meiryo UI"/>
                <a:ea typeface="Meiryo UI"/>
              </a:rPr>
              <a:t>■ Claude Code CLI（Git）</a:t>
            </a:r>
          </a:p>
          <a:p>
            <a:r>
              <a:rPr lang="ja-JP" dirty="0">
                <a:latin typeface="Meiryo UI"/>
                <a:ea typeface="Meiryo UI"/>
              </a:rPr>
              <a:t>・.claude/ ディレクトリ配下のファイルをリポジトリにコミットすることで共有します。</a:t>
            </a:r>
          </a:p>
          <a:p>
            <a:r>
              <a:rPr lang="ja-JP" dirty="0">
                <a:latin typeface="Meiryo UI"/>
                <a:ea typeface="Meiryo UI"/>
              </a:rPr>
              <a:t>・clone した全員が同じ設定・ツール・Skill を使えるようになります。</a:t>
            </a:r>
          </a:p>
          <a:p>
            <a:r>
              <a:rPr lang="ja-JP" dirty="0">
                <a:latin typeface="Meiryo UI"/>
                <a:ea typeface="Meiryo UI"/>
              </a:rPr>
              <a:t>・開発者向けの共有手段です。</a:t>
            </a:r>
          </a:p>
          <a:p>
            <a:endParaRPr lang="ja-JP" dirty="0">
              <a:latin typeface="Meiryo UI"/>
              <a:ea typeface="Meiryo UI"/>
            </a:endParaRPr>
          </a:p>
          <a:p>
            <a:r>
              <a:rPr lang="ja-JP" dirty="0">
                <a:latin typeface="Meiryo UI"/>
                <a:ea typeface="Meiryo UI"/>
              </a:rPr>
              <a:t>※ この2つの経路は独立しており、直接の連携機能はありません。用途に応じて使い分けてください。</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p>
        </p:txBody>
      </p:sp>
      <p:sp>
        <p:nvSpPr>
          <p:cNvPr id="3" name="Notes Placeholder 2"/>
          <p:cNvSpPr>
            <a:spLocks noGrp="1"/>
          </p:cNvSpPr>
          <p:nvPr>
            <p:ph type="body" idx="1"/>
          </p:nvPr>
        </p:nvSpPr>
        <p:spPr/>
        <p:txBody>
          <a:bodyPr/>
          <a:lstStyle/>
          <a:p>
            <a:r>
              <a:rPr lang="ja-JP" dirty="0">
                <a:latin typeface="Meiryo UI"/>
                <a:ea typeface="Meiryo UI"/>
              </a:rPr>
              <a:t>【補足説明：Web UI での共有（Projects）】</a:t>
            </a:r>
          </a:p>
          <a:p>
            <a:endParaRPr lang="ja-JP" dirty="0">
              <a:latin typeface="Meiryo UI"/>
              <a:ea typeface="Meiryo UI"/>
            </a:endParaRPr>
          </a:p>
          <a:p>
            <a:r>
              <a:rPr lang="ja-JP" dirty="0">
                <a:latin typeface="Meiryo UI"/>
                <a:ea typeface="Meiryo UI"/>
              </a:rPr>
              <a:t>Projects は Claude Team の中核的な共有機能です。</a:t>
            </a:r>
          </a:p>
          <a:p>
            <a:endParaRPr lang="ja-JP" dirty="0">
              <a:latin typeface="Meiryo UI"/>
              <a:ea typeface="Meiryo UI"/>
            </a:endParaRPr>
          </a:p>
          <a:p>
            <a:r>
              <a:rPr lang="ja-JP" dirty="0">
                <a:latin typeface="Meiryo UI"/>
                <a:ea typeface="Meiryo UI"/>
              </a:rPr>
              <a:t>■ 共有単位について</a:t>
            </a:r>
          </a:p>
          <a:p>
            <a:r>
              <a:rPr lang="ja-JP" dirty="0">
                <a:latin typeface="Meiryo UI"/>
                <a:ea typeface="Meiryo UI"/>
              </a:rPr>
              <a:t>Project は「箱」のようなもので、関連するドキュメント・カスタム指示・チャット履歴をひとまとめにできます。チームで同じコンテキストを使って Claude とやり取りする際に便利です。</a:t>
            </a:r>
          </a:p>
          <a:p>
            <a:endParaRPr lang="ja-JP" dirty="0">
              <a:latin typeface="Meiryo UI"/>
              <a:ea typeface="Meiryo UI"/>
            </a:endParaRPr>
          </a:p>
          <a:p>
            <a:r>
              <a:rPr lang="ja-JP" dirty="0">
                <a:latin typeface="Meiryo UI"/>
                <a:ea typeface="Meiryo UI"/>
              </a:rPr>
              <a:t>■ 権限管理</a:t>
            </a:r>
          </a:p>
          <a:p>
            <a:r>
              <a:rPr lang="ja-JP" dirty="0">
                <a:latin typeface="Meiryo UI"/>
                <a:ea typeface="Meiryo UI"/>
              </a:rPr>
              <a:t>・Can use: 閲覧とチャットのみ可能。設定やメンバー管理はできません。</a:t>
            </a:r>
          </a:p>
          <a:p>
            <a:r>
              <a:rPr lang="ja-JP" dirty="0">
                <a:latin typeface="Meiryo UI"/>
                <a:ea typeface="Meiryo UI"/>
              </a:rPr>
              <a:t>・Can edit: 編集権限に加えメンバー管理も可能。管理者レベルの権限です。</a:t>
            </a:r>
          </a:p>
          <a:p>
            <a:r>
              <a:rPr lang="ja-JP" dirty="0">
                <a:latin typeface="Meiryo UI"/>
                <a:ea typeface="Meiryo UI"/>
              </a:rPr>
              <a:t>・公開範囲は Private / 特定メンバー / 組織全体の3段階で設定できます。</a:t>
            </a:r>
          </a:p>
          <a:p>
            <a:endParaRPr lang="ja-JP" dirty="0">
              <a:latin typeface="Meiryo UI"/>
              <a:ea typeface="Meiryo UI"/>
            </a:endParaRPr>
          </a:p>
          <a:p>
            <a:r>
              <a:rPr lang="ja-JP" dirty="0">
                <a:latin typeface="Meiryo UI"/>
                <a:ea typeface="Meiryo UI"/>
              </a:rPr>
              <a:t>■ チャット共有の注意点</a:t>
            </a:r>
          </a:p>
          <a:p>
            <a:r>
              <a:rPr lang="ja-JP" dirty="0">
                <a:latin typeface="Meiryo UI"/>
                <a:ea typeface="Meiryo UI"/>
              </a:rPr>
              <a:t>チャットはデフォルトでは非共有です。共有したい場合はスナップショットリンクを手動で作成する必要があります。</a:t>
            </a:r>
          </a:p>
          <a:p>
            <a:endParaRPr lang="ja-JP" dirty="0">
              <a:latin typeface="Meiryo UI"/>
              <a:ea typeface="Meiryo UI"/>
            </a:endParaRPr>
          </a:p>
          <a:p>
            <a:r>
              <a:rPr lang="ja-JP" dirty="0">
                <a:latin typeface="Meiryo UI"/>
                <a:ea typeface="Meiryo UI"/>
              </a:rPr>
              <a:t>■ Artifacts</a:t>
            </a:r>
          </a:p>
          <a:p>
            <a:r>
              <a:rPr lang="ja-JP" dirty="0">
                <a:latin typeface="Meiryo UI"/>
                <a:ea typeface="Meiryo UI"/>
              </a:rPr>
              <a:t>Project 内で生成したコード・文書・図などの成果物を、チームで共有・反復編集できます。</a:t>
            </a:r>
          </a:p>
          <a:p>
            <a:endParaRPr lang="ja-JP" dirty="0">
              <a:latin typeface="Meiryo UI"/>
              <a:ea typeface="Meiryo UI"/>
            </a:endParaRPr>
          </a:p>
          <a:p>
            <a:r>
              <a:rPr lang="ja-JP" dirty="0">
                <a:latin typeface="Meiryo UI"/>
                <a:ea typeface="Meiryo UI"/>
              </a:rPr>
              <a:t>■ Connectors</a:t>
            </a:r>
          </a:p>
          <a:p>
            <a:r>
              <a:rPr lang="ja-JP" dirty="0">
                <a:latin typeface="Meiryo UI"/>
                <a:ea typeface="Meiryo UI"/>
              </a:rPr>
              <a:t>Slack や Google Drive 等の外部ツールと接続し、情報を横断的に検索・活用できます。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p>
        </p:txBody>
      </p:sp>
      <p:sp>
        <p:nvSpPr>
          <p:cNvPr id="3" name="Notes Placeholder 2"/>
          <p:cNvSpPr>
            <a:spLocks noGrp="1"/>
          </p:cNvSpPr>
          <p:nvPr>
            <p:ph type="body" idx="1"/>
          </p:nvPr>
        </p:nvSpPr>
        <p:spPr/>
        <p:txBody>
          <a:bodyPr/>
          <a:lstStyle/>
          <a:p>
            <a:r>
              <a:rPr lang="ja-JP" dirty="0">
                <a:latin typeface="Meiryo UI"/>
                <a:ea typeface="Meiryo UI"/>
              </a:rPr>
              <a:t>【補足説明：Claude Code CLI での共有（Git ベース）】</a:t>
            </a:r>
          </a:p>
          <a:p>
            <a:endParaRPr lang="ja-JP" dirty="0">
              <a:latin typeface="Meiryo UI"/>
              <a:ea typeface="Meiryo UI"/>
            </a:endParaRPr>
          </a:p>
          <a:p>
            <a:r>
              <a:rPr lang="ja-JP" dirty="0">
                <a:latin typeface="Meiryo UI"/>
                <a:ea typeface="Meiryo UI"/>
              </a:rPr>
              <a:t>.claude/ ディレクトリ配下のファイルをリポジトリにコミットすることで、clone した全員が同じ設定・ツールを使えます。</a:t>
            </a:r>
          </a:p>
          <a:p>
            <a:endParaRPr lang="ja-JP" dirty="0">
              <a:latin typeface="Meiryo UI"/>
              <a:ea typeface="Meiryo UI"/>
            </a:endParaRPr>
          </a:p>
          <a:p>
            <a:r>
              <a:rPr lang="ja-JP" dirty="0">
                <a:latin typeface="Meiryo UI"/>
                <a:ea typeface="Meiryo UI"/>
              </a:rPr>
              <a:t>■ プロジェクト配置 vs 個人配置</a:t>
            </a:r>
          </a:p>
          <a:p>
            <a:r>
              <a:rPr lang="ja-JP" dirty="0">
                <a:latin typeface="Meiryo UI"/>
                <a:ea typeface="Meiryo UI"/>
              </a:rPr>
              <a:t>・プロジェクト配置（.claude/）: Git リポジトリに含まれるため、コミットすれば自動的にチーム全員と共有されます。</a:t>
            </a:r>
          </a:p>
          <a:p>
            <a:r>
              <a:rPr lang="ja-JP" dirty="0">
                <a:latin typeface="Meiryo UI"/>
                <a:ea typeface="Meiryo UI"/>
              </a:rPr>
              <a:t>・個人配置（~/.claude/）: ホームディレクトリに置かれるため、自分だけの設定として機能します。他メンバーには影響しません。</a:t>
            </a:r>
          </a:p>
          <a:p>
            <a:endParaRPr lang="ja-JP" dirty="0">
              <a:latin typeface="Meiryo UI"/>
              <a:ea typeface="Meiryo UI"/>
            </a:endParaRPr>
          </a:p>
          <a:p>
            <a:r>
              <a:rPr lang="ja-JP" dirty="0">
                <a:latin typeface="Meiryo UI"/>
                <a:ea typeface="Meiryo UI"/>
              </a:rPr>
              <a:t>■ MCP サーバー設定について</a:t>
            </a:r>
          </a:p>
          <a:p>
            <a:r>
              <a:rPr lang="ja-JP" dirty="0">
                <a:latin typeface="Meiryo UI"/>
                <a:ea typeface="Meiryo UI"/>
              </a:rPr>
              <a:t>.claude/settings.local.json はマシン固有の設定ファイルです。API キーやローカルパスを含む可能性があるため、Git で共有しないのが原則です。.gitignore に追加することを推奨します。</a:t>
            </a:r>
          </a:p>
          <a:p>
            <a:endParaRPr lang="ja-JP" dirty="0">
              <a:latin typeface="Meiryo UI"/>
              <a:ea typeface="Meiryo UI"/>
            </a:endParaRPr>
          </a:p>
          <a:p>
            <a:r>
              <a:rPr lang="ja-JP" dirty="0">
                <a:latin typeface="Meiryo UI"/>
                <a:ea typeface="Meiryo UI"/>
              </a:rPr>
              <a:t>■ 共有の流れ</a:t>
            </a:r>
          </a:p>
          <a:p>
            <a:r>
              <a:rPr lang="ja-JP" dirty="0">
                <a:latin typeface="Meiryo UI"/>
                <a:ea typeface="Meiryo UI"/>
              </a:rPr>
              <a:t>1. .claude/ 配下にファイルを配置</a:t>
            </a:r>
          </a:p>
          <a:p>
            <a:r>
              <a:rPr lang="ja-JP" dirty="0">
                <a:latin typeface="Meiryo UI"/>
                <a:ea typeface="Meiryo UI"/>
              </a:rPr>
              <a:t>2. git add / git commit でコミット</a:t>
            </a:r>
          </a:p>
          <a:p>
            <a:r>
              <a:rPr lang="ja-JP" dirty="0">
                <a:latin typeface="Meiryo UI"/>
                <a:ea typeface="Meiryo UI"/>
              </a:rPr>
              <a:t>3. チームメンバーが git pull で取得</a:t>
            </a:r>
          </a:p>
          <a:p>
            <a:r>
              <a:rPr lang="ja-JP" dirty="0">
                <a:latin typeface="Meiryo UI"/>
                <a:ea typeface="Meiryo UI"/>
              </a:rPr>
              <a:t>4. 全員が同じ Skill・Subagent・Command を利用可能に</a:t>
            </a:r>
          </a:p>
          <a:p>
            <a:endParaRPr lang="ja-JP" dirty="0">
              <a:latin typeface="Meiryo UI"/>
              <a:ea typeface="Meiryo UI"/>
            </a:endParaRPr>
          </a:p>
          <a:p>
            <a:r>
              <a:rPr lang="ja-JP" dirty="0">
                <a:latin typeface="Meiryo UI"/>
                <a:ea typeface="Meiryo UI"/>
              </a:rPr>
              <a:t>■ 名前が衝突した場合の優先順位</a:t>
            </a:r>
          </a:p>
          <a:p>
            <a:r>
              <a:rPr lang="ja-JP" dirty="0">
                <a:latin typeface="Meiryo UI"/>
                <a:ea typeface="Meiryo UI"/>
              </a:rPr>
              <a:t>Enterprise（管理者設定）&gt; Personal（個人）&gt; Project（リポジトリ）</a:t>
            </a:r>
          </a:p>
          <a:p>
            <a:r>
              <a:rPr lang="ja-JP" dirty="0">
                <a:latin typeface="Meiryo UI"/>
                <a:ea typeface="Meiryo UI"/>
              </a:rPr>
              <a:t>Plugin 内の Skill は「plugin名:skill名」の名前空間になるため衝突しません。</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p>
        </p:txBody>
      </p:sp>
      <p:sp>
        <p:nvSpPr>
          <p:cNvPr id="3" name="Notes Placeholder 2"/>
          <p:cNvSpPr>
            <a:spLocks noGrp="1"/>
          </p:cNvSpPr>
          <p:nvPr>
            <p:ph type="body" idx="1"/>
          </p:nvPr>
        </p:nvSpPr>
        <p:spPr/>
        <p:txBody>
          <a:bodyPr/>
          <a:lstStyle/>
          <a:p>
            <a:r>
              <a:rPr lang="ja-JP" dirty="0">
                <a:latin typeface="Meiryo UI"/>
                <a:ea typeface="Meiryo UI"/>
              </a:rPr>
              <a:t>【補足説明：各機能の役割】</a:t>
            </a:r>
          </a:p>
          <a:p>
            <a:endParaRPr lang="ja-JP" dirty="0">
              <a:latin typeface="Meiryo UI"/>
              <a:ea typeface="Meiryo UI"/>
            </a:endParaRPr>
          </a:p>
          <a:p>
            <a:r>
              <a:rPr lang="ja-JP" dirty="0">
                <a:latin typeface="Meiryo UI"/>
                <a:ea typeface="Meiryo UI"/>
              </a:rPr>
              <a:t>■ Skill（スキル）</a:t>
            </a:r>
          </a:p>
          <a:p>
            <a:r>
              <a:rPr lang="ja-JP" dirty="0">
                <a:latin typeface="Meiryo UI"/>
                <a:ea typeface="Meiryo UI"/>
              </a:rPr>
              <a:t>Claude に「知識」として渡すドキュメントです。関連する場面で自動的に読み込まれるため、毎回指示を繰り返す必要がありません。例えばテスト規約やコーディングルールを Skill として登録しておけば、コード生成時に自動で参照されます。</a:t>
            </a:r>
          </a:p>
          <a:p>
            <a:endParaRPr lang="ja-JP" dirty="0">
              <a:latin typeface="Meiryo UI"/>
              <a:ea typeface="Meiryo UI"/>
            </a:endParaRPr>
          </a:p>
          <a:p>
            <a:r>
              <a:rPr lang="ja-JP" dirty="0">
                <a:latin typeface="Meiryo UI"/>
                <a:ea typeface="Meiryo UI"/>
              </a:rPr>
              <a:t>■ Subagent（サブエージェント）</a:t>
            </a:r>
          </a:p>
          <a:p>
            <a:r>
              <a:rPr lang="ja-JP" dirty="0">
                <a:latin typeface="Meiryo UI"/>
                <a:ea typeface="Meiryo UI"/>
              </a:rPr>
              <a:t>独立したコンテキストでタスクを実行する専門エージェントです。メインの Claude セッションから呼び出されますが、独自のコンテキスト空間を持つため、専門的なタスク（コードレビュー、セキュリティ監査など）に集中できます。</a:t>
            </a:r>
          </a:p>
          <a:p>
            <a:endParaRPr lang="ja-JP" dirty="0">
              <a:latin typeface="Meiryo UI"/>
              <a:ea typeface="Meiryo UI"/>
            </a:endParaRPr>
          </a:p>
          <a:p>
            <a:r>
              <a:rPr lang="ja-JP" dirty="0">
                <a:latin typeface="Meiryo UI"/>
                <a:ea typeface="Meiryo UI"/>
              </a:rPr>
              <a:t>■ Slash Command</a:t>
            </a:r>
          </a:p>
          <a:p>
            <a:r>
              <a:rPr lang="ja-JP" dirty="0">
                <a:latin typeface="Meiryo UI"/>
                <a:ea typeface="Meiryo UI"/>
              </a:rPr>
              <a:t>/名前 で呼び出すショートカットです。頻繁に使うワークフローを簡単に実行できます。現在は Skill に統合されつつあります。</a:t>
            </a:r>
          </a:p>
          <a:p>
            <a:endParaRPr lang="ja-JP" dirty="0">
              <a:latin typeface="Meiryo UI"/>
              <a:ea typeface="Meiryo UI"/>
            </a:endParaRPr>
          </a:p>
          <a:p>
            <a:r>
              <a:rPr lang="ja-JP" dirty="0">
                <a:latin typeface="Meiryo UI"/>
                <a:ea typeface="Meiryo UI"/>
              </a:rPr>
              <a:t>■ CLAUDE.md</a:t>
            </a:r>
          </a:p>
          <a:p>
            <a:r>
              <a:rPr lang="ja-JP" dirty="0">
                <a:latin typeface="Meiryo UI"/>
                <a:ea typeface="Meiryo UI"/>
              </a:rPr>
              <a:t>プロジェクトルートに置くファイルで、プロジェクト全体の前提情報やルールを Claude に伝えます。技術スタック、ビルド手順、コーディング規約などを記載します。Claude Code を起動すると最初に読み込まれます。</a:t>
            </a:r>
          </a:p>
          <a:p>
            <a:endParaRPr lang="ja-JP" dirty="0">
              <a:latin typeface="Meiryo UI"/>
              <a:ea typeface="Meiryo UI"/>
            </a:endParaRPr>
          </a:p>
          <a:p>
            <a:r>
              <a:rPr lang="ja-JP" dirty="0">
                <a:latin typeface="Meiryo UI"/>
                <a:ea typeface="Meiryo UI"/>
              </a:rPr>
              <a:t>■ Plugin</a:t>
            </a:r>
          </a:p>
          <a:p>
            <a:r>
              <a:rPr lang="ja-JP" dirty="0">
                <a:latin typeface="Meiryo UI"/>
                <a:ea typeface="Meiryo UI"/>
              </a:rPr>
              <a:t>Skill + Subagent + Command をまとめたパッケージです。GitHub リポジトリとして公開し、/plugin install コマンドで導入できます。チーム間やコミュニティでのツール共有に便利です。</a:t>
            </a:r>
          </a:p>
          <a:p>
            <a:endParaRPr lang="ja-JP" dirty="0">
              <a:latin typeface="Meiryo UI"/>
              <a:ea typeface="Meiryo UI"/>
            </a:endParaRPr>
          </a:p>
          <a:p>
            <a:r>
              <a:rPr lang="ja-JP" dirty="0">
                <a:latin typeface="Meiryo UI"/>
                <a:ea typeface="Meiryo UI"/>
              </a:rPr>
              <a:t>■ Agent Teams（実験的機能）</a:t>
            </a:r>
          </a:p>
          <a:p>
            <a:r>
              <a:rPr lang="ja-JP" dirty="0">
                <a:latin typeface="Meiryo UI"/>
                <a:ea typeface="Meiryo UI"/>
              </a:rPr>
              <a:t>複数の Claude セッションが協調して動作する仕組みです。例えば API 担当・DB 担当・テスト担当がそれぞれ並列で作業を進められます。現時点では実験的な機能です。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p>
        </p:txBody>
      </p:sp>
      <p:sp>
        <p:nvSpPr>
          <p:cNvPr id="3" name="Notes Placeholder 2"/>
          <p:cNvSpPr>
            <a:spLocks noGrp="1"/>
          </p:cNvSpPr>
          <p:nvPr>
            <p:ph type="body" idx="1"/>
          </p:nvPr>
        </p:nvSpPr>
        <p:spPr/>
        <p:txBody>
          <a:bodyPr/>
          <a:lstStyle/>
          <a:p>
            <a:r>
              <a:rPr lang="ja-JP" dirty="0">
                <a:latin typeface="Meiryo UI"/>
                <a:ea typeface="Meiryo UI"/>
              </a:rPr>
              <a:t>【補足説明：各機能の役割】</a:t>
            </a:r>
          </a:p>
          <a:p>
            <a:endParaRPr lang="ja-JP" dirty="0">
              <a:latin typeface="Meiryo UI"/>
              <a:ea typeface="Meiryo UI"/>
            </a:endParaRPr>
          </a:p>
          <a:p>
            <a:r>
              <a:rPr lang="ja-JP" dirty="0">
                <a:latin typeface="Meiryo UI"/>
                <a:ea typeface="Meiryo UI"/>
              </a:rPr>
              <a:t>■ Skill（スキル）</a:t>
            </a:r>
          </a:p>
          <a:p>
            <a:r>
              <a:rPr lang="ja-JP" dirty="0">
                <a:latin typeface="Meiryo UI"/>
                <a:ea typeface="Meiryo UI"/>
              </a:rPr>
              <a:t>Claude に「知識」として渡すドキュメントです。関連する場面で自動的に読み込まれるため、毎回指示を繰り返す必要がありません。例えばテスト規約やコーディングルールを Skill として登録しておけば、コード生成時に自動で参照されます。</a:t>
            </a:r>
          </a:p>
          <a:p>
            <a:endParaRPr lang="ja-JP" dirty="0">
              <a:latin typeface="Meiryo UI"/>
              <a:ea typeface="Meiryo UI"/>
            </a:endParaRPr>
          </a:p>
          <a:p>
            <a:r>
              <a:rPr lang="ja-JP" dirty="0">
                <a:latin typeface="Meiryo UI"/>
                <a:ea typeface="Meiryo UI"/>
              </a:rPr>
              <a:t>■ Subagent（サブエージェント）</a:t>
            </a:r>
          </a:p>
          <a:p>
            <a:r>
              <a:rPr lang="ja-JP" dirty="0">
                <a:latin typeface="Meiryo UI"/>
                <a:ea typeface="Meiryo UI"/>
              </a:rPr>
              <a:t>独立したコンテキストでタスクを実行する専門エージェントです。メインの Claude セッションから呼び出されますが、独自のコンテキスト空間を持つため、専門的なタスク（コードレビュー、セキュリティ監査など）に集中できます。</a:t>
            </a:r>
          </a:p>
          <a:p>
            <a:endParaRPr lang="ja-JP" dirty="0">
              <a:latin typeface="Meiryo UI"/>
              <a:ea typeface="Meiryo UI"/>
            </a:endParaRPr>
          </a:p>
          <a:p>
            <a:r>
              <a:rPr lang="ja-JP" dirty="0">
                <a:latin typeface="Meiryo UI"/>
                <a:ea typeface="Meiryo UI"/>
              </a:rPr>
              <a:t>■ Slash Command</a:t>
            </a:r>
          </a:p>
          <a:p>
            <a:r>
              <a:rPr lang="ja-JP" dirty="0">
                <a:latin typeface="Meiryo UI"/>
                <a:ea typeface="Meiryo UI"/>
              </a:rPr>
              <a:t>/名前 で呼び出すショートカットです。頻繁に使うワークフローを簡単に実行できます。現在は Skill に統合されつつあります。</a:t>
            </a:r>
          </a:p>
          <a:p>
            <a:endParaRPr lang="ja-JP" dirty="0">
              <a:latin typeface="Meiryo UI"/>
              <a:ea typeface="Meiryo UI"/>
            </a:endParaRPr>
          </a:p>
          <a:p>
            <a:r>
              <a:rPr lang="ja-JP" dirty="0">
                <a:latin typeface="Meiryo UI"/>
                <a:ea typeface="Meiryo UI"/>
              </a:rPr>
              <a:t>■ CLAUDE.md</a:t>
            </a:r>
          </a:p>
          <a:p>
            <a:r>
              <a:rPr lang="ja-JP" dirty="0">
                <a:latin typeface="Meiryo UI"/>
                <a:ea typeface="Meiryo UI"/>
              </a:rPr>
              <a:t>プロジェクトルートに置くファイルで、プロジェクト全体の前提情報やルールを Claude に伝えます。技術スタック、ビルド手順、コーディング規約などを記載します。Claude Code を起動すると最初に読み込まれます。</a:t>
            </a:r>
          </a:p>
          <a:p>
            <a:endParaRPr lang="ja-JP" dirty="0">
              <a:latin typeface="Meiryo UI"/>
              <a:ea typeface="Meiryo UI"/>
            </a:endParaRPr>
          </a:p>
          <a:p>
            <a:r>
              <a:rPr lang="ja-JP" dirty="0">
                <a:latin typeface="Meiryo UI"/>
                <a:ea typeface="Meiryo UI"/>
              </a:rPr>
              <a:t>■ Plugin</a:t>
            </a:r>
          </a:p>
          <a:p>
            <a:r>
              <a:rPr lang="ja-JP" dirty="0">
                <a:latin typeface="Meiryo UI"/>
                <a:ea typeface="Meiryo UI"/>
              </a:rPr>
              <a:t>Skill + Subagent + Command をまとめたパッケージです。GitHub リポジトリとして公開し、/plugin install コマンドで導入できます。チーム間やコミュニティでのツール共有に便利です。</a:t>
            </a:r>
          </a:p>
          <a:p>
            <a:endParaRPr lang="ja-JP" dirty="0">
              <a:latin typeface="Meiryo UI"/>
              <a:ea typeface="Meiryo UI"/>
            </a:endParaRPr>
          </a:p>
          <a:p>
            <a:r>
              <a:rPr lang="ja-JP" dirty="0">
                <a:latin typeface="Meiryo UI"/>
                <a:ea typeface="Meiryo UI"/>
              </a:rPr>
              <a:t>■ Agent Teams（実験的機能）</a:t>
            </a:r>
          </a:p>
          <a:p>
            <a:r>
              <a:rPr lang="ja-JP" dirty="0">
                <a:latin typeface="Meiryo UI"/>
                <a:ea typeface="Meiryo UI"/>
              </a:rPr>
              <a:t>複数の Claude セッションが協調して動作する仕組みです。例えば API 担当・DB 担当・テスト担当がそれぞれ並列で作業を進められます。現時点では実験的な機能です。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p>
        </p:txBody>
      </p:sp>
      <p:sp>
        <p:nvSpPr>
          <p:cNvPr id="3" name="Notes Placeholder 2"/>
          <p:cNvSpPr>
            <a:spLocks noGrp="1"/>
          </p:cNvSpPr>
          <p:nvPr>
            <p:ph type="body" idx="1"/>
          </p:nvPr>
        </p:nvSpPr>
        <p:spPr/>
        <p:txBody>
          <a:bodyPr/>
          <a:lstStyle/>
          <a:p>
            <a:r>
              <a:rPr lang="ja-JP" dirty="0">
                <a:latin typeface="Meiryo UI"/>
                <a:ea typeface="Meiryo UI"/>
              </a:rPr>
              <a:t>【補足説明：各機能の役割】</a:t>
            </a:r>
          </a:p>
          <a:p>
            <a:endParaRPr lang="ja-JP" dirty="0">
              <a:latin typeface="Meiryo UI"/>
              <a:ea typeface="Meiryo UI"/>
            </a:endParaRPr>
          </a:p>
          <a:p>
            <a:r>
              <a:rPr lang="ja-JP" dirty="0">
                <a:latin typeface="Meiryo UI"/>
                <a:ea typeface="Meiryo UI"/>
              </a:rPr>
              <a:t>■ Skill（スキル）</a:t>
            </a:r>
          </a:p>
          <a:p>
            <a:r>
              <a:rPr lang="ja-JP" dirty="0">
                <a:latin typeface="Meiryo UI"/>
                <a:ea typeface="Meiryo UI"/>
              </a:rPr>
              <a:t>Claude に「知識」として渡すドキュメントです。関連する場面で自動的に読み込まれるため、毎回指示を繰り返す必要がありません。例えばテスト規約やコーディングルールを Skill として登録しておけば、コード生成時に自動で参照されます。</a:t>
            </a:r>
          </a:p>
          <a:p>
            <a:endParaRPr lang="ja-JP" dirty="0">
              <a:latin typeface="Meiryo UI"/>
              <a:ea typeface="Meiryo UI"/>
            </a:endParaRPr>
          </a:p>
          <a:p>
            <a:r>
              <a:rPr lang="ja-JP" dirty="0">
                <a:latin typeface="Meiryo UI"/>
                <a:ea typeface="Meiryo UI"/>
              </a:rPr>
              <a:t>■ Subagent（サブエージェント）</a:t>
            </a:r>
          </a:p>
          <a:p>
            <a:r>
              <a:rPr lang="ja-JP" dirty="0">
                <a:latin typeface="Meiryo UI"/>
                <a:ea typeface="Meiryo UI"/>
              </a:rPr>
              <a:t>独立したコンテキストでタスクを実行する専門エージェントです。メインの Claude セッションから呼び出されますが、独自のコンテキスト空間を持つため、専門的なタスク（コードレビュー、セキュリティ監査など）に集中できます。</a:t>
            </a:r>
          </a:p>
          <a:p>
            <a:endParaRPr lang="ja-JP" dirty="0">
              <a:latin typeface="Meiryo UI"/>
              <a:ea typeface="Meiryo UI"/>
            </a:endParaRPr>
          </a:p>
          <a:p>
            <a:r>
              <a:rPr lang="ja-JP" dirty="0">
                <a:latin typeface="Meiryo UI"/>
                <a:ea typeface="Meiryo UI"/>
              </a:rPr>
              <a:t>■ Slash Command</a:t>
            </a:r>
          </a:p>
          <a:p>
            <a:r>
              <a:rPr lang="ja-JP" dirty="0">
                <a:latin typeface="Meiryo UI"/>
                <a:ea typeface="Meiryo UI"/>
              </a:rPr>
              <a:t>/名前 で呼び出すショートカットです。頻繁に使うワークフローを簡単に実行できます。現在は Skill に統合されつつあります。</a:t>
            </a:r>
          </a:p>
          <a:p>
            <a:endParaRPr lang="ja-JP" dirty="0">
              <a:latin typeface="Meiryo UI"/>
              <a:ea typeface="Meiryo UI"/>
            </a:endParaRPr>
          </a:p>
          <a:p>
            <a:r>
              <a:rPr lang="ja-JP" dirty="0">
                <a:latin typeface="Meiryo UI"/>
                <a:ea typeface="Meiryo UI"/>
              </a:rPr>
              <a:t>■ CLAUDE.md</a:t>
            </a:r>
          </a:p>
          <a:p>
            <a:r>
              <a:rPr lang="ja-JP" dirty="0">
                <a:latin typeface="Meiryo UI"/>
                <a:ea typeface="Meiryo UI"/>
              </a:rPr>
              <a:t>プロジェクトルートに置くファイルで、プロジェクト全体の前提情報やルールを Claude に伝えます。技術スタック、ビルド手順、コーディング規約などを記載します。Claude Code を起動すると最初に読み込まれます。</a:t>
            </a:r>
          </a:p>
          <a:p>
            <a:endParaRPr lang="ja-JP" dirty="0">
              <a:latin typeface="Meiryo UI"/>
              <a:ea typeface="Meiryo UI"/>
            </a:endParaRPr>
          </a:p>
          <a:p>
            <a:r>
              <a:rPr lang="ja-JP" dirty="0">
                <a:latin typeface="Meiryo UI"/>
                <a:ea typeface="Meiryo UI"/>
              </a:rPr>
              <a:t>■ Plugin</a:t>
            </a:r>
          </a:p>
          <a:p>
            <a:r>
              <a:rPr lang="ja-JP" dirty="0">
                <a:latin typeface="Meiryo UI"/>
                <a:ea typeface="Meiryo UI"/>
              </a:rPr>
              <a:t>Skill + Subagent + Command をまとめたパッケージです。GitHub リポジトリとして公開し、/plugin install コマンドで導入できます。チーム間やコミュニティでのツール共有に便利です。</a:t>
            </a:r>
          </a:p>
          <a:p>
            <a:endParaRPr lang="ja-JP" dirty="0">
              <a:latin typeface="Meiryo UI"/>
              <a:ea typeface="Meiryo UI"/>
            </a:endParaRPr>
          </a:p>
          <a:p>
            <a:r>
              <a:rPr lang="ja-JP" dirty="0">
                <a:latin typeface="Meiryo UI"/>
                <a:ea typeface="Meiryo UI"/>
              </a:rPr>
              <a:t>■ Agent Teams（実験的機能）</a:t>
            </a:r>
          </a:p>
          <a:p>
            <a:r>
              <a:rPr lang="ja-JP" dirty="0">
                <a:latin typeface="Meiryo UI"/>
                <a:ea typeface="Meiryo UI"/>
              </a:rPr>
              <a:t>複数の Claude セッションが協調して動作する仕組みです。例えば API 担当・DB 担当・テスト担当がそれぞれ並列で作業を進められます。現時点では実験的な機能です。</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p>
        </p:txBody>
      </p:sp>
      <p:sp>
        <p:nvSpPr>
          <p:cNvPr id="3" name="Notes Placeholder 2"/>
          <p:cNvSpPr>
            <a:spLocks noGrp="1"/>
          </p:cNvSpPr>
          <p:nvPr>
            <p:ph type="body" idx="1"/>
          </p:nvPr>
        </p:nvSpPr>
        <p:spPr/>
        <p:txBody>
          <a:bodyPr/>
          <a:lstStyle/>
          <a:p>
            <a:r>
              <a:rPr lang="ja-JP" dirty="0">
                <a:latin typeface="Meiryo UI"/>
                <a:ea typeface="Meiryo UI"/>
              </a:rPr>
              <a:t>【補足説明：各機能の役割】</a:t>
            </a:r>
          </a:p>
          <a:p>
            <a:endParaRPr lang="ja-JP" dirty="0">
              <a:latin typeface="Meiryo UI"/>
              <a:ea typeface="Meiryo UI"/>
            </a:endParaRPr>
          </a:p>
          <a:p>
            <a:r>
              <a:rPr lang="ja-JP" dirty="0">
                <a:latin typeface="Meiryo UI"/>
                <a:ea typeface="Meiryo UI"/>
              </a:rPr>
              <a:t>■ Skill（スキル）</a:t>
            </a:r>
          </a:p>
          <a:p>
            <a:r>
              <a:rPr lang="ja-JP" dirty="0">
                <a:latin typeface="Meiryo UI"/>
                <a:ea typeface="Meiryo UI"/>
              </a:rPr>
              <a:t>Claude に「知識」として渡すドキュメントです。関連する場面で自動的に読み込まれるため、毎回指示を繰り返す必要がありません。例えばテスト規約やコーディングルールを Skill として登録しておけば、コード生成時に自動で参照されます。</a:t>
            </a:r>
          </a:p>
          <a:p>
            <a:endParaRPr lang="ja-JP" dirty="0">
              <a:latin typeface="Meiryo UI"/>
              <a:ea typeface="Meiryo UI"/>
            </a:endParaRPr>
          </a:p>
          <a:p>
            <a:r>
              <a:rPr lang="ja-JP" dirty="0">
                <a:latin typeface="Meiryo UI"/>
                <a:ea typeface="Meiryo UI"/>
              </a:rPr>
              <a:t>■ Subagent（サブエージェント）</a:t>
            </a:r>
          </a:p>
          <a:p>
            <a:r>
              <a:rPr lang="ja-JP" dirty="0">
                <a:latin typeface="Meiryo UI"/>
                <a:ea typeface="Meiryo UI"/>
              </a:rPr>
              <a:t>独立したコンテキストでタスクを実行する専門エージェントです。メインの Claude セッションから呼び出されますが、独自のコンテキスト空間を持つため、専門的なタスク（コードレビュー、セキュリティ監査など）に集中できます。</a:t>
            </a:r>
          </a:p>
          <a:p>
            <a:endParaRPr lang="ja-JP" dirty="0">
              <a:latin typeface="Meiryo UI"/>
              <a:ea typeface="Meiryo UI"/>
            </a:endParaRPr>
          </a:p>
          <a:p>
            <a:r>
              <a:rPr lang="ja-JP" dirty="0">
                <a:latin typeface="Meiryo UI"/>
                <a:ea typeface="Meiryo UI"/>
              </a:rPr>
              <a:t>■ Slash Command</a:t>
            </a:r>
          </a:p>
          <a:p>
            <a:r>
              <a:rPr lang="ja-JP" dirty="0">
                <a:latin typeface="Meiryo UI"/>
                <a:ea typeface="Meiryo UI"/>
              </a:rPr>
              <a:t>/名前 で呼び出すショートカットです。頻繁に使うワークフローを簡単に実行できます。現在は Skill に統合されつつあります。</a:t>
            </a:r>
          </a:p>
          <a:p>
            <a:endParaRPr lang="ja-JP" dirty="0">
              <a:latin typeface="Meiryo UI"/>
              <a:ea typeface="Meiryo UI"/>
            </a:endParaRPr>
          </a:p>
          <a:p>
            <a:r>
              <a:rPr lang="ja-JP" dirty="0">
                <a:latin typeface="Meiryo UI"/>
                <a:ea typeface="Meiryo UI"/>
              </a:rPr>
              <a:t>■ CLAUDE.md</a:t>
            </a:r>
          </a:p>
          <a:p>
            <a:r>
              <a:rPr lang="ja-JP" dirty="0">
                <a:latin typeface="Meiryo UI"/>
                <a:ea typeface="Meiryo UI"/>
              </a:rPr>
              <a:t>プロジェクトルートに置くファイルで、プロジェクト全体の前提情報やルールを Claude に伝えます。技術スタック、ビルド手順、コーディング規約などを記載します。Claude Code を起動すると最初に読み込まれます。</a:t>
            </a:r>
          </a:p>
          <a:p>
            <a:endParaRPr lang="ja-JP" dirty="0">
              <a:latin typeface="Meiryo UI"/>
              <a:ea typeface="Meiryo UI"/>
            </a:endParaRPr>
          </a:p>
          <a:p>
            <a:r>
              <a:rPr lang="ja-JP" dirty="0">
                <a:latin typeface="Meiryo UI"/>
                <a:ea typeface="Meiryo UI"/>
              </a:rPr>
              <a:t>■ Plugin</a:t>
            </a:r>
          </a:p>
          <a:p>
            <a:r>
              <a:rPr lang="ja-JP" dirty="0">
                <a:latin typeface="Meiryo UI"/>
                <a:ea typeface="Meiryo UI"/>
              </a:rPr>
              <a:t>Skill + Subagent + Command をまとめたパッケージです。GitHub リポジトリとして公開し、/plugin install コマンドで導入できます。チーム間やコミュニティでのツール共有に便利です。</a:t>
            </a:r>
          </a:p>
          <a:p>
            <a:endParaRPr lang="ja-JP" dirty="0">
              <a:latin typeface="Meiryo UI"/>
              <a:ea typeface="Meiryo UI"/>
            </a:endParaRPr>
          </a:p>
          <a:p>
            <a:r>
              <a:rPr lang="ja-JP" dirty="0">
                <a:latin typeface="Meiryo UI"/>
                <a:ea typeface="Meiryo UI"/>
              </a:rPr>
              <a:t>■ Agent Teams（実験的機能）</a:t>
            </a:r>
          </a:p>
          <a:p>
            <a:r>
              <a:rPr lang="ja-JP" dirty="0">
                <a:latin typeface="Meiryo UI"/>
                <a:ea typeface="Meiryo UI"/>
              </a:rPr>
              <a:t>複数の Claude セッションが協調して動作する仕組みです。例えば API 担当・DB 担当・テスト担当がそれぞれ並列で作業を進められます。現時点では実験的な機能です。</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6CDCEE3-9046-EB03-CE25-76696230EEBC}"/>
              </a:ext>
            </a:extLst>
          </p:cNvPr>
          <p:cNvSpPr/>
          <p:nvPr userDrawn="1"/>
        </p:nvSpPr>
        <p:spPr>
          <a:xfrm>
            <a:off x="-2" y="-1"/>
            <a:ext cx="838197" cy="3509964"/>
          </a:xfrm>
          <a:prstGeom prst="rect">
            <a:avLst/>
          </a:prstGeom>
          <a:solidFill>
            <a:schemeClr val="bg2">
              <a:lumMod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D886497-3812-4013-A31D-F2CD09D803D6}"/>
              </a:ext>
            </a:extLst>
          </p:cNvPr>
          <p:cNvSpPr>
            <a:spLocks noGrp="1"/>
          </p:cNvSpPr>
          <p:nvPr>
            <p:ph type="ctrTitle"/>
          </p:nvPr>
        </p:nvSpPr>
        <p:spPr>
          <a:xfrm>
            <a:off x="1524000" y="1122363"/>
            <a:ext cx="9144000" cy="2387600"/>
          </a:xfrm>
        </p:spPr>
        <p:txBody>
          <a:bodyPr anchor="b">
            <a:normAutofit/>
          </a:bodyPr>
          <a:lstStyle>
            <a:lvl1pPr algn="ctr">
              <a:defRPr sz="4800" b="1"/>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BB80AB1-0872-4B4F-B62F-A2E2E30371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0" name="正方形/長方形 9">
            <a:extLst>
              <a:ext uri="{FF2B5EF4-FFF2-40B4-BE49-F238E27FC236}">
                <a16:creationId xmlns:a16="http://schemas.microsoft.com/office/drawing/2014/main" id="{1F13A41E-F596-5F82-70CA-1FE97A298BA1}"/>
              </a:ext>
            </a:extLst>
          </p:cNvPr>
          <p:cNvSpPr/>
          <p:nvPr userDrawn="1"/>
        </p:nvSpPr>
        <p:spPr>
          <a:xfrm>
            <a:off x="87546" y="97277"/>
            <a:ext cx="184825" cy="505838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34795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cxnSp>
        <p:nvCxnSpPr>
          <p:cNvPr id="5" name="直線コネクタ 6"/>
          <p:cNvCxnSpPr>
            <a:cxnSpLocks noChangeShapeType="1"/>
          </p:cNvCxnSpPr>
          <p:nvPr/>
        </p:nvCxnSpPr>
        <p:spPr bwMode="auto">
          <a:xfrm>
            <a:off x="-14817" y="663575"/>
            <a:ext cx="2448984" cy="0"/>
          </a:xfrm>
          <a:prstGeom prst="line">
            <a:avLst/>
          </a:prstGeom>
          <a:noFill/>
          <a:ln w="19050" algn="ctr">
            <a:solidFill>
              <a:srgbClr val="DC003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 name="コンテンツ プレースホルダー 2"/>
          <p:cNvSpPr>
            <a:spLocks noGrp="1"/>
          </p:cNvSpPr>
          <p:nvPr>
            <p:ph idx="1"/>
          </p:nvPr>
        </p:nvSpPr>
        <p:spPr>
          <a:xfrm>
            <a:off x="609600" y="1133746"/>
            <a:ext cx="10972800" cy="585064"/>
          </a:xfrm>
        </p:spPr>
        <p:txBody>
          <a:bodyPr/>
          <a:lstStyle>
            <a:lvl1pPr marL="0" indent="0">
              <a:buNone/>
              <a:defRPr sz="1800" b="1">
                <a:latin typeface="メイリオ" pitchFamily="50" charset="-128"/>
                <a:ea typeface="メイリオ" pitchFamily="50" charset="-128"/>
                <a:cs typeface="メイリオ" pitchFamily="50" charset="-128"/>
              </a:defRPr>
            </a:lvl1pPr>
            <a:lvl2pPr>
              <a:defRPr sz="1400">
                <a:latin typeface="メイリオ" pitchFamily="50" charset="-128"/>
                <a:ea typeface="メイリオ" pitchFamily="50" charset="-128"/>
                <a:cs typeface="メイリオ" pitchFamily="50" charset="-128"/>
              </a:defRPr>
            </a:lvl2pPr>
            <a:lvl3pPr>
              <a:defRPr sz="1400">
                <a:latin typeface="メイリオ" pitchFamily="50" charset="-128"/>
                <a:ea typeface="メイリオ" pitchFamily="50" charset="-128"/>
                <a:cs typeface="メイリオ" pitchFamily="50" charset="-128"/>
              </a:defRPr>
            </a:lvl3pPr>
            <a:lvl4pPr>
              <a:defRPr sz="1200">
                <a:latin typeface="メイリオ" pitchFamily="50" charset="-128"/>
                <a:ea typeface="メイリオ" pitchFamily="50" charset="-128"/>
                <a:cs typeface="メイリオ" pitchFamily="50" charset="-128"/>
              </a:defRPr>
            </a:lvl4pPr>
            <a:lvl5pPr>
              <a:defRPr sz="1050">
                <a:latin typeface="メイリオ" pitchFamily="50" charset="-128"/>
                <a:ea typeface="メイリオ" pitchFamily="50" charset="-128"/>
                <a:cs typeface="メイリオ" pitchFamily="50" charset="-128"/>
              </a:defRPr>
            </a:lvl5pPr>
          </a:lstStyle>
          <a:p>
            <a:pPr lvl="0"/>
            <a:r>
              <a:rPr lang="ja-JP" altLang="en-US"/>
              <a:t>マスター テキストの書式設定</a:t>
            </a:r>
          </a:p>
        </p:txBody>
      </p:sp>
      <p:sp>
        <p:nvSpPr>
          <p:cNvPr id="10" name="タイトル 1"/>
          <p:cNvSpPr>
            <a:spLocks noGrp="1"/>
          </p:cNvSpPr>
          <p:nvPr>
            <p:ph type="ctrTitle"/>
          </p:nvPr>
        </p:nvSpPr>
        <p:spPr>
          <a:xfrm>
            <a:off x="609600" y="122707"/>
            <a:ext cx="10031957" cy="387104"/>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lang="ja-JP" altLang="en-US" sz="2000" b="0" kern="1200" dirty="0">
                <a:solidFill>
                  <a:schemeClr val="tx1"/>
                </a:solidFill>
                <a:latin typeface="HGP創英角ｺﾞｼｯｸUB" pitchFamily="50" charset="-128"/>
                <a:ea typeface="HGP創英角ｺﾞｼｯｸUB" pitchFamily="50" charset="-128"/>
              </a:defRPr>
            </a:lvl1pPr>
          </a:lstStyle>
          <a:p>
            <a:pPr lvl="0"/>
            <a:r>
              <a:rPr lang="ja-JP" altLang="en-US"/>
              <a:t>マスター タイトルの書式設定</a:t>
            </a:r>
          </a:p>
        </p:txBody>
      </p:sp>
      <p:sp>
        <p:nvSpPr>
          <p:cNvPr id="11" name="コンテンツ プレースホルダー 2"/>
          <p:cNvSpPr>
            <a:spLocks noGrp="1"/>
          </p:cNvSpPr>
          <p:nvPr>
            <p:ph idx="11"/>
          </p:nvPr>
        </p:nvSpPr>
        <p:spPr>
          <a:xfrm>
            <a:off x="415047" y="1806846"/>
            <a:ext cx="10972800" cy="4457470"/>
          </a:xfrm>
        </p:spPr>
        <p:txBody>
          <a:bodyPr/>
          <a:lstStyle>
            <a:lvl1pPr marL="0" marR="0" indent="0" algn="l" defTabSz="914400" rtl="0" eaLnBrk="0" fontAlgn="base" latinLnBrk="0" hangingPunct="0">
              <a:lnSpc>
                <a:spcPct val="150000"/>
              </a:lnSpc>
              <a:spcBef>
                <a:spcPct val="20000"/>
              </a:spcBef>
              <a:spcAft>
                <a:spcPct val="0"/>
              </a:spcAft>
              <a:buClrTx/>
              <a:buSzTx/>
              <a:buFontTx/>
              <a:buNone/>
              <a:tabLst/>
              <a:defRPr sz="1600" b="0">
                <a:latin typeface="メイリオ" pitchFamily="50" charset="-128"/>
                <a:ea typeface="メイリオ" pitchFamily="50" charset="-128"/>
                <a:cs typeface="メイリオ" pitchFamily="50" charset="-128"/>
              </a:defRPr>
            </a:lvl1pPr>
            <a:lvl2pPr>
              <a:defRPr sz="1400">
                <a:latin typeface="メイリオ" pitchFamily="50" charset="-128"/>
                <a:ea typeface="メイリオ" pitchFamily="50" charset="-128"/>
                <a:cs typeface="メイリオ" pitchFamily="50" charset="-128"/>
              </a:defRPr>
            </a:lvl2pPr>
            <a:lvl3pPr>
              <a:defRPr sz="1400">
                <a:latin typeface="メイリオ" pitchFamily="50" charset="-128"/>
                <a:ea typeface="メイリオ" pitchFamily="50" charset="-128"/>
                <a:cs typeface="メイリオ" pitchFamily="50" charset="-128"/>
              </a:defRPr>
            </a:lvl3pPr>
            <a:lvl4pPr>
              <a:defRPr sz="1200">
                <a:latin typeface="メイリオ" pitchFamily="50" charset="-128"/>
                <a:ea typeface="メイリオ" pitchFamily="50" charset="-128"/>
                <a:cs typeface="メイリオ" pitchFamily="50" charset="-128"/>
              </a:defRPr>
            </a:lvl4pPr>
            <a:lvl5pPr>
              <a:defRPr sz="1050">
                <a:latin typeface="メイリオ" pitchFamily="50" charset="-128"/>
                <a:ea typeface="メイリオ" pitchFamily="50" charset="-128"/>
                <a:cs typeface="メイリオ"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p:txBody>
      </p:sp>
      <p:cxnSp>
        <p:nvCxnSpPr>
          <p:cNvPr id="6" name="直線コネクタ 9"/>
          <p:cNvCxnSpPr>
            <a:cxnSpLocks noChangeShapeType="1"/>
          </p:cNvCxnSpPr>
          <p:nvPr/>
        </p:nvCxnSpPr>
        <p:spPr bwMode="auto">
          <a:xfrm>
            <a:off x="2472267" y="663575"/>
            <a:ext cx="8675631"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 name="スライド番号プレースホルダー 5">
            <a:extLst>
              <a:ext uri="{FF2B5EF4-FFF2-40B4-BE49-F238E27FC236}">
                <a16:creationId xmlns:a16="http://schemas.microsoft.com/office/drawing/2014/main" id="{C0783465-FB23-EB9B-9755-E6013CC01B7E}"/>
              </a:ext>
            </a:extLst>
          </p:cNvPr>
          <p:cNvSpPr>
            <a:spLocks noGrp="1"/>
          </p:cNvSpPr>
          <p:nvPr>
            <p:ph type="sldNum" sz="quarter" idx="4"/>
          </p:nvPr>
        </p:nvSpPr>
        <p:spPr>
          <a:xfrm>
            <a:off x="9398543" y="6152066"/>
            <a:ext cx="2743200" cy="365125"/>
          </a:xfrm>
          <a:prstGeom prst="rect">
            <a:avLst/>
          </a:prstGeom>
        </p:spPr>
        <p:txBody>
          <a:bodyPr vert="horz" lIns="91440" tIns="45720" rIns="91440" bIns="45720" rtlCol="0" anchor="ctr"/>
          <a:lstStyle>
            <a:lvl1pPr algn="r">
              <a:defRPr sz="1600" b="0">
                <a:solidFill>
                  <a:schemeClr val="tx1"/>
                </a:solidFill>
                <a:latin typeface="Meiryo UI" panose="020B0604030504040204" pitchFamily="50" charset="-128"/>
                <a:ea typeface="Meiryo UI" panose="020B0604030504040204" pitchFamily="50" charset="-128"/>
              </a:defRPr>
            </a:lvl1pPr>
          </a:lstStyle>
          <a:p>
            <a:fld id="{06F33280-3E80-482D-8576-4ABC99412ED4}" type="slidenum">
              <a:rPr lang="ja-JP" altLang="en-US" smtClean="0"/>
              <a:pPr/>
              <a:t>‹#›</a:t>
            </a:fld>
            <a:endParaRPr lang="ja-JP" altLang="en-US"/>
          </a:p>
        </p:txBody>
      </p:sp>
    </p:spTree>
    <p:extLst>
      <p:ext uri="{BB962C8B-B14F-4D97-AF65-F5344CB8AC3E}">
        <p14:creationId xmlns:p14="http://schemas.microsoft.com/office/powerpoint/2010/main" val="1534144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6E4229-E483-41AA-BDEB-69D0A72AE9DD}" type="datetime1">
              <a:rPr kumimoji="1" lang="ja-JP" altLang="en-US" smtClean="0"/>
              <a:t>2026/3/14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ECBC7219-2CD1-472E-BD6E-B9574BC90939}" type="slidenum">
              <a:rPr lang="ja-JP" altLang="en-US" smtClean="0"/>
              <a:pPr/>
              <a:t>‹#›</a:t>
            </a:fld>
            <a:endParaRPr lang="ja-JP" altLang="en-US"/>
          </a:p>
        </p:txBody>
      </p:sp>
      <p:sp>
        <p:nvSpPr>
          <p:cNvPr id="7" name="正方形/長方形 6">
            <a:extLst>
              <a:ext uri="{FF2B5EF4-FFF2-40B4-BE49-F238E27FC236}">
                <a16:creationId xmlns:a16="http://schemas.microsoft.com/office/drawing/2014/main" id="{CA3DFFAD-E17D-C311-A11C-E9CB00F1E114}"/>
              </a:ext>
            </a:extLst>
          </p:cNvPr>
          <p:cNvSpPr/>
          <p:nvPr userDrawn="1"/>
        </p:nvSpPr>
        <p:spPr>
          <a:xfrm>
            <a:off x="0" y="1"/>
            <a:ext cx="12192000" cy="8164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8" name="正方形/長方形 7">
            <a:extLst>
              <a:ext uri="{FF2B5EF4-FFF2-40B4-BE49-F238E27FC236}">
                <a16:creationId xmlns:a16="http://schemas.microsoft.com/office/drawing/2014/main" id="{78CF237E-35F2-ED83-3F83-07EA9381B689}"/>
              </a:ext>
            </a:extLst>
          </p:cNvPr>
          <p:cNvSpPr/>
          <p:nvPr userDrawn="1"/>
        </p:nvSpPr>
        <p:spPr>
          <a:xfrm>
            <a:off x="-1" y="6635528"/>
            <a:ext cx="6074228" cy="6735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9" name="正方形/長方形 8">
            <a:extLst>
              <a:ext uri="{FF2B5EF4-FFF2-40B4-BE49-F238E27FC236}">
                <a16:creationId xmlns:a16="http://schemas.microsoft.com/office/drawing/2014/main" id="{5DFF5ED7-8305-1C76-A49C-2793DC3F889E}"/>
              </a:ext>
            </a:extLst>
          </p:cNvPr>
          <p:cNvSpPr/>
          <p:nvPr userDrawn="1"/>
        </p:nvSpPr>
        <p:spPr>
          <a:xfrm>
            <a:off x="6074229" y="6635528"/>
            <a:ext cx="6117772" cy="67356"/>
          </a:xfrm>
          <a:prstGeom prst="rect">
            <a:avLst/>
          </a:prstGeom>
          <a:solidFill>
            <a:srgbClr val="5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pic>
        <p:nvPicPr>
          <p:cNvPr id="12" name="図 11">
            <a:extLst>
              <a:ext uri="{FF2B5EF4-FFF2-40B4-BE49-F238E27FC236}">
                <a16:creationId xmlns:a16="http://schemas.microsoft.com/office/drawing/2014/main" id="{3C1DAAF0-0810-21FA-C156-2FCBF9A9BC7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87125" y="93841"/>
            <a:ext cx="872215" cy="800531"/>
          </a:xfrm>
          <a:prstGeom prst="rect">
            <a:avLst/>
          </a:prstGeom>
        </p:spPr>
      </p:pic>
      <p:cxnSp>
        <p:nvCxnSpPr>
          <p:cNvPr id="11" name="直線コネクタ 6">
            <a:extLst>
              <a:ext uri="{FF2B5EF4-FFF2-40B4-BE49-F238E27FC236}">
                <a16:creationId xmlns:a16="http://schemas.microsoft.com/office/drawing/2014/main" id="{5EE9D6C4-42D3-2A81-AB6A-0A45127B606C}"/>
              </a:ext>
            </a:extLst>
          </p:cNvPr>
          <p:cNvCxnSpPr>
            <a:cxnSpLocks noChangeShapeType="1"/>
          </p:cNvCxnSpPr>
          <p:nvPr userDrawn="1"/>
        </p:nvCxnSpPr>
        <p:spPr bwMode="auto">
          <a:xfrm>
            <a:off x="-14817" y="663575"/>
            <a:ext cx="2448984" cy="0"/>
          </a:xfrm>
          <a:prstGeom prst="line">
            <a:avLst/>
          </a:prstGeom>
          <a:noFill/>
          <a:ln w="19050" algn="ctr">
            <a:solidFill>
              <a:srgbClr val="DC003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3" name="直線コネクタ 9">
            <a:extLst>
              <a:ext uri="{FF2B5EF4-FFF2-40B4-BE49-F238E27FC236}">
                <a16:creationId xmlns:a16="http://schemas.microsoft.com/office/drawing/2014/main" id="{DB9E6F8D-E337-498F-9920-56BD1B88D151}"/>
              </a:ext>
            </a:extLst>
          </p:cNvPr>
          <p:cNvCxnSpPr>
            <a:cxnSpLocks noChangeShapeType="1"/>
          </p:cNvCxnSpPr>
          <p:nvPr userDrawn="1"/>
        </p:nvCxnSpPr>
        <p:spPr bwMode="auto">
          <a:xfrm>
            <a:off x="2472267" y="663575"/>
            <a:ext cx="8675631"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 name="Rectangle 26">
            <a:extLst>
              <a:ext uri="{FF2B5EF4-FFF2-40B4-BE49-F238E27FC236}">
                <a16:creationId xmlns:a16="http://schemas.microsoft.com/office/drawing/2014/main" id="{AFF11F0C-F817-DD95-A91F-735A96D358DF}"/>
              </a:ext>
            </a:extLst>
          </p:cNvPr>
          <p:cNvSpPr txBox="1">
            <a:spLocks noChangeArrowheads="1"/>
          </p:cNvSpPr>
          <p:nvPr userDrawn="1"/>
        </p:nvSpPr>
        <p:spPr>
          <a:xfrm>
            <a:off x="3052273" y="6649978"/>
            <a:ext cx="6080841" cy="250885"/>
          </a:xfrm>
          <a:prstGeom prst="rect">
            <a:avLst/>
          </a:prstGeom>
        </p:spPr>
        <p:txBody>
          <a:bodyPr anchor="ctr"/>
          <a:lstStyle>
            <a:defPPr>
              <a:defRPr lang="ja-JP"/>
            </a:defPPr>
            <a:lvl1pPr marL="0" algn="l" defTabSz="914400" rtl="0" eaLnBrk="1" latinLnBrk="0" hangingPunct="1">
              <a:defRPr kumimoji="1" sz="1000" kern="1200">
                <a:solidFill>
                  <a:schemeClr val="tx2"/>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auto">
              <a:spcBef>
                <a:spcPts val="0"/>
              </a:spcBef>
              <a:spcAft>
                <a:spcPts val="0"/>
              </a:spcAft>
              <a:defRPr/>
            </a:pPr>
            <a:r>
              <a:rPr lang="en-US" altLang="ja-JP" sz="1200" b="0" cap="none" spc="0" dirty="0">
                <a:ln>
                  <a:noFill/>
                </a:ln>
                <a:solidFill>
                  <a:schemeClr val="tx1"/>
                </a:solidFill>
                <a:effectLst/>
                <a:latin typeface="Meiryo UI" panose="020B0604030504040204" pitchFamily="50" charset="-128"/>
                <a:ea typeface="Meiryo UI" panose="020B0604030504040204" pitchFamily="50" charset="-128"/>
              </a:rPr>
              <a:t>Copyright © 2025 MICROS SOFTWARE,</a:t>
            </a:r>
            <a:r>
              <a:rPr lang="ja-JP" altLang="en-US" sz="1200" b="0" cap="none" spc="0" dirty="0">
                <a:ln>
                  <a:noFill/>
                </a:ln>
                <a:solidFill>
                  <a:schemeClr val="tx1"/>
                </a:solidFill>
                <a:effectLst/>
                <a:latin typeface="Meiryo UI" panose="020B0604030504040204" pitchFamily="50" charset="-128"/>
                <a:ea typeface="Meiryo UI" panose="020B0604030504040204" pitchFamily="50" charset="-128"/>
              </a:rPr>
              <a:t> </a:t>
            </a:r>
            <a:r>
              <a:rPr lang="en-US" altLang="ja-JP" sz="1200" b="0" cap="none" spc="0" dirty="0">
                <a:ln>
                  <a:noFill/>
                </a:ln>
                <a:solidFill>
                  <a:schemeClr val="tx1"/>
                </a:solidFill>
                <a:effectLst/>
                <a:latin typeface="Meiryo UI" panose="020B0604030504040204" pitchFamily="50" charset="-128"/>
                <a:ea typeface="Meiryo UI" panose="020B0604030504040204" pitchFamily="50" charset="-128"/>
              </a:rPr>
              <a:t>Inc. All Rights Reserved. </a:t>
            </a:r>
          </a:p>
        </p:txBody>
      </p:sp>
    </p:spTree>
    <p:extLst>
      <p:ext uri="{BB962C8B-B14F-4D97-AF65-F5344CB8AC3E}">
        <p14:creationId xmlns:p14="http://schemas.microsoft.com/office/powerpoint/2010/main" val="1337962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6CDCEE3-9046-EB03-CE25-76696230EEBC}"/>
              </a:ext>
            </a:extLst>
          </p:cNvPr>
          <p:cNvSpPr/>
          <p:nvPr userDrawn="1"/>
        </p:nvSpPr>
        <p:spPr>
          <a:xfrm>
            <a:off x="-2" y="-1"/>
            <a:ext cx="838197" cy="3509964"/>
          </a:xfrm>
          <a:prstGeom prst="rect">
            <a:avLst/>
          </a:prstGeom>
          <a:solidFill>
            <a:schemeClr val="bg2">
              <a:lumMod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D886497-3812-4013-A31D-F2CD09D803D6}"/>
              </a:ext>
            </a:extLst>
          </p:cNvPr>
          <p:cNvSpPr>
            <a:spLocks noGrp="1"/>
          </p:cNvSpPr>
          <p:nvPr>
            <p:ph type="ctrTitle"/>
          </p:nvPr>
        </p:nvSpPr>
        <p:spPr>
          <a:xfrm>
            <a:off x="1524000" y="1122363"/>
            <a:ext cx="9144000" cy="2387600"/>
          </a:xfrm>
        </p:spPr>
        <p:txBody>
          <a:bodyPr anchor="b">
            <a:normAutofit/>
          </a:bodyPr>
          <a:lstStyle>
            <a:lvl1pPr algn="ctr">
              <a:defRPr sz="4800" b="1"/>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BB80AB1-0872-4B4F-B62F-A2E2E30371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0" name="正方形/長方形 9">
            <a:extLst>
              <a:ext uri="{FF2B5EF4-FFF2-40B4-BE49-F238E27FC236}">
                <a16:creationId xmlns:a16="http://schemas.microsoft.com/office/drawing/2014/main" id="{1F13A41E-F596-5F82-70CA-1FE97A298BA1}"/>
              </a:ext>
            </a:extLst>
          </p:cNvPr>
          <p:cNvSpPr/>
          <p:nvPr userDrawn="1"/>
        </p:nvSpPr>
        <p:spPr>
          <a:xfrm>
            <a:off x="87546" y="97277"/>
            <a:ext cx="184825" cy="505838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34795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cxnSp>
        <p:nvCxnSpPr>
          <p:cNvPr id="5" name="直線コネクタ 6"/>
          <p:cNvCxnSpPr>
            <a:cxnSpLocks noChangeShapeType="1"/>
          </p:cNvCxnSpPr>
          <p:nvPr/>
        </p:nvCxnSpPr>
        <p:spPr bwMode="auto">
          <a:xfrm>
            <a:off x="-14817" y="663575"/>
            <a:ext cx="2448984" cy="0"/>
          </a:xfrm>
          <a:prstGeom prst="line">
            <a:avLst/>
          </a:prstGeom>
          <a:noFill/>
          <a:ln w="19050" algn="ctr">
            <a:solidFill>
              <a:srgbClr val="DC003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 name="コンテンツ プレースホルダー 2"/>
          <p:cNvSpPr>
            <a:spLocks noGrp="1"/>
          </p:cNvSpPr>
          <p:nvPr>
            <p:ph idx="1"/>
          </p:nvPr>
        </p:nvSpPr>
        <p:spPr>
          <a:xfrm>
            <a:off x="609600" y="1133746"/>
            <a:ext cx="10972800" cy="585064"/>
          </a:xfrm>
        </p:spPr>
        <p:txBody>
          <a:bodyPr/>
          <a:lstStyle>
            <a:lvl1pPr marL="0" indent="0">
              <a:buNone/>
              <a:defRPr sz="1800" b="1">
                <a:latin typeface="メイリオ" pitchFamily="50" charset="-128"/>
                <a:ea typeface="メイリオ" pitchFamily="50" charset="-128"/>
                <a:cs typeface="メイリオ" pitchFamily="50" charset="-128"/>
              </a:defRPr>
            </a:lvl1pPr>
            <a:lvl2pPr>
              <a:defRPr sz="1400">
                <a:latin typeface="メイリオ" pitchFamily="50" charset="-128"/>
                <a:ea typeface="メイリオ" pitchFamily="50" charset="-128"/>
                <a:cs typeface="メイリオ" pitchFamily="50" charset="-128"/>
              </a:defRPr>
            </a:lvl2pPr>
            <a:lvl3pPr>
              <a:defRPr sz="1400">
                <a:latin typeface="メイリオ" pitchFamily="50" charset="-128"/>
                <a:ea typeface="メイリオ" pitchFamily="50" charset="-128"/>
                <a:cs typeface="メイリオ" pitchFamily="50" charset="-128"/>
              </a:defRPr>
            </a:lvl3pPr>
            <a:lvl4pPr>
              <a:defRPr sz="1200">
                <a:latin typeface="メイリオ" pitchFamily="50" charset="-128"/>
                <a:ea typeface="メイリオ" pitchFamily="50" charset="-128"/>
                <a:cs typeface="メイリオ" pitchFamily="50" charset="-128"/>
              </a:defRPr>
            </a:lvl4pPr>
            <a:lvl5pPr>
              <a:defRPr sz="1050">
                <a:latin typeface="メイリオ" pitchFamily="50" charset="-128"/>
                <a:ea typeface="メイリオ" pitchFamily="50" charset="-128"/>
                <a:cs typeface="メイリオ" pitchFamily="50" charset="-128"/>
              </a:defRPr>
            </a:lvl5pPr>
          </a:lstStyle>
          <a:p>
            <a:pPr lvl="0"/>
            <a:r>
              <a:rPr lang="ja-JP" altLang="en-US"/>
              <a:t>マスター テキストの書式設定</a:t>
            </a:r>
          </a:p>
        </p:txBody>
      </p:sp>
      <p:sp>
        <p:nvSpPr>
          <p:cNvPr id="10" name="タイトル 1"/>
          <p:cNvSpPr>
            <a:spLocks noGrp="1"/>
          </p:cNvSpPr>
          <p:nvPr>
            <p:ph type="ctrTitle"/>
          </p:nvPr>
        </p:nvSpPr>
        <p:spPr>
          <a:xfrm>
            <a:off x="609600" y="122707"/>
            <a:ext cx="10031957" cy="387104"/>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lang="ja-JP" altLang="en-US" sz="2000" b="0" kern="1200" dirty="0">
                <a:solidFill>
                  <a:schemeClr val="tx1"/>
                </a:solidFill>
                <a:latin typeface="HGP創英角ｺﾞｼｯｸUB" pitchFamily="50" charset="-128"/>
                <a:ea typeface="HGP創英角ｺﾞｼｯｸUB" pitchFamily="50" charset="-128"/>
              </a:defRPr>
            </a:lvl1pPr>
          </a:lstStyle>
          <a:p>
            <a:pPr lvl="0"/>
            <a:r>
              <a:rPr lang="ja-JP" altLang="en-US"/>
              <a:t>マスター タイトルの書式設定</a:t>
            </a:r>
          </a:p>
        </p:txBody>
      </p:sp>
      <p:sp>
        <p:nvSpPr>
          <p:cNvPr id="11" name="コンテンツ プレースホルダー 2"/>
          <p:cNvSpPr>
            <a:spLocks noGrp="1"/>
          </p:cNvSpPr>
          <p:nvPr>
            <p:ph idx="11"/>
          </p:nvPr>
        </p:nvSpPr>
        <p:spPr>
          <a:xfrm>
            <a:off x="415047" y="1806846"/>
            <a:ext cx="10972800" cy="4457470"/>
          </a:xfrm>
        </p:spPr>
        <p:txBody>
          <a:bodyPr/>
          <a:lstStyle>
            <a:lvl1pPr marL="0" marR="0" indent="0" algn="l" defTabSz="914400" rtl="0" eaLnBrk="0" fontAlgn="base" latinLnBrk="0" hangingPunct="0">
              <a:lnSpc>
                <a:spcPct val="150000"/>
              </a:lnSpc>
              <a:spcBef>
                <a:spcPct val="20000"/>
              </a:spcBef>
              <a:spcAft>
                <a:spcPct val="0"/>
              </a:spcAft>
              <a:buClrTx/>
              <a:buSzTx/>
              <a:buFontTx/>
              <a:buNone/>
              <a:tabLst/>
              <a:defRPr sz="1600" b="0">
                <a:latin typeface="メイリオ" pitchFamily="50" charset="-128"/>
                <a:ea typeface="メイリオ" pitchFamily="50" charset="-128"/>
                <a:cs typeface="メイリオ" pitchFamily="50" charset="-128"/>
              </a:defRPr>
            </a:lvl1pPr>
            <a:lvl2pPr>
              <a:defRPr sz="1400">
                <a:latin typeface="メイリオ" pitchFamily="50" charset="-128"/>
                <a:ea typeface="メイリオ" pitchFamily="50" charset="-128"/>
                <a:cs typeface="メイリオ" pitchFamily="50" charset="-128"/>
              </a:defRPr>
            </a:lvl2pPr>
            <a:lvl3pPr>
              <a:defRPr sz="1400">
                <a:latin typeface="メイリオ" pitchFamily="50" charset="-128"/>
                <a:ea typeface="メイリオ" pitchFamily="50" charset="-128"/>
                <a:cs typeface="メイリオ" pitchFamily="50" charset="-128"/>
              </a:defRPr>
            </a:lvl3pPr>
            <a:lvl4pPr>
              <a:defRPr sz="1200">
                <a:latin typeface="メイリオ" pitchFamily="50" charset="-128"/>
                <a:ea typeface="メイリオ" pitchFamily="50" charset="-128"/>
                <a:cs typeface="メイリオ" pitchFamily="50" charset="-128"/>
              </a:defRPr>
            </a:lvl4pPr>
            <a:lvl5pPr>
              <a:defRPr sz="1050">
                <a:latin typeface="メイリオ" pitchFamily="50" charset="-128"/>
                <a:ea typeface="メイリオ" pitchFamily="50" charset="-128"/>
                <a:cs typeface="メイリオ"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p:txBody>
      </p:sp>
      <p:cxnSp>
        <p:nvCxnSpPr>
          <p:cNvPr id="6" name="直線コネクタ 9"/>
          <p:cNvCxnSpPr>
            <a:cxnSpLocks noChangeShapeType="1"/>
          </p:cNvCxnSpPr>
          <p:nvPr/>
        </p:nvCxnSpPr>
        <p:spPr bwMode="auto">
          <a:xfrm>
            <a:off x="2472267" y="663575"/>
            <a:ext cx="8675631"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 name="スライド番号プレースホルダー 5">
            <a:extLst>
              <a:ext uri="{FF2B5EF4-FFF2-40B4-BE49-F238E27FC236}">
                <a16:creationId xmlns:a16="http://schemas.microsoft.com/office/drawing/2014/main" id="{C0783465-FB23-EB9B-9755-E6013CC01B7E}"/>
              </a:ext>
            </a:extLst>
          </p:cNvPr>
          <p:cNvSpPr>
            <a:spLocks noGrp="1"/>
          </p:cNvSpPr>
          <p:nvPr>
            <p:ph type="sldNum" sz="quarter" idx="4"/>
          </p:nvPr>
        </p:nvSpPr>
        <p:spPr>
          <a:xfrm>
            <a:off x="9398543" y="6152066"/>
            <a:ext cx="2743200" cy="365125"/>
          </a:xfrm>
          <a:prstGeom prst="rect">
            <a:avLst/>
          </a:prstGeom>
        </p:spPr>
        <p:txBody>
          <a:bodyPr vert="horz" lIns="91440" tIns="45720" rIns="91440" bIns="45720" rtlCol="0" anchor="ctr"/>
          <a:lstStyle>
            <a:lvl1pPr algn="r">
              <a:defRPr sz="1600" b="0">
                <a:solidFill>
                  <a:schemeClr val="tx1"/>
                </a:solidFill>
                <a:latin typeface="Meiryo UI" panose="020B0604030504040204" pitchFamily="50" charset="-128"/>
                <a:ea typeface="Meiryo UI" panose="020B0604030504040204" pitchFamily="50" charset="-128"/>
              </a:defRPr>
            </a:lvl1pPr>
          </a:lstStyle>
          <a:p>
            <a:fld id="{06F33280-3E80-482D-8576-4ABC99412ED4}" type="slidenum">
              <a:rPr lang="ja-JP" altLang="en-US" smtClean="0"/>
              <a:pPr/>
              <a:t>‹#›</a:t>
            </a:fld>
            <a:endParaRPr lang="ja-JP" altLang="en-US"/>
          </a:p>
        </p:txBody>
      </p:sp>
    </p:spTree>
    <p:extLst>
      <p:ext uri="{BB962C8B-B14F-4D97-AF65-F5344CB8AC3E}">
        <p14:creationId xmlns:p14="http://schemas.microsoft.com/office/powerpoint/2010/main" val="1534144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6E4229-E483-41AA-BDEB-69D0A72AE9DD}" type="datetime1">
              <a:rPr kumimoji="1" lang="ja-JP" altLang="en-US" smtClean="0"/>
              <a:t>2026/3/14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ECBC7219-2CD1-472E-BD6E-B9574BC90939}" type="slidenum">
              <a:rPr lang="ja-JP" altLang="en-US" smtClean="0"/>
              <a:pPr/>
              <a:t>‹#›</a:t>
            </a:fld>
            <a:endParaRPr lang="ja-JP" altLang="en-US"/>
          </a:p>
        </p:txBody>
      </p:sp>
      <p:sp>
        <p:nvSpPr>
          <p:cNvPr id="7" name="正方形/長方形 6">
            <a:extLst>
              <a:ext uri="{FF2B5EF4-FFF2-40B4-BE49-F238E27FC236}">
                <a16:creationId xmlns:a16="http://schemas.microsoft.com/office/drawing/2014/main" id="{CA3DFFAD-E17D-C311-A11C-E9CB00F1E114}"/>
              </a:ext>
            </a:extLst>
          </p:cNvPr>
          <p:cNvSpPr/>
          <p:nvPr userDrawn="1"/>
        </p:nvSpPr>
        <p:spPr>
          <a:xfrm>
            <a:off x="0" y="1"/>
            <a:ext cx="12192000" cy="8164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8" name="正方形/長方形 7">
            <a:extLst>
              <a:ext uri="{FF2B5EF4-FFF2-40B4-BE49-F238E27FC236}">
                <a16:creationId xmlns:a16="http://schemas.microsoft.com/office/drawing/2014/main" id="{78CF237E-35F2-ED83-3F83-07EA9381B689}"/>
              </a:ext>
            </a:extLst>
          </p:cNvPr>
          <p:cNvSpPr/>
          <p:nvPr userDrawn="1"/>
        </p:nvSpPr>
        <p:spPr>
          <a:xfrm>
            <a:off x="-1" y="6635528"/>
            <a:ext cx="6074228" cy="6735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9" name="正方形/長方形 8">
            <a:extLst>
              <a:ext uri="{FF2B5EF4-FFF2-40B4-BE49-F238E27FC236}">
                <a16:creationId xmlns:a16="http://schemas.microsoft.com/office/drawing/2014/main" id="{5DFF5ED7-8305-1C76-A49C-2793DC3F889E}"/>
              </a:ext>
            </a:extLst>
          </p:cNvPr>
          <p:cNvSpPr/>
          <p:nvPr userDrawn="1"/>
        </p:nvSpPr>
        <p:spPr>
          <a:xfrm>
            <a:off x="6074229" y="6635528"/>
            <a:ext cx="6117772" cy="67356"/>
          </a:xfrm>
          <a:prstGeom prst="rect">
            <a:avLst/>
          </a:prstGeom>
          <a:solidFill>
            <a:srgbClr val="5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pic>
        <p:nvPicPr>
          <p:cNvPr id="12" name="図 11">
            <a:extLst>
              <a:ext uri="{FF2B5EF4-FFF2-40B4-BE49-F238E27FC236}">
                <a16:creationId xmlns:a16="http://schemas.microsoft.com/office/drawing/2014/main" id="{3C1DAAF0-0810-21FA-C156-2FCBF9A9BC7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87125" y="93841"/>
            <a:ext cx="872215" cy="800531"/>
          </a:xfrm>
          <a:prstGeom prst="rect">
            <a:avLst/>
          </a:prstGeom>
        </p:spPr>
      </p:pic>
      <p:cxnSp>
        <p:nvCxnSpPr>
          <p:cNvPr id="11" name="直線コネクタ 6">
            <a:extLst>
              <a:ext uri="{FF2B5EF4-FFF2-40B4-BE49-F238E27FC236}">
                <a16:creationId xmlns:a16="http://schemas.microsoft.com/office/drawing/2014/main" id="{5EE9D6C4-42D3-2A81-AB6A-0A45127B606C}"/>
              </a:ext>
            </a:extLst>
          </p:cNvPr>
          <p:cNvCxnSpPr>
            <a:cxnSpLocks noChangeShapeType="1"/>
          </p:cNvCxnSpPr>
          <p:nvPr userDrawn="1"/>
        </p:nvCxnSpPr>
        <p:spPr bwMode="auto">
          <a:xfrm>
            <a:off x="-14817" y="663575"/>
            <a:ext cx="2448984" cy="0"/>
          </a:xfrm>
          <a:prstGeom prst="line">
            <a:avLst/>
          </a:prstGeom>
          <a:noFill/>
          <a:ln w="19050" algn="ctr">
            <a:solidFill>
              <a:srgbClr val="DC003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3" name="直線コネクタ 9">
            <a:extLst>
              <a:ext uri="{FF2B5EF4-FFF2-40B4-BE49-F238E27FC236}">
                <a16:creationId xmlns:a16="http://schemas.microsoft.com/office/drawing/2014/main" id="{DB9E6F8D-E337-498F-9920-56BD1B88D151}"/>
              </a:ext>
            </a:extLst>
          </p:cNvPr>
          <p:cNvCxnSpPr>
            <a:cxnSpLocks noChangeShapeType="1"/>
          </p:cNvCxnSpPr>
          <p:nvPr userDrawn="1"/>
        </p:nvCxnSpPr>
        <p:spPr bwMode="auto">
          <a:xfrm>
            <a:off x="2472267" y="663575"/>
            <a:ext cx="8675631"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 name="Rectangle 26">
            <a:extLst>
              <a:ext uri="{FF2B5EF4-FFF2-40B4-BE49-F238E27FC236}">
                <a16:creationId xmlns:a16="http://schemas.microsoft.com/office/drawing/2014/main" id="{AFF11F0C-F817-DD95-A91F-735A96D358DF}"/>
              </a:ext>
            </a:extLst>
          </p:cNvPr>
          <p:cNvSpPr txBox="1">
            <a:spLocks noChangeArrowheads="1"/>
          </p:cNvSpPr>
          <p:nvPr userDrawn="1"/>
        </p:nvSpPr>
        <p:spPr>
          <a:xfrm>
            <a:off x="3052273" y="6649978"/>
            <a:ext cx="6080841" cy="250885"/>
          </a:xfrm>
          <a:prstGeom prst="rect">
            <a:avLst/>
          </a:prstGeom>
        </p:spPr>
        <p:txBody>
          <a:bodyPr anchor="ctr"/>
          <a:lstStyle>
            <a:defPPr>
              <a:defRPr lang="ja-JP"/>
            </a:defPPr>
            <a:lvl1pPr marL="0" algn="l" defTabSz="914400" rtl="0" eaLnBrk="1" latinLnBrk="0" hangingPunct="1">
              <a:defRPr kumimoji="1" sz="1000" kern="1200">
                <a:solidFill>
                  <a:schemeClr val="tx2"/>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auto">
              <a:spcBef>
                <a:spcPts val="0"/>
              </a:spcBef>
              <a:spcAft>
                <a:spcPts val="0"/>
              </a:spcAft>
              <a:defRPr/>
            </a:pPr>
            <a:r>
              <a:rPr lang="en-US" altLang="ja-JP" sz="1200" b="0" cap="none" spc="0" dirty="0">
                <a:ln>
                  <a:noFill/>
                </a:ln>
                <a:solidFill>
                  <a:schemeClr val="tx1"/>
                </a:solidFill>
                <a:effectLst/>
                <a:latin typeface="Meiryo UI" panose="020B0604030504040204" pitchFamily="50" charset="-128"/>
                <a:ea typeface="Meiryo UI" panose="020B0604030504040204" pitchFamily="50" charset="-128"/>
              </a:rPr>
              <a:t>Copyright © 2025 MICROS SOFTWARE,</a:t>
            </a:r>
            <a:r>
              <a:rPr lang="ja-JP" altLang="en-US" sz="1200" b="0" cap="none" spc="0" dirty="0">
                <a:ln>
                  <a:noFill/>
                </a:ln>
                <a:solidFill>
                  <a:schemeClr val="tx1"/>
                </a:solidFill>
                <a:effectLst/>
                <a:latin typeface="Meiryo UI" panose="020B0604030504040204" pitchFamily="50" charset="-128"/>
                <a:ea typeface="Meiryo UI" panose="020B0604030504040204" pitchFamily="50" charset="-128"/>
              </a:rPr>
              <a:t> </a:t>
            </a:r>
            <a:r>
              <a:rPr lang="en-US" altLang="ja-JP" sz="1200" b="0" cap="none" spc="0" dirty="0">
                <a:ln>
                  <a:noFill/>
                </a:ln>
                <a:solidFill>
                  <a:schemeClr val="tx1"/>
                </a:solidFill>
                <a:effectLst/>
                <a:latin typeface="Meiryo UI" panose="020B0604030504040204" pitchFamily="50" charset="-128"/>
                <a:ea typeface="Meiryo UI" panose="020B0604030504040204" pitchFamily="50" charset="-128"/>
              </a:rPr>
              <a:t>Inc. All Rights Reserved. </a:t>
            </a:r>
          </a:p>
        </p:txBody>
      </p:sp>
    </p:spTree>
    <p:extLst>
      <p:ext uri="{BB962C8B-B14F-4D97-AF65-F5344CB8AC3E}">
        <p14:creationId xmlns:p14="http://schemas.microsoft.com/office/powerpoint/2010/main" val="1337962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pic>
        <p:nvPicPr>
          <p:cNvPr id="2" name="図 1">
            <a:extLst>
              <a:ext uri="{FF2B5EF4-FFF2-40B4-BE49-F238E27FC236}">
                <a16:creationId xmlns:a16="http://schemas.microsoft.com/office/drawing/2014/main" id="{B6369701-2395-516A-70D2-FD6937C8EDE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66663" y="80268"/>
            <a:ext cx="809890" cy="809890"/>
          </a:xfrm>
          <a:prstGeom prst="rect">
            <a:avLst/>
          </a:prstGeom>
          <a:solidFill>
            <a:schemeClr val="bg1"/>
          </a:solidFill>
        </p:spPr>
      </p:pic>
      <p:sp>
        <p:nvSpPr>
          <p:cNvPr id="3" name="正方形/長方形 2">
            <a:extLst>
              <a:ext uri="{FF2B5EF4-FFF2-40B4-BE49-F238E27FC236}">
                <a16:creationId xmlns:a16="http://schemas.microsoft.com/office/drawing/2014/main" id="{7272D606-279B-D240-8009-60AACE4B36E7}"/>
              </a:ext>
            </a:extLst>
          </p:cNvPr>
          <p:cNvSpPr/>
          <p:nvPr userDrawn="1"/>
        </p:nvSpPr>
        <p:spPr>
          <a:xfrm>
            <a:off x="6536987" y="6467709"/>
            <a:ext cx="5655013" cy="26466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4" name="テキスト ボックス 3">
            <a:extLst>
              <a:ext uri="{FF2B5EF4-FFF2-40B4-BE49-F238E27FC236}">
                <a16:creationId xmlns:a16="http://schemas.microsoft.com/office/drawing/2014/main" id="{E8899D35-10CA-62BE-604C-4058E6416EC4}"/>
              </a:ext>
            </a:extLst>
          </p:cNvPr>
          <p:cNvSpPr txBox="1"/>
          <p:nvPr userDrawn="1"/>
        </p:nvSpPr>
        <p:spPr>
          <a:xfrm>
            <a:off x="7470843" y="6438525"/>
            <a:ext cx="4708204" cy="338554"/>
          </a:xfrm>
          <a:prstGeom prst="rect">
            <a:avLst/>
          </a:prstGeom>
          <a:noFill/>
        </p:spPr>
        <p:txBody>
          <a:bodyPr wrap="square" rtlCol="0">
            <a:spAutoFit/>
          </a:bodyPr>
          <a:lstStyle/>
          <a:p>
            <a:r>
              <a:rPr kumimoji="1" lang="en-US" altLang="ja-JP" sz="1600">
                <a:solidFill>
                  <a:schemeClr val="bg1"/>
                </a:solidFill>
                <a:latin typeface="Ink Free" panose="03080402000500000000" pitchFamily="66" charset="0"/>
                <a:cs typeface="Cordia New" panose="020B0502040204020203" pitchFamily="34" charset="-34"/>
              </a:rPr>
              <a:t>Micros Software Blockchain</a:t>
            </a:r>
            <a:r>
              <a:rPr kumimoji="1" lang="ja-JP" altLang="en-US" sz="1600">
                <a:solidFill>
                  <a:schemeClr val="bg1"/>
                </a:solidFill>
                <a:latin typeface="Ink Free" panose="03080402000500000000" pitchFamily="66" charset="0"/>
                <a:cs typeface="Cordia New" panose="020B0502040204020203" pitchFamily="34" charset="-34"/>
              </a:rPr>
              <a:t> </a:t>
            </a:r>
            <a:r>
              <a:rPr kumimoji="1" lang="en-US" altLang="ja-JP" sz="1600">
                <a:solidFill>
                  <a:schemeClr val="bg1"/>
                </a:solidFill>
                <a:latin typeface="Ink Free" panose="03080402000500000000" pitchFamily="66" charset="0"/>
                <a:cs typeface="Cordia New" panose="020B0502040204020203" pitchFamily="34" charset="-34"/>
              </a:rPr>
              <a:t>and Generative AI</a:t>
            </a:r>
            <a:r>
              <a:rPr kumimoji="1" lang="ja-JP" altLang="en-US" sz="1600">
                <a:solidFill>
                  <a:schemeClr val="bg1"/>
                </a:solidFill>
                <a:latin typeface="Ink Free" panose="03080402000500000000" pitchFamily="66" charset="0"/>
                <a:cs typeface="Cordia New" panose="020B0502040204020203" pitchFamily="34" charset="-34"/>
              </a:rPr>
              <a:t> </a:t>
            </a:r>
            <a:r>
              <a:rPr kumimoji="1" lang="en-US" altLang="ja-JP" sz="1600">
                <a:solidFill>
                  <a:schemeClr val="bg1"/>
                </a:solidFill>
                <a:latin typeface="Ink Free" panose="03080402000500000000" pitchFamily="66" charset="0"/>
                <a:cs typeface="Cordia New" panose="020B0502040204020203" pitchFamily="34" charset="-34"/>
              </a:rPr>
              <a:t>lab.</a:t>
            </a:r>
            <a:endParaRPr kumimoji="1" lang="ja-JP" altLang="en-US" sz="1600">
              <a:solidFill>
                <a:schemeClr val="bg1"/>
              </a:solidFill>
              <a:latin typeface="Ink Free" panose="03080402000500000000" pitchFamily="66" charset="0"/>
              <a:cs typeface="Cordia New" panose="020B0502040204020203" pitchFamily="34" charset="-34"/>
            </a:endParaRPr>
          </a:p>
        </p:txBody>
      </p:sp>
      <p:sp>
        <p:nvSpPr>
          <p:cNvPr id="5" name="スライド番号プレースホルダー 5">
            <a:extLst>
              <a:ext uri="{FF2B5EF4-FFF2-40B4-BE49-F238E27FC236}">
                <a16:creationId xmlns:a16="http://schemas.microsoft.com/office/drawing/2014/main" id="{84C8C705-582B-D079-7729-FD8967941E21}"/>
              </a:ext>
            </a:extLst>
          </p:cNvPr>
          <p:cNvSpPr>
            <a:spLocks noGrp="1"/>
          </p:cNvSpPr>
          <p:nvPr>
            <p:ph type="sldNum" sz="quarter" idx="4"/>
          </p:nvPr>
        </p:nvSpPr>
        <p:spPr>
          <a:xfrm>
            <a:off x="9398543" y="6152066"/>
            <a:ext cx="2743200" cy="365125"/>
          </a:xfrm>
          <a:prstGeom prst="rect">
            <a:avLst/>
          </a:prstGeom>
        </p:spPr>
        <p:txBody>
          <a:bodyPr vert="horz" lIns="91440" tIns="45720" rIns="91440" bIns="45720" rtlCol="0" anchor="ctr"/>
          <a:lstStyle>
            <a:lvl1pPr algn="r">
              <a:defRPr sz="1600" b="0">
                <a:solidFill>
                  <a:schemeClr val="tx1"/>
                </a:solidFill>
                <a:latin typeface="Meiryo UI" panose="020B0604030504040204" pitchFamily="50" charset="-128"/>
                <a:ea typeface="Meiryo UI" panose="020B0604030504040204" pitchFamily="50" charset="-128"/>
              </a:defRPr>
            </a:lvl1pPr>
          </a:lstStyle>
          <a:p>
            <a:fld id="{06F33280-3E80-482D-8576-4ABC99412ED4}" type="slidenum">
              <a:rPr lang="ja-JP" altLang="en-US" smtClean="0"/>
              <a:pPr/>
              <a:t>‹#›</a:t>
            </a:fld>
            <a:endParaRPr lang="ja-JP" altLang="en-US"/>
          </a:p>
        </p:txBody>
      </p:sp>
      <p:sp>
        <p:nvSpPr>
          <p:cNvPr id="6" name="テキスト ボックス 5">
            <a:extLst>
              <a:ext uri="{FF2B5EF4-FFF2-40B4-BE49-F238E27FC236}">
                <a16:creationId xmlns:a16="http://schemas.microsoft.com/office/drawing/2014/main" id="{B24E122E-0032-D98D-8DD4-C3CD56AE3E36}"/>
              </a:ext>
            </a:extLst>
          </p:cNvPr>
          <p:cNvSpPr txBox="1"/>
          <p:nvPr userDrawn="1"/>
        </p:nvSpPr>
        <p:spPr>
          <a:xfrm>
            <a:off x="118965" y="6583153"/>
            <a:ext cx="4742283" cy="261610"/>
          </a:xfrm>
          <a:prstGeom prst="rect">
            <a:avLst/>
          </a:prstGeom>
          <a:noFill/>
        </p:spPr>
        <p:txBody>
          <a:bodyPr wrap="square">
            <a:spAutoFit/>
          </a:bodyPr>
          <a:lstStyle/>
          <a:p>
            <a:pPr algn="ctr"/>
            <a:r>
              <a:rPr lang="en-US" altLang="ja-JP" sz="1100" b="0">
                <a:latin typeface="Meiryo UI" panose="020B0604030504040204" pitchFamily="50" charset="-128"/>
                <a:ea typeface="Meiryo UI" panose="020B0604030504040204" pitchFamily="50" charset="-128"/>
              </a:rPr>
              <a:t>Copyright © 2025 MICROS </a:t>
            </a:r>
            <a:r>
              <a:rPr lang="en-US" altLang="ja-JP" sz="1100" b="0" err="1">
                <a:latin typeface="Meiryo UI" panose="020B0604030504040204" pitchFamily="50" charset="-128"/>
                <a:ea typeface="Meiryo UI" panose="020B0604030504040204" pitchFamily="50" charset="-128"/>
              </a:rPr>
              <a:t>SOFTWARE,Inc</a:t>
            </a:r>
            <a:r>
              <a:rPr lang="en-US" altLang="ja-JP" sz="1100" b="0">
                <a:latin typeface="Meiryo UI" panose="020B0604030504040204" pitchFamily="50" charset="-128"/>
                <a:ea typeface="Meiryo UI" panose="020B0604030504040204" pitchFamily="50" charset="-128"/>
              </a:rPr>
              <a:t>. All Rights Reserved. </a:t>
            </a:r>
            <a:endParaRPr lang="ja-JP" altLang="en-US" sz="1100" b="0">
              <a:latin typeface="Meiryo UI" panose="020B0604030504040204" pitchFamily="50" charset="-128"/>
              <a:ea typeface="Meiryo UI" panose="020B0604030504040204" pitchFamily="50" charset="-128"/>
            </a:endParaRPr>
          </a:p>
        </p:txBody>
      </p:sp>
    </p:spTree>
  </p:cSld>
  <p:clrMap bg1="lt1" tx1="dk1" bg2="lt2" tx2="dk2" accent1="accent1" accent2="accent2" accent3="accent3" accent4="accent4" accent5="accent5" accent6="accent6" hlink="hlink" folHlink="folHlink"/>
  <p:sldLayoutIdLst>
    <p:sldLayoutId id="2147484327" r:id="rId1"/>
    <p:sldLayoutId id="2147484321" r:id="rId2"/>
    <p:sldLayoutId id="2147484330" r:id="rId3"/>
  </p:sldLayoutIdLst>
  <mc:AlternateContent xmlns:mc="http://schemas.openxmlformats.org/markup-compatibility/2006" xmlns:p14="http://schemas.microsoft.com/office/powerpoint/2010/main">
    <mc:Choice Requires="p14">
      <p:transition p14:dur="10"/>
    </mc:Choice>
    <mc:Fallback xmlns="">
      <p:transition/>
    </mc:Fallback>
  </mc:AlternateContent>
  <p:hf hdr="0" dt="0"/>
  <p:txStyles>
    <p:titleStyle>
      <a:lvl1pPr algn="l" rtl="0" eaLnBrk="0" fontAlgn="base" hangingPunct="0">
        <a:spcBef>
          <a:spcPct val="0"/>
        </a:spcBef>
        <a:spcAft>
          <a:spcPct val="0"/>
        </a:spcAft>
        <a:defRPr kumimoji="1" sz="2400">
          <a:solidFill>
            <a:srgbClr val="DC0032"/>
          </a:solidFill>
          <a:latin typeface="+mj-lt"/>
          <a:ea typeface="+mj-ea"/>
          <a:cs typeface="+mj-cs"/>
        </a:defRPr>
      </a:lvl1pPr>
      <a:lvl2pPr algn="l" rtl="0" eaLnBrk="0" fontAlgn="base" hangingPunct="0">
        <a:spcBef>
          <a:spcPct val="0"/>
        </a:spcBef>
        <a:spcAft>
          <a:spcPct val="0"/>
        </a:spcAft>
        <a:defRPr kumimoji="1" sz="2400">
          <a:solidFill>
            <a:schemeClr val="tx2"/>
          </a:solidFill>
          <a:latin typeface="Calibri" pitchFamily="34" charset="0"/>
          <a:ea typeface="ＭＳ Ｐゴシック" pitchFamily="50" charset="-128"/>
        </a:defRPr>
      </a:lvl2pPr>
      <a:lvl3pPr algn="l" rtl="0" eaLnBrk="0" fontAlgn="base" hangingPunct="0">
        <a:spcBef>
          <a:spcPct val="0"/>
        </a:spcBef>
        <a:spcAft>
          <a:spcPct val="0"/>
        </a:spcAft>
        <a:defRPr kumimoji="1" sz="2400">
          <a:solidFill>
            <a:schemeClr val="tx2"/>
          </a:solidFill>
          <a:latin typeface="Calibri" pitchFamily="34" charset="0"/>
          <a:ea typeface="ＭＳ Ｐゴシック" pitchFamily="50" charset="-128"/>
        </a:defRPr>
      </a:lvl3pPr>
      <a:lvl4pPr algn="l" rtl="0" eaLnBrk="0" fontAlgn="base" hangingPunct="0">
        <a:spcBef>
          <a:spcPct val="0"/>
        </a:spcBef>
        <a:spcAft>
          <a:spcPct val="0"/>
        </a:spcAft>
        <a:defRPr kumimoji="1" sz="2400">
          <a:solidFill>
            <a:schemeClr val="tx2"/>
          </a:solidFill>
          <a:latin typeface="Calibri" pitchFamily="34" charset="0"/>
          <a:ea typeface="ＭＳ Ｐゴシック" pitchFamily="50" charset="-128"/>
        </a:defRPr>
      </a:lvl4pPr>
      <a:lvl5pPr algn="l" rtl="0" eaLnBrk="0" fontAlgn="base" hangingPunct="0">
        <a:spcBef>
          <a:spcPct val="0"/>
        </a:spcBef>
        <a:spcAft>
          <a:spcPct val="0"/>
        </a:spcAft>
        <a:defRPr kumimoji="1" sz="2400">
          <a:solidFill>
            <a:schemeClr val="tx2"/>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Arial"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Arial"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Arial"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Arial" charset="0"/>
          <a:ea typeface="ＭＳ Ｐゴシック" pitchFamily="50" charset="-128"/>
        </a:defRPr>
      </a:lvl9pPr>
    </p:titleStyle>
    <p:bodyStyle>
      <a:lvl1pPr marL="342900" indent="-342900" algn="l" rtl="0" eaLnBrk="0" fontAlgn="base" hangingPunct="0">
        <a:lnSpc>
          <a:spcPct val="130000"/>
        </a:lnSpc>
        <a:spcBef>
          <a:spcPct val="20000"/>
        </a:spcBef>
        <a:spcAft>
          <a:spcPct val="0"/>
        </a:spcAft>
        <a:buChar char="•"/>
        <a:defRPr kumimoji="1" sz="20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kumimoji="1">
          <a:solidFill>
            <a:schemeClr val="tx1"/>
          </a:solidFill>
          <a:latin typeface="+mn-lt"/>
          <a:ea typeface="+mn-ea"/>
        </a:defRPr>
      </a:lvl2pPr>
      <a:lvl3pPr marL="1143000" indent="-228600" algn="l" rtl="0" eaLnBrk="0" fontAlgn="base" hangingPunct="0">
        <a:lnSpc>
          <a:spcPct val="130000"/>
        </a:lnSpc>
        <a:spcBef>
          <a:spcPct val="20000"/>
        </a:spcBef>
        <a:spcAft>
          <a:spcPct val="0"/>
        </a:spcAft>
        <a:buChar char="•"/>
        <a:defRPr kumimoji="1" sz="1600">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kumimoji="1" sz="1400">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kumimoji="1" sz="14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pic>
        <p:nvPicPr>
          <p:cNvPr id="2" name="図 1">
            <a:extLst>
              <a:ext uri="{FF2B5EF4-FFF2-40B4-BE49-F238E27FC236}">
                <a16:creationId xmlns:a16="http://schemas.microsoft.com/office/drawing/2014/main" id="{B6369701-2395-516A-70D2-FD6937C8EDE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66663" y="80268"/>
            <a:ext cx="809890" cy="809890"/>
          </a:xfrm>
          <a:prstGeom prst="rect">
            <a:avLst/>
          </a:prstGeom>
          <a:solidFill>
            <a:schemeClr val="bg1"/>
          </a:solidFill>
        </p:spPr>
      </p:pic>
      <p:sp>
        <p:nvSpPr>
          <p:cNvPr id="3" name="正方形/長方形 2">
            <a:extLst>
              <a:ext uri="{FF2B5EF4-FFF2-40B4-BE49-F238E27FC236}">
                <a16:creationId xmlns:a16="http://schemas.microsoft.com/office/drawing/2014/main" id="{7272D606-279B-D240-8009-60AACE4B36E7}"/>
              </a:ext>
            </a:extLst>
          </p:cNvPr>
          <p:cNvSpPr/>
          <p:nvPr userDrawn="1"/>
        </p:nvSpPr>
        <p:spPr>
          <a:xfrm>
            <a:off x="6536987" y="6467709"/>
            <a:ext cx="5655013" cy="26466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4" name="テキスト ボックス 3">
            <a:extLst>
              <a:ext uri="{FF2B5EF4-FFF2-40B4-BE49-F238E27FC236}">
                <a16:creationId xmlns:a16="http://schemas.microsoft.com/office/drawing/2014/main" id="{E8899D35-10CA-62BE-604C-4058E6416EC4}"/>
              </a:ext>
            </a:extLst>
          </p:cNvPr>
          <p:cNvSpPr txBox="1"/>
          <p:nvPr userDrawn="1"/>
        </p:nvSpPr>
        <p:spPr>
          <a:xfrm>
            <a:off x="7470843" y="6438525"/>
            <a:ext cx="4708204" cy="338554"/>
          </a:xfrm>
          <a:prstGeom prst="rect">
            <a:avLst/>
          </a:prstGeom>
          <a:noFill/>
        </p:spPr>
        <p:txBody>
          <a:bodyPr wrap="square" rtlCol="0">
            <a:spAutoFit/>
          </a:bodyPr>
          <a:lstStyle/>
          <a:p>
            <a:r>
              <a:rPr kumimoji="1" lang="en-US" altLang="ja-JP" sz="1600">
                <a:solidFill>
                  <a:schemeClr val="bg1"/>
                </a:solidFill>
                <a:latin typeface="Ink Free" panose="03080402000500000000" pitchFamily="66" charset="0"/>
                <a:cs typeface="Cordia New" panose="020B0502040204020203" pitchFamily="34" charset="-34"/>
              </a:rPr>
              <a:t>Micros Software Blockchain</a:t>
            </a:r>
            <a:r>
              <a:rPr kumimoji="1" lang="ja-JP" altLang="en-US" sz="1600">
                <a:solidFill>
                  <a:schemeClr val="bg1"/>
                </a:solidFill>
                <a:latin typeface="Ink Free" panose="03080402000500000000" pitchFamily="66" charset="0"/>
                <a:cs typeface="Cordia New" panose="020B0502040204020203" pitchFamily="34" charset="-34"/>
              </a:rPr>
              <a:t> </a:t>
            </a:r>
            <a:r>
              <a:rPr kumimoji="1" lang="en-US" altLang="ja-JP" sz="1600">
                <a:solidFill>
                  <a:schemeClr val="bg1"/>
                </a:solidFill>
                <a:latin typeface="Ink Free" panose="03080402000500000000" pitchFamily="66" charset="0"/>
                <a:cs typeface="Cordia New" panose="020B0502040204020203" pitchFamily="34" charset="-34"/>
              </a:rPr>
              <a:t>and Generative AI</a:t>
            </a:r>
            <a:r>
              <a:rPr kumimoji="1" lang="ja-JP" altLang="en-US" sz="1600">
                <a:solidFill>
                  <a:schemeClr val="bg1"/>
                </a:solidFill>
                <a:latin typeface="Ink Free" panose="03080402000500000000" pitchFamily="66" charset="0"/>
                <a:cs typeface="Cordia New" panose="020B0502040204020203" pitchFamily="34" charset="-34"/>
              </a:rPr>
              <a:t> </a:t>
            </a:r>
            <a:r>
              <a:rPr kumimoji="1" lang="en-US" altLang="ja-JP" sz="1600">
                <a:solidFill>
                  <a:schemeClr val="bg1"/>
                </a:solidFill>
                <a:latin typeface="Ink Free" panose="03080402000500000000" pitchFamily="66" charset="0"/>
                <a:cs typeface="Cordia New" panose="020B0502040204020203" pitchFamily="34" charset="-34"/>
              </a:rPr>
              <a:t>lab.</a:t>
            </a:r>
            <a:endParaRPr kumimoji="1" lang="ja-JP" altLang="en-US" sz="1600">
              <a:solidFill>
                <a:schemeClr val="bg1"/>
              </a:solidFill>
              <a:latin typeface="Ink Free" panose="03080402000500000000" pitchFamily="66" charset="0"/>
              <a:cs typeface="Cordia New" panose="020B0502040204020203" pitchFamily="34" charset="-34"/>
            </a:endParaRPr>
          </a:p>
        </p:txBody>
      </p:sp>
      <p:sp>
        <p:nvSpPr>
          <p:cNvPr id="5" name="スライド番号プレースホルダー 5">
            <a:extLst>
              <a:ext uri="{FF2B5EF4-FFF2-40B4-BE49-F238E27FC236}">
                <a16:creationId xmlns:a16="http://schemas.microsoft.com/office/drawing/2014/main" id="{84C8C705-582B-D079-7729-FD8967941E21}"/>
              </a:ext>
            </a:extLst>
          </p:cNvPr>
          <p:cNvSpPr>
            <a:spLocks noGrp="1"/>
          </p:cNvSpPr>
          <p:nvPr>
            <p:ph type="sldNum" sz="quarter" idx="4"/>
          </p:nvPr>
        </p:nvSpPr>
        <p:spPr>
          <a:xfrm>
            <a:off x="9398543" y="6152066"/>
            <a:ext cx="2743200" cy="365125"/>
          </a:xfrm>
          <a:prstGeom prst="rect">
            <a:avLst/>
          </a:prstGeom>
        </p:spPr>
        <p:txBody>
          <a:bodyPr vert="horz" lIns="91440" tIns="45720" rIns="91440" bIns="45720" rtlCol="0" anchor="ctr"/>
          <a:lstStyle>
            <a:lvl1pPr algn="r">
              <a:defRPr sz="1600" b="0">
                <a:solidFill>
                  <a:schemeClr val="tx1"/>
                </a:solidFill>
                <a:latin typeface="Meiryo UI" panose="020B0604030504040204" pitchFamily="50" charset="-128"/>
                <a:ea typeface="Meiryo UI" panose="020B0604030504040204" pitchFamily="50" charset="-128"/>
              </a:defRPr>
            </a:lvl1pPr>
          </a:lstStyle>
          <a:p>
            <a:fld id="{06F33280-3E80-482D-8576-4ABC99412ED4}" type="slidenum">
              <a:rPr lang="ja-JP" altLang="en-US" smtClean="0"/>
              <a:pPr/>
              <a:t>‹#›</a:t>
            </a:fld>
            <a:endParaRPr lang="ja-JP" altLang="en-US"/>
          </a:p>
        </p:txBody>
      </p:sp>
      <p:sp>
        <p:nvSpPr>
          <p:cNvPr id="6" name="テキスト ボックス 5">
            <a:extLst>
              <a:ext uri="{FF2B5EF4-FFF2-40B4-BE49-F238E27FC236}">
                <a16:creationId xmlns:a16="http://schemas.microsoft.com/office/drawing/2014/main" id="{B24E122E-0032-D98D-8DD4-C3CD56AE3E36}"/>
              </a:ext>
            </a:extLst>
          </p:cNvPr>
          <p:cNvSpPr txBox="1"/>
          <p:nvPr userDrawn="1"/>
        </p:nvSpPr>
        <p:spPr>
          <a:xfrm>
            <a:off x="118965" y="6583153"/>
            <a:ext cx="4742283" cy="261610"/>
          </a:xfrm>
          <a:prstGeom prst="rect">
            <a:avLst/>
          </a:prstGeom>
          <a:noFill/>
        </p:spPr>
        <p:txBody>
          <a:bodyPr wrap="square">
            <a:spAutoFit/>
          </a:bodyPr>
          <a:lstStyle/>
          <a:p>
            <a:pPr algn="ctr"/>
            <a:r>
              <a:rPr lang="en-US" altLang="ja-JP" sz="1100" b="0">
                <a:latin typeface="Meiryo UI" panose="020B0604030504040204" pitchFamily="50" charset="-128"/>
                <a:ea typeface="Meiryo UI" panose="020B0604030504040204" pitchFamily="50" charset="-128"/>
              </a:rPr>
              <a:t>Copyright © 2026 MICROS </a:t>
            </a:r>
            <a:r>
              <a:rPr lang="en-US" altLang="ja-JP" sz="1100" b="0" err="1">
                <a:latin typeface="Meiryo UI" panose="020B0604030504040204" pitchFamily="50" charset="-128"/>
                <a:ea typeface="Meiryo UI" panose="020B0604030504040204" pitchFamily="50" charset="-128"/>
              </a:rPr>
              <a:t>SOFTWARE,Inc</a:t>
            </a:r>
            <a:r>
              <a:rPr lang="en-US" altLang="ja-JP" sz="1100" b="0">
                <a:latin typeface="Meiryo UI" panose="020B0604030504040204" pitchFamily="50" charset="-128"/>
                <a:ea typeface="Meiryo UI" panose="020B0604030504040204" pitchFamily="50" charset="-128"/>
              </a:rPr>
              <a:t>. All Rights Reserved. </a:t>
            </a:r>
            <a:endParaRPr lang="ja-JP" altLang="en-US" sz="1100" b="0">
              <a:latin typeface="Meiryo UI" panose="020B0604030504040204" pitchFamily="50" charset="-128"/>
              <a:ea typeface="Meiryo UI" panose="020B0604030504040204" pitchFamily="50" charset="-128"/>
            </a:endParaRPr>
          </a:p>
        </p:txBody>
      </p:sp>
    </p:spTree>
  </p:cSld>
  <p:clrMap bg1="lt1" tx1="dk1" bg2="lt2" tx2="dk2" accent1="accent1" accent2="accent2" accent3="accent3" accent4="accent4" accent5="accent5" accent6="accent6" hlink="hlink" folHlink="folHlink"/>
  <p:sldLayoutIdLst>
    <p:sldLayoutId id="2147484332" r:id="rId1"/>
    <p:sldLayoutId id="2147484333" r:id="rId2"/>
    <p:sldLayoutId id="2147484334" r:id="rId3"/>
  </p:sldLayoutIdLst>
  <mc:AlternateContent xmlns:mc="http://schemas.openxmlformats.org/markup-compatibility/2006" xmlns:p14="http://schemas.microsoft.com/office/powerpoint/2010/main">
    <mc:Choice Requires="p14">
      <p:transition p14:dur="10"/>
    </mc:Choice>
    <mc:Fallback xmlns="">
      <p:transition/>
    </mc:Fallback>
  </mc:AlternateContent>
  <p:hf hdr="0" dt="0"/>
  <p:txStyles>
    <p:titleStyle>
      <a:lvl1pPr algn="l" rtl="0" eaLnBrk="0" fontAlgn="base" hangingPunct="0">
        <a:spcBef>
          <a:spcPct val="0"/>
        </a:spcBef>
        <a:spcAft>
          <a:spcPct val="0"/>
        </a:spcAft>
        <a:defRPr kumimoji="1" sz="2400">
          <a:solidFill>
            <a:srgbClr val="DC0032"/>
          </a:solidFill>
          <a:latin typeface="+mj-lt"/>
          <a:ea typeface="+mj-ea"/>
          <a:cs typeface="+mj-cs"/>
        </a:defRPr>
      </a:lvl1pPr>
      <a:lvl2pPr algn="l" rtl="0" eaLnBrk="0" fontAlgn="base" hangingPunct="0">
        <a:spcBef>
          <a:spcPct val="0"/>
        </a:spcBef>
        <a:spcAft>
          <a:spcPct val="0"/>
        </a:spcAft>
        <a:defRPr kumimoji="1" sz="2400">
          <a:solidFill>
            <a:schemeClr val="tx2"/>
          </a:solidFill>
          <a:latin typeface="Calibri" pitchFamily="34" charset="0"/>
          <a:ea typeface="ＭＳ Ｐゴシック" pitchFamily="50" charset="-128"/>
        </a:defRPr>
      </a:lvl2pPr>
      <a:lvl3pPr algn="l" rtl="0" eaLnBrk="0" fontAlgn="base" hangingPunct="0">
        <a:spcBef>
          <a:spcPct val="0"/>
        </a:spcBef>
        <a:spcAft>
          <a:spcPct val="0"/>
        </a:spcAft>
        <a:defRPr kumimoji="1" sz="2400">
          <a:solidFill>
            <a:schemeClr val="tx2"/>
          </a:solidFill>
          <a:latin typeface="Calibri" pitchFamily="34" charset="0"/>
          <a:ea typeface="ＭＳ Ｐゴシック" pitchFamily="50" charset="-128"/>
        </a:defRPr>
      </a:lvl3pPr>
      <a:lvl4pPr algn="l" rtl="0" eaLnBrk="0" fontAlgn="base" hangingPunct="0">
        <a:spcBef>
          <a:spcPct val="0"/>
        </a:spcBef>
        <a:spcAft>
          <a:spcPct val="0"/>
        </a:spcAft>
        <a:defRPr kumimoji="1" sz="2400">
          <a:solidFill>
            <a:schemeClr val="tx2"/>
          </a:solidFill>
          <a:latin typeface="Calibri" pitchFamily="34" charset="0"/>
          <a:ea typeface="ＭＳ Ｐゴシック" pitchFamily="50" charset="-128"/>
        </a:defRPr>
      </a:lvl4pPr>
      <a:lvl5pPr algn="l" rtl="0" eaLnBrk="0" fontAlgn="base" hangingPunct="0">
        <a:spcBef>
          <a:spcPct val="0"/>
        </a:spcBef>
        <a:spcAft>
          <a:spcPct val="0"/>
        </a:spcAft>
        <a:defRPr kumimoji="1" sz="2400">
          <a:solidFill>
            <a:schemeClr val="tx2"/>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Arial"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Arial"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Arial"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Arial" charset="0"/>
          <a:ea typeface="ＭＳ Ｐゴシック" pitchFamily="50" charset="-128"/>
        </a:defRPr>
      </a:lvl9pPr>
    </p:titleStyle>
    <p:bodyStyle>
      <a:lvl1pPr marL="342900" indent="-342900" algn="l" rtl="0" eaLnBrk="0" fontAlgn="base" hangingPunct="0">
        <a:lnSpc>
          <a:spcPct val="130000"/>
        </a:lnSpc>
        <a:spcBef>
          <a:spcPct val="20000"/>
        </a:spcBef>
        <a:spcAft>
          <a:spcPct val="0"/>
        </a:spcAft>
        <a:buChar char="•"/>
        <a:defRPr kumimoji="1" sz="20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kumimoji="1">
          <a:solidFill>
            <a:schemeClr val="tx1"/>
          </a:solidFill>
          <a:latin typeface="+mn-lt"/>
          <a:ea typeface="+mn-ea"/>
        </a:defRPr>
      </a:lvl2pPr>
      <a:lvl3pPr marL="1143000" indent="-228600" algn="l" rtl="0" eaLnBrk="0" fontAlgn="base" hangingPunct="0">
        <a:lnSpc>
          <a:spcPct val="130000"/>
        </a:lnSpc>
        <a:spcBef>
          <a:spcPct val="20000"/>
        </a:spcBef>
        <a:spcAft>
          <a:spcPct val="0"/>
        </a:spcAft>
        <a:buChar char="•"/>
        <a:defRPr kumimoji="1" sz="1600">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kumimoji="1" sz="1400">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kumimoji="1" sz="14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6C17D8-A882-B586-C7C1-F83273622F75}"/>
              </a:ext>
            </a:extLst>
          </p:cNvPr>
          <p:cNvSpPr>
            <a:spLocks noGrp="1"/>
          </p:cNvSpPr>
          <p:nvPr>
            <p:ph type="ctrTitle"/>
          </p:nvPr>
        </p:nvSpPr>
        <p:spPr>
          <a:xfrm>
            <a:off x="1765737" y="1778646"/>
            <a:ext cx="9144000" cy="1402966"/>
          </a:xfrm>
        </p:spPr>
        <p:txBody>
          <a:bodyPr anchor="ctr" anchorCtr="0">
            <a:normAutofit fontScale="90000"/>
          </a:bodyPr>
          <a:lstStyle/>
          <a:p>
            <a:r>
              <a:rPr lang="en-US" altLang="ja-JP" sz="4400" dirty="0">
                <a:solidFill>
                  <a:schemeClr val="tx1"/>
                </a:solidFill>
                <a:latin typeface="Meiryo UI" panose="020B0604030504040204" pitchFamily="50" charset="-128"/>
                <a:ea typeface="Meiryo UI" panose="020B0604030504040204" pitchFamily="50" charset="-128"/>
              </a:rPr>
              <a:t>LLM Security Scan</a:t>
            </a:r>
          </a:p>
          <a:p>
            <a:r>
              <a:rPr lang="ja-JP" altLang="en-US" sz="4400" dirty="0">
                <a:solidFill>
                  <a:schemeClr val="tx1"/>
                </a:solidFill>
                <a:latin typeface="Meiryo UI" panose="020B0604030504040204" pitchFamily="50" charset="-128"/>
                <a:ea typeface="Meiryo UI" panose="020B0604030504040204" pitchFamily="50" charset="-128"/>
              </a:rPr>
              <a:t>外部仕様書</a:t>
            </a:r>
          </a:p>
        </p:txBody>
      </p:sp>
      <p:sp>
        <p:nvSpPr>
          <p:cNvPr id="6" name="テキスト ボックス 5">
            <a:extLst>
              <a:ext uri="{FF2B5EF4-FFF2-40B4-BE49-F238E27FC236}">
                <a16:creationId xmlns:a16="http://schemas.microsoft.com/office/drawing/2014/main" id="{FEB434F6-3587-0E54-9627-23F166EC19B6}"/>
              </a:ext>
            </a:extLst>
          </p:cNvPr>
          <p:cNvSpPr txBox="1"/>
          <p:nvPr/>
        </p:nvSpPr>
        <p:spPr>
          <a:xfrm>
            <a:off x="2032000" y="100229"/>
            <a:ext cx="4191000" cy="461665"/>
          </a:xfrm>
          <a:prstGeom prst="rect">
            <a:avLst/>
          </a:prstGeom>
          <a:noFill/>
        </p:spPr>
        <p:txBody>
          <a:bodyPr wrap="square">
            <a:spAutoFit/>
          </a:bodyPr>
          <a:lstStyle/>
          <a:p>
            <a:pPr algn="ctr"/>
            <a:r>
              <a:rPr kumimoji="1" lang="ja-JP" altLang="en-US" sz="2400" b="0" dirty="0">
                <a:latin typeface="Meiryo UI" panose="020B0604030504040204" pitchFamily="50" charset="-128"/>
                <a:ea typeface="Meiryo UI" panose="020B0604030504040204" pitchFamily="50" charset="-128"/>
              </a:rPr>
              <a:t>生成 </a:t>
            </a:r>
            <a:r>
              <a:rPr kumimoji="1" lang="en-US" altLang="ja-JP" sz="2400" b="0" dirty="0">
                <a:latin typeface="Meiryo UI" panose="020B0604030504040204" pitchFamily="50" charset="-128"/>
                <a:ea typeface="Meiryo UI" panose="020B0604030504040204" pitchFamily="50" charset="-128"/>
              </a:rPr>
              <a:t>AI </a:t>
            </a:r>
            <a:r>
              <a:rPr kumimoji="1" lang="ja-JP" altLang="en-US" sz="2400" b="0" dirty="0">
                <a:latin typeface="Meiryo UI" panose="020B0604030504040204" pitchFamily="50" charset="-128"/>
                <a:ea typeface="Meiryo UI" panose="020B0604030504040204" pitchFamily="50" charset="-128"/>
              </a:rPr>
              <a:t>活用プロジェクト</a:t>
            </a:r>
          </a:p>
        </p:txBody>
      </p:sp>
      <p:pic>
        <p:nvPicPr>
          <p:cNvPr id="8" name="図 7" descr="ロゴ, アイコン&#10;&#10;自動的に生成された説明">
            <a:extLst>
              <a:ext uri="{FF2B5EF4-FFF2-40B4-BE49-F238E27FC236}">
                <a16:creationId xmlns:a16="http://schemas.microsoft.com/office/drawing/2014/main" id="{DE7682FD-3068-0391-84EE-E1474A41BC4F}"/>
              </a:ext>
            </a:extLst>
          </p:cNvPr>
          <p:cNvPicPr>
            <a:picLocks noChangeAspect="1"/>
          </p:cNvPicPr>
          <p:nvPr/>
        </p:nvPicPr>
        <p:blipFill>
          <a:blip r:embed="rId3"/>
          <a:stretch>
            <a:fillRect/>
          </a:stretch>
        </p:blipFill>
        <p:spPr>
          <a:xfrm>
            <a:off x="838348" y="0"/>
            <a:ext cx="2110214" cy="1540564"/>
          </a:xfrm>
          <a:prstGeom prst="rect">
            <a:avLst/>
          </a:prstGeom>
        </p:spPr>
      </p:pic>
      <p:sp>
        <p:nvSpPr>
          <p:cNvPr id="3" name="テキスト ボックス 2">
            <a:extLst>
              <a:ext uri="{FF2B5EF4-FFF2-40B4-BE49-F238E27FC236}">
                <a16:creationId xmlns:a16="http://schemas.microsoft.com/office/drawing/2014/main" id="{F5DCD7B5-3282-4733-8A4D-0288C0DA33AE}"/>
              </a:ext>
            </a:extLst>
          </p:cNvPr>
          <p:cNvSpPr txBox="1"/>
          <p:nvPr/>
        </p:nvSpPr>
        <p:spPr>
          <a:xfrm>
            <a:off x="5409282" y="3627620"/>
            <a:ext cx="6274718" cy="830997"/>
          </a:xfrm>
          <a:prstGeom prst="rect">
            <a:avLst/>
          </a:prstGeom>
          <a:noFill/>
        </p:spPr>
        <p:txBody>
          <a:bodyPr vertOverflow="overflow" vert="horz" wrap="square" rtlCol="0" anchor="t">
            <a:spAutoFit/>
          </a:bodyPr>
          <a:lstStyle/>
          <a:p>
            <a:pPr algn="r"/>
            <a:r>
              <a:rPr lang="en-US" altLang="ja-JP" sz="2400" dirty="0">
                <a:latin typeface="Meiryo UI"/>
                <a:ea typeface="Meiryo UI"/>
              </a:rPr>
              <a:t>Version: 1.0.0 | Date: 2026-03-14</a:t>
            </a:r>
            <a:endParaRPr lang="ja-JP" altLang="en-US" sz="2400" dirty="0">
              <a:latin typeface="Meiryo UI"/>
              <a:ea typeface="Meiryo UI"/>
            </a:endParaRPr>
          </a:p>
          <a:p>
            <a:pPr algn="r"/>
            <a:r>
              <a:rPr lang="en-US" altLang="ja-JP" sz="2400" dirty="0" err="1">
                <a:latin typeface="Meiryo UI"/>
                <a:ea typeface="Meiryo UI"/>
              </a:rPr>
              <a:t>n.hikichi</a:t>
            </a:r>
            <a:endParaRPr lang="en-US" altLang="ja-JP" sz="2400" dirty="0">
              <a:latin typeface="Meiryo UI"/>
              <a:ea typeface="Meiryo UI"/>
            </a:endParaRPr>
          </a:p>
        </p:txBody>
      </p:sp>
      <p:sp>
        <p:nvSpPr>
          <p:cNvPr id="4" name="テキスト ボックス 3">
            <a:extLst>
              <a:ext uri="{FF2B5EF4-FFF2-40B4-BE49-F238E27FC236}">
                <a16:creationId xmlns:a16="http://schemas.microsoft.com/office/drawing/2014/main" id="{3F12F6A3-3D4A-BF17-068A-8A517FD84463}"/>
              </a:ext>
            </a:extLst>
          </p:cNvPr>
          <p:cNvSpPr txBox="1"/>
          <p:nvPr/>
        </p:nvSpPr>
        <p:spPr>
          <a:xfrm>
            <a:off x="822960" y="4821274"/>
            <a:ext cx="11109960" cy="1200329"/>
          </a:xfrm>
          <a:prstGeom prst="rect">
            <a:avLst/>
          </a:prstGeom>
          <a:noFill/>
        </p:spPr>
        <p:txBody>
          <a:bodyPr wrap="square" rtlCol="0">
            <a:spAutoFit/>
          </a:bodyPr>
          <a:lstStyle/>
          <a:p>
            <a:r>
              <a:rPr lang="en-US" altLang="ja-JP" sz="2400" b="0" dirty="0">
                <a:latin typeface="メイリオ" panose="020B0604030504040204" pitchFamily="50" charset="-128"/>
                <a:ea typeface="メイリオ" panose="020B0604030504040204" pitchFamily="50" charset="-128"/>
              </a:rPr>
              <a:t>Claude AI </a:t>
            </a:r>
            <a:r>
              <a:rPr lang="ja-JP" altLang="en-US" sz="2400" b="0" dirty="0">
                <a:latin typeface="メイリオ" panose="020B0604030504040204" pitchFamily="50" charset="-128"/>
                <a:ea typeface="メイリオ" panose="020B0604030504040204" pitchFamily="50" charset="-128"/>
              </a:rPr>
              <a:t>の言語理解能力を活用し、JavaScript/Node.js プロジェクトの</a:t>
            </a:r>
          </a:p>
          <a:p>
            <a:r>
              <a:rPr lang="ja-JP" altLang="en-US" sz="2400" b="0" dirty="0">
                <a:latin typeface="メイリオ" panose="020B0604030504040204" pitchFamily="50" charset="-128"/>
                <a:ea typeface="メイリオ" panose="020B0604030504040204" pitchFamily="50" charset="-128"/>
              </a:rPr>
              <a:t>ソースコードを直接分析して脆弱性を検出するセキュリティスキャン SKILL</a:t>
            </a:r>
          </a:p>
          <a:p>
            <a:r>
              <a:rPr lang="ja-JP" altLang="en-US" sz="2400" b="0" dirty="0">
                <a:latin typeface="メイリオ" panose="020B0604030504040204" pitchFamily="50" charset="-128"/>
                <a:ea typeface="メイリオ" panose="020B0604030504040204" pitchFamily="50" charset="-128"/>
              </a:rPr>
              <a:t>外部仕様を示す。詳細はベースとした external-spec.md を参照のこと</a:t>
            </a:r>
          </a:p>
        </p:txBody>
      </p:sp>
    </p:spTree>
    <p:extLst>
      <p:ext uri="{BB962C8B-B14F-4D97-AF65-F5344CB8AC3E}">
        <p14:creationId xmlns:p14="http://schemas.microsoft.com/office/powerpoint/2010/main" val="350459606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17A59C9D-697E-C324-39BA-DDF8B2856260}"/>
              </a:ext>
            </a:extLst>
          </p:cNvPr>
          <p:cNvSpPr/>
          <p:nvPr/>
        </p:nvSpPr>
        <p:spPr>
          <a:xfrm>
            <a:off x="411480" y="62283"/>
            <a:ext cx="3007555" cy="584775"/>
          </a:xfrm>
          <a:prstGeom prst="rect">
            <a:avLst/>
          </a:prstGeom>
        </p:spPr>
        <p:txBody>
          <a:bodyPr wrap="none">
            <a:spAutoFit/>
          </a:bodyPr>
          <a:lstStyle/>
          <a:p>
            <a:r>
              <a:rPr lang="ja-JP" altLang="en-US" sz="3200" dirty="0">
                <a:latin typeface="Meiryo UI" panose="020B0604030504040204" pitchFamily="50" charset="-128"/>
                <a:ea typeface="Meiryo UI" panose="020B0604030504040204" pitchFamily="50" charset="-128"/>
              </a:rPr>
              <a:t>目次</a:t>
            </a:r>
          </a:p>
        </p:txBody>
      </p:sp>
      <p:sp>
        <p:nvSpPr>
          <p:cNvPr id="2" name="テキスト ボックス 1">
            <a:extLst>
              <a:ext uri="{FF2B5EF4-FFF2-40B4-BE49-F238E27FC236}">
                <a16:creationId xmlns:a16="http://schemas.microsoft.com/office/drawing/2014/main" id="{F49E0886-7D44-387B-1E21-B6AE00483735}"/>
              </a:ext>
            </a:extLst>
          </p:cNvPr>
          <p:cNvSpPr txBox="1"/>
          <p:nvPr/>
        </p:nvSpPr>
        <p:spPr>
          <a:xfrm>
            <a:off x="1012116" y="753710"/>
            <a:ext cx="7874000" cy="5715000"/>
          </a:xfrm>
          <a:prstGeom prst="rect">
            <a:avLst/>
          </a:prstGeom>
          <a:noFill/>
        </p:spPr>
        <p:txBody>
          <a:bodyPr wrap="square" lIns="91440" tIns="45720" rIns="91440" bIns="45720" anchor="t">
            <a:spAutoFit/>
          </a:bodyPr>
          <a:lstStyle/>
          <a:p>
            <a:pPr marL="88900" indent="-88900">
              <a:spcAft>
                <a:spcPts val="600"/>
              </a:spcAft>
            </a:pPr>
            <a:r>
              <a:rPr lang="en-US" altLang="ja-JP" sz="2800" dirty="0">
                <a:latin typeface="Meiryo UI" panose="020B0604030504040204" pitchFamily="50" charset="-128"/>
                <a:ea typeface="Meiryo UI" panose="020B0604030504040204" pitchFamily="50" charset="-128"/>
              </a:rPr>
              <a:t>1. </a:t>
            </a:r>
            <a:r>
              <a:rPr lang="ja-JP" altLang="en-US" sz="2800" dirty="0">
                <a:latin typeface="Meiryo UI" panose="020B0604030504040204" pitchFamily="50" charset="-128"/>
                <a:ea typeface="Meiryo UI" panose="020B0604030504040204" pitchFamily="50" charset="-128"/>
              </a:rPr>
              <a:t>概要・検出メカニズム</a:t>
            </a:r>
          </a:p>
          <a:p>
            <a:pPr marL="88900" indent="-88900">
              <a:spcAft>
                <a:spcPts val="600"/>
              </a:spcAft>
            </a:pPr>
            <a:r>
              <a:rPr lang="en-US" altLang="ja-JP" sz="2800" dirty="0">
                <a:latin typeface="Meiryo UI" panose="020B0604030504040204" pitchFamily="50" charset="-128"/>
                <a:ea typeface="Meiryo UI" panose="020B0604030504040204" pitchFamily="50" charset="-128"/>
              </a:rPr>
              <a:t>2. </a:t>
            </a:r>
            <a:r>
              <a:rPr lang="ja-JP" altLang="en-US" sz="2800" dirty="0">
                <a:latin typeface="Meiryo UI" panose="020B0604030504040204" pitchFamily="50" charset="-128"/>
                <a:ea typeface="Meiryo UI" panose="020B0604030504040204" pitchFamily="50" charset="-128"/>
              </a:rPr>
              <a:t>対応言語・拡張子</a:t>
            </a:r>
          </a:p>
          <a:p>
            <a:pPr marL="88900" indent="-88900">
              <a:spcAft>
                <a:spcPts val="600"/>
              </a:spcAft>
            </a:pPr>
            <a:r>
              <a:rPr lang="en-US" altLang="ja-JP" sz="2800" dirty="0">
                <a:latin typeface="Meiryo UI" panose="020B0604030504040204" pitchFamily="50" charset="-128"/>
                <a:ea typeface="Meiryo UI" panose="020B0604030504040204" pitchFamily="50" charset="-128"/>
              </a:rPr>
              <a:t>3. </a:t>
            </a:r>
            <a:r>
              <a:rPr lang="ja-JP" altLang="en-US" sz="2800" dirty="0">
                <a:latin typeface="Meiryo UI" panose="020B0604030504040204" pitchFamily="50" charset="-128"/>
                <a:ea typeface="Meiryo UI" panose="020B0604030504040204" pitchFamily="50" charset="-128"/>
              </a:rPr>
              <a:t>対応フレームワーク</a:t>
            </a:r>
          </a:p>
          <a:p>
            <a:pPr marL="88900" indent="-88900">
              <a:spcAft>
                <a:spcPts val="600"/>
              </a:spcAft>
            </a:pPr>
            <a:r>
              <a:rPr lang="en-US" altLang="ja-JP" sz="2800" dirty="0">
                <a:latin typeface="Meiryo UI" panose="020B0604030504040204" pitchFamily="50" charset="-128"/>
                <a:ea typeface="Meiryo UI" panose="020B0604030504040204" pitchFamily="50" charset="-128"/>
              </a:rPr>
              <a:t>4. </a:t>
            </a:r>
            <a:r>
              <a:rPr lang="ja-JP" altLang="en-US" sz="2800" dirty="0">
                <a:latin typeface="Meiryo UI" panose="020B0604030504040204" pitchFamily="50" charset="-128"/>
                <a:ea typeface="Meiryo UI" panose="020B0604030504040204" pitchFamily="50" charset="-128"/>
              </a:rPr>
              <a:t>検出対象（クライアント／サーバー）</a:t>
            </a:r>
          </a:p>
          <a:p>
            <a:pPr marL="88900" indent="-88900">
              <a:spcAft>
                <a:spcPts val="600"/>
              </a:spcAft>
            </a:pPr>
            <a:r>
              <a:rPr lang="en-US" altLang="ja-JP" sz="2800" dirty="0">
                <a:latin typeface="Meiryo UI" panose="020B0604030504040204" pitchFamily="50" charset="-128"/>
                <a:ea typeface="Meiryo UI" panose="020B0604030504040204" pitchFamily="50" charset="-128"/>
              </a:rPr>
              <a:t>5. </a:t>
            </a:r>
            <a:r>
              <a:rPr lang="ja-JP" altLang="en-US" sz="2800" dirty="0">
                <a:latin typeface="Meiryo UI" panose="020B0604030504040204" pitchFamily="50" charset="-128"/>
                <a:ea typeface="Meiryo UI" panose="020B0604030504040204" pitchFamily="50" charset="-128"/>
              </a:rPr>
              <a:t>入力・出力・レポート構成</a:t>
            </a:r>
          </a:p>
          <a:p>
            <a:pPr marL="88900" indent="-88900">
              <a:spcAft>
                <a:spcPts val="600"/>
              </a:spcAft>
            </a:pPr>
            <a:r>
              <a:rPr lang="en-US" altLang="ja-JP" sz="2800" dirty="0">
                <a:latin typeface="Meiryo UI" panose="020B0604030504040204" pitchFamily="50" charset="-128"/>
                <a:ea typeface="Meiryo UI" panose="020B0604030504040204" pitchFamily="50" charset="-128"/>
              </a:rPr>
              <a:t>6. </a:t>
            </a:r>
            <a:r>
              <a:rPr lang="ja-JP" altLang="en-US" sz="2800" dirty="0">
                <a:latin typeface="Meiryo UI" panose="020B0604030504040204" pitchFamily="50" charset="-128"/>
                <a:ea typeface="Meiryo UI" panose="020B0604030504040204" pitchFamily="50" charset="-128"/>
              </a:rPr>
              <a:t>処理フロー</a:t>
            </a:r>
          </a:p>
          <a:p>
            <a:pPr marL="88900" indent="-88900">
              <a:spcAft>
                <a:spcPts val="600"/>
              </a:spcAft>
            </a:pPr>
            <a:r>
              <a:rPr lang="en-US" altLang="ja-JP" sz="2800" dirty="0">
                <a:latin typeface="Meiryo UI" panose="020B0604030504040204" pitchFamily="50" charset="-128"/>
                <a:ea typeface="Meiryo UI" panose="020B0604030504040204" pitchFamily="50" charset="-128"/>
              </a:rPr>
              <a:t>7. </a:t>
            </a:r>
            <a:r>
              <a:rPr lang="ja-JP" altLang="en-US" sz="2800" dirty="0">
                <a:latin typeface="Meiryo UI" panose="020B0604030504040204" pitchFamily="50" charset="-128"/>
                <a:ea typeface="Meiryo UI" panose="020B0604030504040204" pitchFamily="50" charset="-128"/>
              </a:rPr>
              <a:t>処理時間・制約事項</a:t>
            </a:r>
          </a:p>
          <a:p>
            <a:pPr marL="88900" indent="-88900">
              <a:spcAft>
                <a:spcPts val="600"/>
              </a:spcAft>
            </a:pPr>
            <a:r>
              <a:rPr lang="en-US" altLang="ja-JP" sz="2800" dirty="0">
                <a:latin typeface="Meiryo UI" panose="020B0604030504040204" pitchFamily="50" charset="-128"/>
                <a:ea typeface="Meiryo UI" panose="020B0604030504040204" pitchFamily="50" charset="-128"/>
              </a:rPr>
              <a:t>8. </a:t>
            </a:r>
            <a:r>
              <a:rPr lang="ja-JP" altLang="en-US" sz="2800" dirty="0">
                <a:latin typeface="Meiryo UI" panose="020B0604030504040204" pitchFamily="50" charset="-128"/>
                <a:ea typeface="Meiryo UI" panose="020B0604030504040204" pitchFamily="50" charset="-128"/>
              </a:rPr>
              <a:t>付録A: ESLint Security Triage との比較</a:t>
            </a:r>
          </a:p>
        </p:txBody>
      </p:sp>
      <p:sp>
        <p:nvSpPr>
          <p:cNvPr id="5" name="スライド番号プレースホルダー 5">
            <a:extLst>
              <a:ext uri="{FF2B5EF4-FFF2-40B4-BE49-F238E27FC236}">
                <a16:creationId xmlns:a16="http://schemas.microsoft.com/office/drawing/2014/main" id="{A423C983-4FDF-A834-3749-4F40DC52E6F9}"/>
              </a:ext>
            </a:extLst>
          </p:cNvPr>
          <p:cNvSpPr>
            <a:spLocks noGrp="1"/>
          </p:cNvSpPr>
          <p:nvPr>
            <p:ph type="sldNum" sz="quarter" idx="4"/>
          </p:nvPr>
        </p:nvSpPr>
        <p:spPr/>
        <p:txBody>
          <a:bodyPr/>
          <a:lstStyle/>
          <a:p>
            <a:fld id="{06F33280-3E80-482D-8576-4ABC99412ED4}" type="slidenum">
              <a:rPr lang="ja-JP" altLang="en-US" smtClean="0"/>
              <a:pPr/>
              <a:t>2</a:t>
            </a:fld>
            <a:endParaRPr lang="ja-JP" altLang="en-US"/>
          </a:p>
        </p:txBody>
      </p:sp>
    </p:spTree>
    <p:extLst>
      <p:ext uri="{BB962C8B-B14F-4D97-AF65-F5344CB8AC3E}">
        <p14:creationId xmlns:p14="http://schemas.microsoft.com/office/powerpoint/2010/main" val="306050463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E0C7-0EFD-BF7B-5529-331E29C1BB00}"/>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4EE7E622-3FF6-03E6-B591-241197BF9808}"/>
              </a:ext>
            </a:extLst>
          </p:cNvPr>
          <p:cNvSpPr/>
          <p:nvPr/>
        </p:nvSpPr>
        <p:spPr>
          <a:xfrm>
            <a:off x="411480" y="111978"/>
            <a:ext cx="4506362" cy="584775"/>
          </a:xfrm>
          <a:prstGeom prst="rect">
            <a:avLst/>
          </a:prstGeom>
        </p:spPr>
        <p:txBody>
          <a:bodyPr wrap="none" lIns="91440" tIns="45720" rIns="91440" bIns="45720" anchor="t">
            <a:spAutoFit/>
          </a:bodyPr>
          <a:lstStyle/>
          <a:p>
            <a:r>
              <a:rPr lang="ja-JP" altLang="en-US" sz="3200" b="1" dirty="0">
                <a:latin typeface="Meiryo UI"/>
                <a:ea typeface="Meiryo UI"/>
              </a:rPr>
              <a:t>概要・検出メカニズム</a:t>
            </a:r>
          </a:p>
        </p:txBody>
      </p:sp>
      <p:sp>
        <p:nvSpPr>
          <p:cNvPr id="6" name="スライド番号プレースホルダー 5">
            <a:extLst>
              <a:ext uri="{FF2B5EF4-FFF2-40B4-BE49-F238E27FC236}">
                <a16:creationId xmlns:a16="http://schemas.microsoft.com/office/drawing/2014/main" id="{38236E57-C4B5-6A32-F451-126659E8A561}"/>
              </a:ext>
            </a:extLst>
          </p:cNvPr>
          <p:cNvSpPr>
            <a:spLocks noGrp="1"/>
          </p:cNvSpPr>
          <p:nvPr>
            <p:ph type="sldNum" sz="quarter" idx="4"/>
          </p:nvPr>
        </p:nvSpPr>
        <p:spPr/>
        <p:txBody>
          <a:bodyPr/>
          <a:lstStyle/>
          <a:p>
            <a:fld id="{06F33280-3E80-482D-8576-4ABC99412ED4}" type="slidenum">
              <a:rPr lang="ja-JP" altLang="en-US" smtClean="0"/>
              <a:pPr/>
              <a:t>3</a:t>
            </a:fld>
            <a:endParaRPr lang="ja-JP" altLang="en-US"/>
          </a:p>
        </p:txBody>
      </p:sp>
      <p:sp>
        <p:nvSpPr>
          <p:cNvPr id="3" name="テキスト ボックス 2">
            <a:extLst>
              <a:ext uri="{FF2B5EF4-FFF2-40B4-BE49-F238E27FC236}">
                <a16:creationId xmlns:a16="http://schemas.microsoft.com/office/drawing/2014/main" id="{541B6178-B167-40EF-A7D1-ED10A549E94D}"/>
              </a:ext>
            </a:extLst>
          </p:cNvPr>
          <p:cNvSpPr txBox="1"/>
          <p:nvPr/>
        </p:nvSpPr>
        <p:spPr>
          <a:xfrm>
            <a:off x="508000" y="889000"/>
            <a:ext cx="11176000" cy="762000"/>
          </a:xfrm>
          <a:prstGeom prst="rect">
            <a:avLst/>
          </a:prstGeom>
          <a:noFill/>
        </p:spPr>
        <p:txBody>
          <a:bodyPr vertOverflow="overflow" vert="horz" wrap="square" rtlCol="0" anchor="t">
            <a:spAutoFit/>
          </a:bodyPr>
          <a:lstStyle/>
          <a:p>
            <a:pPr algn="l"/>
            <a:r>
              <a:rPr lang="en-US" altLang="ja-JP">
                <a:solidFill>
                  <a:srgbClr val="333333"/>
                </a:solidFill>
                <a:latin typeface="Meiryo UI"/>
                <a:ea typeface="Meiryo UI"/>
              </a:rPr>
              <a:t>Claude AI </a:t>
            </a:r>
            <a:r>
              <a:rPr lang="ja-JP" altLang="en-US">
                <a:solidFill>
                  <a:srgbClr val="333333"/>
                </a:solidFill>
                <a:latin typeface="Meiryo UI"/>
                <a:ea typeface="Meiryo UI"/>
              </a:rPr>
              <a:t>の言語理解能力を活用し、JavaScript/Node.js プロジェクトのソースコードを直接分析して脆弱性を検出するセキュリティスキャン SKILL。</a:t>
            </a:r>
          </a:p>
        </p:txBody>
      </p:sp>
      <p:sp>
        <p:nvSpPr>
          <p:cNvPr id="4" name="テキスト ボックス 3">
            <a:extLst>
              <a:ext uri="{FF2B5EF4-FFF2-40B4-BE49-F238E27FC236}">
                <a16:creationId xmlns:a16="http://schemas.microsoft.com/office/drawing/2014/main" id="{DAE67BC2-A579-4779-BA20-E29DB09BF4D2}"/>
              </a:ext>
            </a:extLst>
          </p:cNvPr>
          <p:cNvSpPr txBox="1"/>
          <p:nvPr/>
        </p:nvSpPr>
        <p:spPr>
          <a:xfrm>
            <a:off x="508000" y="1841500"/>
            <a:ext cx="11176000" cy="381000"/>
          </a:xfrm>
          <a:prstGeom prst="rect">
            <a:avLst/>
          </a:prstGeom>
          <a:noFill/>
        </p:spPr>
        <p:txBody>
          <a:bodyPr vertOverflow="overflow" vert="horz" wrap="square" rtlCol="0" anchor="t">
            <a:spAutoFit/>
          </a:bodyPr>
          <a:lstStyle/>
          <a:p>
            <a:pPr algn="l"/>
            <a:r>
              <a:rPr lang="ja-JP" altLang="en-US" sz="1600">
                <a:solidFill>
                  <a:srgbClr val="2F5496"/>
                </a:solidFill>
                <a:latin typeface="Meiryo UI"/>
                <a:ea typeface="Meiryo UI"/>
              </a:rPr>
              <a:t>検出メカニズム</a:t>
            </a:r>
          </a:p>
        </p:txBody>
      </p:sp>
      <p:sp>
        <p:nvSpPr>
          <p:cNvPr id="5" name="四角形: 角を丸くする 4">
            <a:extLst>
              <a:ext uri="{FF2B5EF4-FFF2-40B4-BE49-F238E27FC236}">
                <a16:creationId xmlns:a16="http://schemas.microsoft.com/office/drawing/2014/main" id="{8F19FFB9-8D68-4DF6-936E-6A514B7A2D4C}"/>
              </a:ext>
            </a:extLst>
          </p:cNvPr>
          <p:cNvSpPr/>
          <p:nvPr/>
        </p:nvSpPr>
        <p:spPr bwMode="auto">
          <a:xfrm>
            <a:off x="571500" y="2349500"/>
            <a:ext cx="3429000" cy="1524000"/>
          </a:xfrm>
          <a:prstGeom prst="roundRect">
            <a:avLst/>
          </a:prstGeom>
          <a:solidFill>
            <a:srgbClr val="2F5496"/>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algn="ctr">
              <a:buNone/>
            </a:pPr>
            <a:r>
              <a:rPr lang="ja-JP" altLang="en-US" sz="1600" b="1" dirty="0">
                <a:solidFill>
                  <a:srgbClr val="FFFFFF"/>
                </a:solidFill>
                <a:latin typeface="Meiryo UI"/>
                <a:ea typeface="Meiryo UI"/>
              </a:rPr>
              <a:t>分析エンジン</a:t>
            </a:r>
          </a:p>
          <a:p>
            <a:pPr algn="ctr">
              <a:buNone/>
            </a:pPr>
            <a:r>
              <a:rPr lang="en-US" altLang="ja-JP" sz="1400" dirty="0">
                <a:solidFill>
                  <a:srgbClr val="FFFFFF"/>
                </a:solidFill>
                <a:latin typeface="Meiryo UI"/>
                <a:ea typeface="Meiryo UI"/>
              </a:rPr>
              <a:t>Claude AI</a:t>
            </a:r>
            <a:r>
              <a:rPr lang="ja-JP" altLang="en-US" sz="1400" dirty="0">
                <a:solidFill>
                  <a:srgbClr val="FFFFFF"/>
                </a:solidFill>
                <a:latin typeface="Meiryo UI"/>
                <a:ea typeface="Meiryo UI"/>
              </a:rPr>
              <a:t>（LLM による直接コード分析）</a:t>
            </a:r>
          </a:p>
        </p:txBody>
      </p:sp>
      <p:sp>
        <p:nvSpPr>
          <p:cNvPr id="7" name="四角形: 角を丸くする 6">
            <a:extLst>
              <a:ext uri="{FF2B5EF4-FFF2-40B4-BE49-F238E27FC236}">
                <a16:creationId xmlns:a16="http://schemas.microsoft.com/office/drawing/2014/main" id="{BDAC2537-5FCB-4A0A-A58B-276452B86F91}"/>
              </a:ext>
            </a:extLst>
          </p:cNvPr>
          <p:cNvSpPr/>
          <p:nvPr/>
        </p:nvSpPr>
        <p:spPr bwMode="auto">
          <a:xfrm>
            <a:off x="4254500" y="2349500"/>
            <a:ext cx="3429000" cy="1524000"/>
          </a:xfrm>
          <a:prstGeom prst="roundRect">
            <a:avLst/>
          </a:prstGeom>
          <a:solidFill>
            <a:srgbClr val="C00000"/>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algn="ctr">
              <a:buNone/>
            </a:pPr>
            <a:r>
              <a:rPr lang="ja-JP" altLang="en-US" sz="1600" b="1" dirty="0">
                <a:solidFill>
                  <a:srgbClr val="FFFFFF"/>
                </a:solidFill>
                <a:latin typeface="Meiryo UI"/>
                <a:ea typeface="Meiryo UI"/>
              </a:rPr>
              <a:t>コード探索</a:t>
            </a:r>
          </a:p>
          <a:p>
            <a:pPr algn="ctr">
              <a:buNone/>
            </a:pPr>
            <a:r>
              <a:rPr lang="en-US" altLang="ja-JP" sz="1400" dirty="0">
                <a:solidFill>
                  <a:srgbClr val="FFFFFF"/>
                </a:solidFill>
                <a:latin typeface="Meiryo UI"/>
                <a:ea typeface="Meiryo UI"/>
              </a:rPr>
              <a:t>MCP Serena</a:t>
            </a:r>
            <a:r>
              <a:rPr lang="ja-JP" altLang="en-US" sz="1400" dirty="0">
                <a:solidFill>
                  <a:srgbClr val="FFFFFF"/>
                </a:solidFill>
                <a:latin typeface="Meiryo UI"/>
                <a:ea typeface="Meiryo UI"/>
              </a:rPr>
              <a:t>（Symbol Overview）</a:t>
            </a:r>
          </a:p>
        </p:txBody>
      </p:sp>
      <p:sp>
        <p:nvSpPr>
          <p:cNvPr id="8" name="四角形: 角を丸くする 7">
            <a:extLst>
              <a:ext uri="{FF2B5EF4-FFF2-40B4-BE49-F238E27FC236}">
                <a16:creationId xmlns:a16="http://schemas.microsoft.com/office/drawing/2014/main" id="{DB814E4B-591F-428A-B1EE-B6F79ECCD744}"/>
              </a:ext>
            </a:extLst>
          </p:cNvPr>
          <p:cNvSpPr/>
          <p:nvPr/>
        </p:nvSpPr>
        <p:spPr bwMode="auto">
          <a:xfrm>
            <a:off x="7937500" y="2349500"/>
            <a:ext cx="3429000" cy="1524000"/>
          </a:xfrm>
          <a:prstGeom prst="roundRect">
            <a:avLst/>
          </a:prstGeom>
          <a:solidFill>
            <a:srgbClr val="548235"/>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algn="ctr">
              <a:buNone/>
            </a:pPr>
            <a:r>
              <a:rPr lang="ja-JP" altLang="en-US" sz="1600" b="1" dirty="0">
                <a:solidFill>
                  <a:srgbClr val="FFFFFF"/>
                </a:solidFill>
                <a:latin typeface="Meiryo UI"/>
                <a:ea typeface="Meiryo UI"/>
              </a:rPr>
              <a:t>判定方式</a:t>
            </a:r>
          </a:p>
          <a:p>
            <a:pPr algn="ctr">
              <a:buNone/>
            </a:pPr>
            <a:r>
              <a:rPr lang="en-US" altLang="ja-JP" sz="1400" dirty="0">
                <a:solidFill>
                  <a:srgbClr val="FFFFFF"/>
                </a:solidFill>
                <a:latin typeface="Meiryo UI"/>
                <a:ea typeface="Meiryo UI"/>
              </a:rPr>
              <a:t>AI </a:t>
            </a:r>
            <a:r>
              <a:rPr lang="ja-JP" altLang="en-US" sz="1400" dirty="0">
                <a:solidFill>
                  <a:srgbClr val="FFFFFF"/>
                </a:solidFill>
                <a:latin typeface="Meiryo UI"/>
                <a:ea typeface="Meiryo UI"/>
              </a:rPr>
              <a:t>コンテキスト理解</a:t>
            </a:r>
          </a:p>
          <a:p>
            <a:pPr algn="ctr">
              <a:buNone/>
            </a:pPr>
            <a:r>
              <a:rPr lang="ja-JP" altLang="en-US" sz="1400" dirty="0">
                <a:solidFill>
                  <a:srgbClr val="FFFFFF"/>
                </a:solidFill>
                <a:latin typeface="Meiryo UI"/>
                <a:ea typeface="Meiryo UI"/>
              </a:rPr>
              <a:t>（データフロー・意図・ロジック）</a:t>
            </a:r>
          </a:p>
        </p:txBody>
      </p:sp>
      <p:sp>
        <p:nvSpPr>
          <p:cNvPr id="9" name="テキスト ボックス 8">
            <a:extLst>
              <a:ext uri="{FF2B5EF4-FFF2-40B4-BE49-F238E27FC236}">
                <a16:creationId xmlns:a16="http://schemas.microsoft.com/office/drawing/2014/main" id="{2E1C83C4-23CD-49A0-8807-F51019C8C5E7}"/>
              </a:ext>
            </a:extLst>
          </p:cNvPr>
          <p:cNvSpPr txBox="1"/>
          <p:nvPr/>
        </p:nvSpPr>
        <p:spPr>
          <a:xfrm>
            <a:off x="508000" y="4127500"/>
            <a:ext cx="5334000" cy="355600"/>
          </a:xfrm>
          <a:prstGeom prst="rect">
            <a:avLst/>
          </a:prstGeom>
          <a:noFill/>
        </p:spPr>
        <p:txBody>
          <a:bodyPr vertOverflow="overflow" vert="horz" wrap="square" rtlCol="0" anchor="t">
            <a:spAutoFit/>
          </a:bodyPr>
          <a:lstStyle/>
          <a:p>
            <a:pPr algn="l"/>
            <a:r>
              <a:rPr lang="ja-JP" altLang="en-US" sz="1600">
                <a:solidFill>
                  <a:srgbClr val="2F5496"/>
                </a:solidFill>
                <a:latin typeface="Meiryo UI"/>
                <a:ea typeface="Meiryo UI"/>
              </a:rPr>
              <a:t>入力コマンド</a:t>
            </a:r>
          </a:p>
        </p:txBody>
      </p:sp>
      <p:sp>
        <p:nvSpPr>
          <p:cNvPr id="10" name="四角形: 角を丸くする 9">
            <a:extLst>
              <a:ext uri="{FF2B5EF4-FFF2-40B4-BE49-F238E27FC236}">
                <a16:creationId xmlns:a16="http://schemas.microsoft.com/office/drawing/2014/main" id="{5F593947-EDEA-4DC6-A905-39C6C0C7B347}"/>
              </a:ext>
            </a:extLst>
          </p:cNvPr>
          <p:cNvSpPr/>
          <p:nvPr/>
        </p:nvSpPr>
        <p:spPr bwMode="auto">
          <a:xfrm>
            <a:off x="508000" y="4546600"/>
            <a:ext cx="5334000" cy="635000"/>
          </a:xfrm>
          <a:prstGeom prst="roundRect">
            <a:avLst/>
          </a:prstGeom>
          <a:solidFill>
            <a:srgbClr val="F0F0F0"/>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1" lang="ja-JP" altLang="en-US" sz="1400" b="0" i="0" u="none" strike="noStrike" cap="none" normalizeH="0" baseline="0">
                <a:ln>
                  <a:noFill/>
                </a:ln>
                <a:solidFill>
                  <a:srgbClr val="333333"/>
                </a:solidFill>
                <a:effectLst/>
                <a:latin typeface="Meiryo UI"/>
                <a:ea typeface="Meiryo UI"/>
              </a:rPr>
              <a:t>セキュリティスキャンを実行して</a:t>
            </a:r>
          </a:p>
        </p:txBody>
      </p:sp>
      <p:sp>
        <p:nvSpPr>
          <p:cNvPr id="11" name="テキスト ボックス 10">
            <a:extLst>
              <a:ext uri="{FF2B5EF4-FFF2-40B4-BE49-F238E27FC236}">
                <a16:creationId xmlns:a16="http://schemas.microsoft.com/office/drawing/2014/main" id="{8F01E8AD-5A2A-4863-BC8C-F85A55A60F62}"/>
              </a:ext>
            </a:extLst>
          </p:cNvPr>
          <p:cNvSpPr txBox="1"/>
          <p:nvPr/>
        </p:nvSpPr>
        <p:spPr>
          <a:xfrm>
            <a:off x="6350000" y="4127500"/>
            <a:ext cx="5334000" cy="355600"/>
          </a:xfrm>
          <a:prstGeom prst="rect">
            <a:avLst/>
          </a:prstGeom>
          <a:noFill/>
        </p:spPr>
        <p:txBody>
          <a:bodyPr vertOverflow="overflow" vert="horz" wrap="square" rtlCol="0" anchor="t">
            <a:spAutoFit/>
          </a:bodyPr>
          <a:lstStyle/>
          <a:p>
            <a:pPr algn="l"/>
            <a:r>
              <a:rPr lang="ja-JP" altLang="en-US" sz="1600">
                <a:solidFill>
                  <a:srgbClr val="2F5496"/>
                </a:solidFill>
                <a:latin typeface="Meiryo UI"/>
                <a:ea typeface="Meiryo UI"/>
              </a:rPr>
              <a:t>前提条件</a:t>
            </a:r>
          </a:p>
        </p:txBody>
      </p:sp>
      <p:sp>
        <p:nvSpPr>
          <p:cNvPr id="12" name="四角形: 角を丸くする 11">
            <a:extLst>
              <a:ext uri="{FF2B5EF4-FFF2-40B4-BE49-F238E27FC236}">
                <a16:creationId xmlns:a16="http://schemas.microsoft.com/office/drawing/2014/main" id="{23AED8AE-ED92-4F2B-879C-3A5377C1D9CE}"/>
              </a:ext>
            </a:extLst>
          </p:cNvPr>
          <p:cNvSpPr/>
          <p:nvPr/>
        </p:nvSpPr>
        <p:spPr bwMode="auto">
          <a:xfrm>
            <a:off x="6350000" y="4546600"/>
            <a:ext cx="5334000" cy="635000"/>
          </a:xfrm>
          <a:prstGeom prst="roundRect">
            <a:avLst/>
          </a:prstGeom>
          <a:solidFill>
            <a:srgbClr val="F0F0F0"/>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1" lang="en-US" altLang="ja-JP" sz="1400" b="0" i="0" u="none" strike="noStrike" cap="none" normalizeH="0" baseline="0">
                <a:ln>
                  <a:noFill/>
                </a:ln>
                <a:solidFill>
                  <a:srgbClr val="333333"/>
                </a:solidFill>
                <a:effectLst/>
                <a:latin typeface="Meiryo UI"/>
                <a:ea typeface="Meiryo UI"/>
              </a:rPr>
              <a:t>Claude Code CLI + MCP Serena</a:t>
            </a:r>
            <a:r>
              <a:rPr kumimoji="1" lang="ja-JP" altLang="en-US" sz="1400" b="0" i="0" u="none" strike="noStrike" cap="none" normalizeH="0" baseline="0">
                <a:ln>
                  <a:noFill/>
                </a:ln>
                <a:solidFill>
                  <a:srgbClr val="333333"/>
                </a:solidFill>
                <a:effectLst/>
                <a:latin typeface="Meiryo UI"/>
                <a:ea typeface="Meiryo UI"/>
              </a:rPr>
              <a:t>（推奨）+ uv</a:t>
            </a:r>
          </a:p>
        </p:txBody>
      </p:sp>
      <p:sp>
        <p:nvSpPr>
          <p:cNvPr id="13" name="テキスト ボックス 12">
            <a:extLst>
              <a:ext uri="{FF2B5EF4-FFF2-40B4-BE49-F238E27FC236}">
                <a16:creationId xmlns:a16="http://schemas.microsoft.com/office/drawing/2014/main" id="{CBECFA1B-F1AB-4BF2-BBEE-7969606AC1DC}"/>
              </a:ext>
            </a:extLst>
          </p:cNvPr>
          <p:cNvSpPr txBox="1"/>
          <p:nvPr/>
        </p:nvSpPr>
        <p:spPr>
          <a:xfrm>
            <a:off x="508000" y="5334000"/>
            <a:ext cx="11176000" cy="355600"/>
          </a:xfrm>
          <a:prstGeom prst="rect">
            <a:avLst/>
          </a:prstGeom>
          <a:noFill/>
        </p:spPr>
        <p:txBody>
          <a:bodyPr vertOverflow="overflow" vert="horz" wrap="square" rtlCol="0" anchor="t">
            <a:spAutoFit/>
          </a:bodyPr>
          <a:lstStyle/>
          <a:p>
            <a:pPr algn="l"/>
            <a:r>
              <a:rPr lang="ja-JP" altLang="en-US" sz="1400">
                <a:solidFill>
                  <a:srgbClr val="888888"/>
                </a:solidFill>
                <a:latin typeface="Meiryo UI"/>
                <a:ea typeface="Meiryo UI"/>
              </a:rPr>
              <a:t>※ スキャン対象の npm プロジェクトディレクトリ（package.json を含む）で実行</a:t>
            </a:r>
          </a:p>
        </p:txBody>
      </p:sp>
    </p:spTree>
    <p:extLst>
      <p:ext uri="{BB962C8B-B14F-4D97-AF65-F5344CB8AC3E}">
        <p14:creationId xmlns:p14="http://schemas.microsoft.com/office/powerpoint/2010/main" val="78662522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E0C7-0EFD-BF7B-5529-331E29C1BB00}"/>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4EE7E622-3FF6-03E6-B591-241197BF9808}"/>
              </a:ext>
            </a:extLst>
          </p:cNvPr>
          <p:cNvSpPr/>
          <p:nvPr/>
        </p:nvSpPr>
        <p:spPr>
          <a:xfrm>
            <a:off x="411480" y="111978"/>
            <a:ext cx="4506362" cy="584775"/>
          </a:xfrm>
          <a:prstGeom prst="rect">
            <a:avLst/>
          </a:prstGeom>
        </p:spPr>
        <p:txBody>
          <a:bodyPr wrap="none" lIns="91440" tIns="45720" rIns="91440" bIns="45720" anchor="t">
            <a:spAutoFit/>
          </a:bodyPr>
          <a:lstStyle/>
          <a:p>
            <a:r>
              <a:rPr lang="ja-JP" altLang="en-US" sz="3200" b="1" dirty="0">
                <a:latin typeface="Meiryo UI" panose="020B0604030504040204" pitchFamily="50" charset="-128"/>
                <a:ea typeface="Meiryo UI" panose="020B0604030504040204" pitchFamily="50" charset="-128"/>
              </a:rPr>
              <a:t>対応言語・拡張子</a:t>
            </a:r>
          </a:p>
        </p:txBody>
      </p:sp>
      <p:sp>
        <p:nvSpPr>
          <p:cNvPr id="6" name="スライド番号プレースホルダー 5">
            <a:extLst>
              <a:ext uri="{FF2B5EF4-FFF2-40B4-BE49-F238E27FC236}">
                <a16:creationId xmlns:a16="http://schemas.microsoft.com/office/drawing/2014/main" id="{38236E57-C4B5-6A32-F451-126659E8A561}"/>
              </a:ext>
            </a:extLst>
          </p:cNvPr>
          <p:cNvSpPr>
            <a:spLocks noGrp="1"/>
          </p:cNvSpPr>
          <p:nvPr>
            <p:ph type="sldNum" sz="quarter" idx="4"/>
          </p:nvPr>
        </p:nvSpPr>
        <p:spPr/>
        <p:txBody>
          <a:bodyPr/>
          <a:lstStyle/>
          <a:p>
            <a:fld id="{06F33280-3E80-482D-8576-4ABC99412ED4}" type="slidenum">
              <a:rPr lang="ja-JP" altLang="en-US" smtClean="0"/>
              <a:pPr/>
              <a:t>4</a:t>
            </a:fld>
            <a:endParaRPr lang="ja-JP" altLang="en-US"/>
          </a:p>
        </p:txBody>
      </p:sp>
      <p:graphicFrame>
        <p:nvGraphicFramePr>
          <p:cNvPr id="4" name="表 3">
            <a:extLst>
              <a:ext uri="{FF2B5EF4-FFF2-40B4-BE49-F238E27FC236}">
                <a16:creationId xmlns:a16="http://schemas.microsoft.com/office/drawing/2014/main" id="{79B541F8-E8C1-413C-947A-ED96A50A4DF5}"/>
              </a:ext>
            </a:extLst>
          </p:cNvPr>
          <p:cNvGraphicFramePr>
            <a:graphicFrameLocks noGrp="1"/>
          </p:cNvGraphicFramePr>
          <p:nvPr/>
        </p:nvGraphicFramePr>
        <p:xfrm>
          <a:off x="508000" y="889000"/>
          <a:ext cx="11175999" cy="3428999"/>
        </p:xfrm>
        <a:graphic>
          <a:graphicData uri="http://schemas.openxmlformats.org/drawingml/2006/table">
            <a:tbl>
              <a:tblPr firstRow="1" bandRow="1">
                <a:tableStyleId>{8EC20E35-A176-4012-BC5E-935CFFF8708E}</a:tableStyleId>
              </a:tblPr>
              <a:tblGrid>
                <a:gridCol w="3725333">
                  <a:extLst>
                    <a:ext uri="{9D8B030D-6E8A-4147-A177-3AD203B41FA5}">
                      <a16:colId xmlns:a16="http://schemas.microsoft.com/office/drawing/2014/main" val="1472161505"/>
                    </a:ext>
                  </a:extLst>
                </a:gridCol>
                <a:gridCol w="3725333">
                  <a:extLst>
                    <a:ext uri="{9D8B030D-6E8A-4147-A177-3AD203B41FA5}">
                      <a16:colId xmlns:a16="http://schemas.microsoft.com/office/drawing/2014/main" val="2469548174"/>
                    </a:ext>
                  </a:extLst>
                </a:gridCol>
                <a:gridCol w="3725333">
                  <a:extLst>
                    <a:ext uri="{9D8B030D-6E8A-4147-A177-3AD203B41FA5}">
                      <a16:colId xmlns:a16="http://schemas.microsoft.com/office/drawing/2014/main" val="3951274339"/>
                    </a:ext>
                  </a:extLst>
                </a:gridCol>
              </a:tblGrid>
              <a:tr h="489857">
                <a:tc>
                  <a:txBody>
                    <a:bodyPr/>
                    <a:lstStyle/>
                    <a:p>
                      <a:pPr algn="ctr"/>
                      <a:r>
                        <a:rPr lang="ja-JP" altLang="en-US" sz="1600" b="1">
                          <a:solidFill>
                            <a:srgbClr val="FFFFFF"/>
                          </a:solidFill>
                          <a:latin typeface="Meiryo UI"/>
                          <a:ea typeface="Meiryo UI"/>
                        </a:rPr>
                        <a:t>拡張子</a:t>
                      </a:r>
                    </a:p>
                  </a:txBody>
                  <a:tcPr anchor="ctr">
                    <a:solidFill>
                      <a:srgbClr val="2F5496"/>
                    </a:solidFill>
                  </a:tcPr>
                </a:tc>
                <a:tc>
                  <a:txBody>
                    <a:bodyPr/>
                    <a:lstStyle/>
                    <a:p>
                      <a:pPr algn="ctr"/>
                      <a:r>
                        <a:rPr lang="ja-JP" altLang="en-US" sz="1600" b="1">
                          <a:solidFill>
                            <a:srgbClr val="FFFFFF"/>
                          </a:solidFill>
                          <a:latin typeface="Meiryo UI"/>
                          <a:ea typeface="Meiryo UI"/>
                        </a:rPr>
                        <a:t>言語</a:t>
                      </a:r>
                    </a:p>
                  </a:txBody>
                  <a:tcPr anchor="ctr">
                    <a:solidFill>
                      <a:srgbClr val="2F5496"/>
                    </a:solidFill>
                  </a:tcPr>
                </a:tc>
                <a:tc>
                  <a:txBody>
                    <a:bodyPr/>
                    <a:lstStyle/>
                    <a:p>
                      <a:pPr algn="ctr"/>
                      <a:r>
                        <a:rPr lang="ja-JP" altLang="en-US" sz="1600" b="1">
                          <a:solidFill>
                            <a:srgbClr val="FFFFFF"/>
                          </a:solidFill>
                          <a:latin typeface="Meiryo UI"/>
                          <a:ea typeface="Meiryo UI"/>
                        </a:rPr>
                        <a:t>対応状況</a:t>
                      </a:r>
                    </a:p>
                  </a:txBody>
                  <a:tcPr anchor="ctr">
                    <a:solidFill>
                      <a:srgbClr val="2F5496"/>
                    </a:solidFill>
                  </a:tcPr>
                </a:tc>
                <a:extLst>
                  <a:ext uri="{0D108BD9-81ED-4DB2-BD59-A6C34878D82A}">
                    <a16:rowId xmlns:a16="http://schemas.microsoft.com/office/drawing/2014/main" val="3751454862"/>
                  </a:ext>
                </a:extLst>
              </a:tr>
              <a:tr h="489857">
                <a:tc>
                  <a:txBody>
                    <a:bodyPr/>
                    <a:lstStyle/>
                    <a:p>
                      <a:pPr algn="ctr"/>
                      <a:r>
                        <a:rPr lang="ja-JP" altLang="en-US" sz="1400" b="1">
                          <a:solidFill>
                            <a:srgbClr val="333333"/>
                          </a:solidFill>
                          <a:latin typeface="Meiryo UI"/>
                          <a:ea typeface="Meiryo UI"/>
                        </a:rPr>
                        <a:t>.js</a:t>
                      </a:r>
                    </a:p>
                  </a:txBody>
                  <a:tcPr anchor="ctr"/>
                </a:tc>
                <a:tc>
                  <a:txBody>
                    <a:bodyPr/>
                    <a:lstStyle/>
                    <a:p>
                      <a:r>
                        <a:rPr lang="ja-JP" altLang="en-US" sz="1400">
                          <a:solidFill>
                            <a:srgbClr val="333333"/>
                          </a:solidFill>
                          <a:latin typeface="Meiryo UI"/>
                          <a:ea typeface="Meiryo UI"/>
                        </a:rPr>
                        <a:t>JavaScript</a:t>
                      </a:r>
                    </a:p>
                  </a:txBody>
                  <a:tcPr anchor="ctr"/>
                </a:tc>
                <a:tc>
                  <a:txBody>
                    <a:bodyPr/>
                    <a:lstStyle/>
                    <a:p>
                      <a:pPr algn="ctr"/>
                      <a:r>
                        <a:rPr lang="ja-JP" altLang="en-US" sz="1400">
                          <a:solidFill>
                            <a:srgbClr val="333333"/>
                          </a:solidFill>
                          <a:latin typeface="Meiryo UI"/>
                          <a:ea typeface="Meiryo UI"/>
                        </a:rPr>
                        <a:t>✅ 対応</a:t>
                      </a:r>
                    </a:p>
                  </a:txBody>
                  <a:tcPr anchor="ctr"/>
                </a:tc>
                <a:extLst>
                  <a:ext uri="{0D108BD9-81ED-4DB2-BD59-A6C34878D82A}">
                    <a16:rowId xmlns:a16="http://schemas.microsoft.com/office/drawing/2014/main" val="1379842413"/>
                  </a:ext>
                </a:extLst>
              </a:tr>
              <a:tr h="489857">
                <a:tc>
                  <a:txBody>
                    <a:bodyPr/>
                    <a:lstStyle/>
                    <a:p>
                      <a:pPr algn="ctr"/>
                      <a:r>
                        <a:rPr lang="ja-JP" altLang="en-US" sz="1400" b="1">
                          <a:solidFill>
                            <a:srgbClr val="333333"/>
                          </a:solidFill>
                          <a:latin typeface="Meiryo UI"/>
                          <a:ea typeface="Meiryo UI"/>
                        </a:rPr>
                        <a:t>.jsx</a:t>
                      </a:r>
                    </a:p>
                  </a:txBody>
                  <a:tcPr anchor="ctr">
                    <a:solidFill>
                      <a:srgbClr val="F2F2F2"/>
                    </a:solidFill>
                  </a:tcPr>
                </a:tc>
                <a:tc>
                  <a:txBody>
                    <a:bodyPr/>
                    <a:lstStyle/>
                    <a:p>
                      <a:r>
                        <a:rPr lang="ja-JP" altLang="en-US" sz="1400">
                          <a:solidFill>
                            <a:srgbClr val="333333"/>
                          </a:solidFill>
                          <a:latin typeface="Meiryo UI"/>
                          <a:ea typeface="Meiryo UI"/>
                        </a:rPr>
                        <a:t>JSX (React)</a:t>
                      </a:r>
                    </a:p>
                  </a:txBody>
                  <a:tcPr anchor="ctr">
                    <a:solidFill>
                      <a:srgbClr val="F2F2F2"/>
                    </a:solidFill>
                  </a:tcPr>
                </a:tc>
                <a:tc>
                  <a:txBody>
                    <a:bodyPr/>
                    <a:lstStyle/>
                    <a:p>
                      <a:pPr algn="ctr"/>
                      <a:r>
                        <a:rPr lang="ja-JP" altLang="en-US" sz="1400">
                          <a:solidFill>
                            <a:srgbClr val="333333"/>
                          </a:solidFill>
                          <a:latin typeface="Meiryo UI"/>
                          <a:ea typeface="Meiryo UI"/>
                        </a:rPr>
                        <a:t>✅ 対応</a:t>
                      </a:r>
                    </a:p>
                  </a:txBody>
                  <a:tcPr anchor="ctr">
                    <a:solidFill>
                      <a:srgbClr val="F2F2F2"/>
                    </a:solidFill>
                  </a:tcPr>
                </a:tc>
                <a:extLst>
                  <a:ext uri="{0D108BD9-81ED-4DB2-BD59-A6C34878D82A}">
                    <a16:rowId xmlns:a16="http://schemas.microsoft.com/office/drawing/2014/main" val="3196677869"/>
                  </a:ext>
                </a:extLst>
              </a:tr>
              <a:tr h="489857">
                <a:tc>
                  <a:txBody>
                    <a:bodyPr/>
                    <a:lstStyle/>
                    <a:p>
                      <a:pPr algn="ctr"/>
                      <a:r>
                        <a:rPr lang="ja-JP" altLang="en-US" sz="1400" b="1">
                          <a:solidFill>
                            <a:srgbClr val="333333"/>
                          </a:solidFill>
                          <a:latin typeface="Meiryo UI"/>
                          <a:ea typeface="Meiryo UI"/>
                        </a:rPr>
                        <a:t>.ts</a:t>
                      </a:r>
                    </a:p>
                  </a:txBody>
                  <a:tcPr anchor="ctr"/>
                </a:tc>
                <a:tc>
                  <a:txBody>
                    <a:bodyPr/>
                    <a:lstStyle/>
                    <a:p>
                      <a:r>
                        <a:rPr lang="ja-JP" altLang="en-US" sz="1400">
                          <a:solidFill>
                            <a:srgbClr val="333333"/>
                          </a:solidFill>
                          <a:latin typeface="Meiryo UI"/>
                          <a:ea typeface="Meiryo UI"/>
                        </a:rPr>
                        <a:t>TypeScript</a:t>
                      </a:r>
                    </a:p>
                  </a:txBody>
                  <a:tcPr anchor="ctr"/>
                </a:tc>
                <a:tc>
                  <a:txBody>
                    <a:bodyPr/>
                    <a:lstStyle/>
                    <a:p>
                      <a:pPr algn="ctr"/>
                      <a:r>
                        <a:rPr lang="ja-JP" altLang="en-US" sz="1400">
                          <a:solidFill>
                            <a:srgbClr val="333333"/>
                          </a:solidFill>
                          <a:latin typeface="Meiryo UI"/>
                          <a:ea typeface="Meiryo UI"/>
                        </a:rPr>
                        <a:t>✅ 対応</a:t>
                      </a:r>
                    </a:p>
                  </a:txBody>
                  <a:tcPr anchor="ctr"/>
                </a:tc>
                <a:extLst>
                  <a:ext uri="{0D108BD9-81ED-4DB2-BD59-A6C34878D82A}">
                    <a16:rowId xmlns:a16="http://schemas.microsoft.com/office/drawing/2014/main" val="390829877"/>
                  </a:ext>
                </a:extLst>
              </a:tr>
              <a:tr h="489857">
                <a:tc>
                  <a:txBody>
                    <a:bodyPr/>
                    <a:lstStyle/>
                    <a:p>
                      <a:pPr algn="ctr"/>
                      <a:r>
                        <a:rPr lang="ja-JP" altLang="en-US" sz="1400" b="1">
                          <a:solidFill>
                            <a:srgbClr val="333333"/>
                          </a:solidFill>
                          <a:latin typeface="Meiryo UI"/>
                          <a:ea typeface="Meiryo UI"/>
                        </a:rPr>
                        <a:t>.tsx</a:t>
                      </a:r>
                    </a:p>
                  </a:txBody>
                  <a:tcPr anchor="ctr">
                    <a:solidFill>
                      <a:srgbClr val="F2F2F2"/>
                    </a:solidFill>
                  </a:tcPr>
                </a:tc>
                <a:tc>
                  <a:txBody>
                    <a:bodyPr/>
                    <a:lstStyle/>
                    <a:p>
                      <a:r>
                        <a:rPr lang="ja-JP" altLang="en-US" sz="1400">
                          <a:solidFill>
                            <a:srgbClr val="333333"/>
                          </a:solidFill>
                          <a:latin typeface="Meiryo UI"/>
                          <a:ea typeface="Meiryo UI"/>
                        </a:rPr>
                        <a:t>TSX (React + TypeScript)</a:t>
                      </a:r>
                    </a:p>
                  </a:txBody>
                  <a:tcPr anchor="ctr">
                    <a:solidFill>
                      <a:srgbClr val="F2F2F2"/>
                    </a:solidFill>
                  </a:tcPr>
                </a:tc>
                <a:tc>
                  <a:txBody>
                    <a:bodyPr/>
                    <a:lstStyle/>
                    <a:p>
                      <a:pPr algn="ctr"/>
                      <a:r>
                        <a:rPr lang="ja-JP" altLang="en-US" sz="1400">
                          <a:solidFill>
                            <a:srgbClr val="333333"/>
                          </a:solidFill>
                          <a:latin typeface="Meiryo UI"/>
                          <a:ea typeface="Meiryo UI"/>
                        </a:rPr>
                        <a:t>✅ 対応</a:t>
                      </a:r>
                    </a:p>
                  </a:txBody>
                  <a:tcPr anchor="ctr">
                    <a:solidFill>
                      <a:srgbClr val="F2F2F2"/>
                    </a:solidFill>
                  </a:tcPr>
                </a:tc>
                <a:extLst>
                  <a:ext uri="{0D108BD9-81ED-4DB2-BD59-A6C34878D82A}">
                    <a16:rowId xmlns:a16="http://schemas.microsoft.com/office/drawing/2014/main" val="1606827852"/>
                  </a:ext>
                </a:extLst>
              </a:tr>
              <a:tr h="489857">
                <a:tc>
                  <a:txBody>
                    <a:bodyPr/>
                    <a:lstStyle/>
                    <a:p>
                      <a:pPr algn="ctr"/>
                      <a:r>
                        <a:rPr lang="ja-JP" altLang="en-US" sz="1400" b="1">
                          <a:solidFill>
                            <a:srgbClr val="333333"/>
                          </a:solidFill>
                          <a:latin typeface="Meiryo UI"/>
                          <a:ea typeface="Meiryo UI"/>
                        </a:rPr>
                        <a:t>.vue</a:t>
                      </a:r>
                    </a:p>
                  </a:txBody>
                  <a:tcPr anchor="ctr"/>
                </a:tc>
                <a:tc>
                  <a:txBody>
                    <a:bodyPr/>
                    <a:lstStyle/>
                    <a:p>
                      <a:r>
                        <a:rPr lang="ja-JP" altLang="en-US" sz="1400">
                          <a:solidFill>
                            <a:srgbClr val="333333"/>
                          </a:solidFill>
                          <a:latin typeface="Meiryo UI"/>
                          <a:ea typeface="Meiryo UI"/>
                        </a:rPr>
                        <a:t>Vue SFC</a:t>
                      </a:r>
                    </a:p>
                  </a:txBody>
                  <a:tcPr anchor="ctr"/>
                </a:tc>
                <a:tc>
                  <a:txBody>
                    <a:bodyPr/>
                    <a:lstStyle/>
                    <a:p>
                      <a:pPr algn="ctr"/>
                      <a:r>
                        <a:rPr lang="ja-JP" altLang="en-US" sz="1400">
                          <a:solidFill>
                            <a:srgbClr val="333333"/>
                          </a:solidFill>
                          <a:latin typeface="Meiryo UI"/>
                          <a:ea typeface="Meiryo UI"/>
                        </a:rPr>
                        <a:t>✅ 対応</a:t>
                      </a:r>
                    </a:p>
                  </a:txBody>
                  <a:tcPr anchor="ctr"/>
                </a:tc>
                <a:extLst>
                  <a:ext uri="{0D108BD9-81ED-4DB2-BD59-A6C34878D82A}">
                    <a16:rowId xmlns:a16="http://schemas.microsoft.com/office/drawing/2014/main" val="419735688"/>
                  </a:ext>
                </a:extLst>
              </a:tr>
              <a:tr h="489857">
                <a:tc>
                  <a:txBody>
                    <a:bodyPr/>
                    <a:lstStyle/>
                    <a:p>
                      <a:pPr algn="ctr"/>
                      <a:r>
                        <a:rPr lang="ja-JP" altLang="en-US" sz="1400" b="1">
                          <a:solidFill>
                            <a:srgbClr val="333333"/>
                          </a:solidFill>
                          <a:latin typeface="Meiryo UI"/>
                          <a:ea typeface="Meiryo UI"/>
                        </a:rPr>
                        <a:t>.mjs, .cjs</a:t>
                      </a:r>
                    </a:p>
                  </a:txBody>
                  <a:tcPr anchor="ctr">
                    <a:solidFill>
                      <a:srgbClr val="F2F2F2"/>
                    </a:solidFill>
                  </a:tcPr>
                </a:tc>
                <a:tc>
                  <a:txBody>
                    <a:bodyPr/>
                    <a:lstStyle/>
                    <a:p>
                      <a:r>
                        <a:rPr lang="ja-JP" altLang="en-US" sz="1400">
                          <a:solidFill>
                            <a:srgbClr val="333333"/>
                          </a:solidFill>
                          <a:latin typeface="Meiryo UI"/>
                          <a:ea typeface="Meiryo UI"/>
                        </a:rPr>
                        <a:t>ESM/CJS</a:t>
                      </a:r>
                    </a:p>
                  </a:txBody>
                  <a:tcPr anchor="ctr">
                    <a:solidFill>
                      <a:srgbClr val="F2F2F2"/>
                    </a:solidFill>
                  </a:tcPr>
                </a:tc>
                <a:tc>
                  <a:txBody>
                    <a:bodyPr/>
                    <a:lstStyle/>
                    <a:p>
                      <a:pPr algn="ctr"/>
                      <a:r>
                        <a:rPr lang="ja-JP" altLang="en-US" sz="1400">
                          <a:solidFill>
                            <a:srgbClr val="333333"/>
                          </a:solidFill>
                          <a:latin typeface="Meiryo UI"/>
                          <a:ea typeface="Meiryo UI"/>
                        </a:rPr>
                        <a:t>⚠️ 未検証</a:t>
                      </a:r>
                    </a:p>
                  </a:txBody>
                  <a:tcPr anchor="ctr">
                    <a:solidFill>
                      <a:srgbClr val="F2F2F2"/>
                    </a:solidFill>
                  </a:tcPr>
                </a:tc>
                <a:extLst>
                  <a:ext uri="{0D108BD9-81ED-4DB2-BD59-A6C34878D82A}">
                    <a16:rowId xmlns:a16="http://schemas.microsoft.com/office/drawing/2014/main" val="1815334762"/>
                  </a:ext>
                </a:extLst>
              </a:tr>
            </a:tbl>
          </a:graphicData>
        </a:graphic>
      </p:graphicFrame>
      <p:sp>
        <p:nvSpPr>
          <p:cNvPr id="5" name="テキスト ボックス 4">
            <a:extLst>
              <a:ext uri="{FF2B5EF4-FFF2-40B4-BE49-F238E27FC236}">
                <a16:creationId xmlns:a16="http://schemas.microsoft.com/office/drawing/2014/main" id="{EE3689A3-8F8E-464B-B274-65633E5B63CD}"/>
              </a:ext>
            </a:extLst>
          </p:cNvPr>
          <p:cNvSpPr txBox="1"/>
          <p:nvPr/>
        </p:nvSpPr>
        <p:spPr>
          <a:xfrm>
            <a:off x="508000" y="4508500"/>
            <a:ext cx="11176000" cy="762000"/>
          </a:xfrm>
          <a:prstGeom prst="rect">
            <a:avLst/>
          </a:prstGeom>
          <a:noFill/>
        </p:spPr>
        <p:txBody>
          <a:bodyPr vertOverflow="overflow" vert="horz" wrap="square" rtlCol="0" anchor="t">
            <a:spAutoFit/>
          </a:bodyPr>
          <a:lstStyle/>
          <a:p>
            <a:pPr algn="l"/>
            <a:r>
              <a:rPr lang="ja-JP" altLang="en-US" sz="1400">
                <a:solidFill>
                  <a:srgbClr val="666666"/>
                </a:solidFill>
                <a:latin typeface="Meiryo UI"/>
                <a:ea typeface="Meiryo UI"/>
              </a:rPr>
              <a:t>注: AI がソースコードを直接読み取って分析するため、パーサーやプラグインの制約を受けない。</a:t>
            </a:r>
          </a:p>
          <a:p>
            <a:pPr algn="l"/>
            <a:r>
              <a:rPr lang="ja-JP" altLang="en-US" sz="1400">
                <a:solidFill>
                  <a:srgbClr val="666666"/>
                </a:solidFill>
                <a:latin typeface="Meiryo UI"/>
                <a:ea typeface="Meiryo UI"/>
              </a:rPr>
              <a:t>原理上、任意の JavaScript/TypeScript 記法に対応可能。</a:t>
            </a:r>
          </a:p>
        </p:txBody>
      </p:sp>
    </p:spTree>
    <p:extLst>
      <p:ext uri="{BB962C8B-B14F-4D97-AF65-F5344CB8AC3E}">
        <p14:creationId xmlns:p14="http://schemas.microsoft.com/office/powerpoint/2010/main" val="36965655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E0C7-0EFD-BF7B-5529-331E29C1BB00}"/>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4EE7E622-3FF6-03E6-B591-241197BF9808}"/>
              </a:ext>
            </a:extLst>
          </p:cNvPr>
          <p:cNvSpPr/>
          <p:nvPr/>
        </p:nvSpPr>
        <p:spPr>
          <a:xfrm>
            <a:off x="411480" y="111978"/>
            <a:ext cx="4506362" cy="584775"/>
          </a:xfrm>
          <a:prstGeom prst="rect">
            <a:avLst/>
          </a:prstGeom>
        </p:spPr>
        <p:txBody>
          <a:bodyPr wrap="none" lIns="91440" tIns="45720" rIns="91440" bIns="45720" anchor="t">
            <a:spAutoFit/>
          </a:bodyPr>
          <a:lstStyle/>
          <a:p>
            <a:r>
              <a:rPr lang="ja-JP" altLang="en-US" sz="3200" b="1" dirty="0">
                <a:latin typeface="Meiryo UI" panose="020B0604030504040204" pitchFamily="50" charset="-128"/>
                <a:ea typeface="Meiryo UI" panose="020B0604030504040204" pitchFamily="50" charset="-128"/>
              </a:rPr>
              <a:t>対応フレームワーク</a:t>
            </a:r>
          </a:p>
        </p:txBody>
      </p:sp>
      <p:sp>
        <p:nvSpPr>
          <p:cNvPr id="6" name="スライド番号プレースホルダー 5">
            <a:extLst>
              <a:ext uri="{FF2B5EF4-FFF2-40B4-BE49-F238E27FC236}">
                <a16:creationId xmlns:a16="http://schemas.microsoft.com/office/drawing/2014/main" id="{38236E57-C4B5-6A32-F451-126659E8A561}"/>
              </a:ext>
            </a:extLst>
          </p:cNvPr>
          <p:cNvSpPr>
            <a:spLocks noGrp="1"/>
          </p:cNvSpPr>
          <p:nvPr>
            <p:ph type="sldNum" sz="quarter" idx="4"/>
          </p:nvPr>
        </p:nvSpPr>
        <p:spPr/>
        <p:txBody>
          <a:bodyPr/>
          <a:lstStyle/>
          <a:p>
            <a:fld id="{06F33280-3E80-482D-8576-4ABC99412ED4}" type="slidenum">
              <a:rPr lang="ja-JP" altLang="en-US" smtClean="0"/>
              <a:pPr/>
              <a:t>5</a:t>
            </a:fld>
            <a:endParaRPr lang="ja-JP" altLang="en-US"/>
          </a:p>
        </p:txBody>
      </p:sp>
      <p:graphicFrame>
        <p:nvGraphicFramePr>
          <p:cNvPr id="4" name="表 3">
            <a:extLst>
              <a:ext uri="{FF2B5EF4-FFF2-40B4-BE49-F238E27FC236}">
                <a16:creationId xmlns:a16="http://schemas.microsoft.com/office/drawing/2014/main" id="{1118DCD6-8EE4-48AA-B795-FF2785E1D756}"/>
              </a:ext>
            </a:extLst>
          </p:cNvPr>
          <p:cNvGraphicFramePr>
            <a:graphicFrameLocks noGrp="1"/>
          </p:cNvGraphicFramePr>
          <p:nvPr/>
        </p:nvGraphicFramePr>
        <p:xfrm>
          <a:off x="508000" y="889000"/>
          <a:ext cx="11175999" cy="2413000"/>
        </p:xfrm>
        <a:graphic>
          <a:graphicData uri="http://schemas.openxmlformats.org/drawingml/2006/table">
            <a:tbl>
              <a:tblPr firstRow="1" bandRow="1">
                <a:tableStyleId>{8EC20E35-A176-4012-BC5E-935CFFF8708E}</a:tableStyleId>
              </a:tblPr>
              <a:tblGrid>
                <a:gridCol w="3725333">
                  <a:extLst>
                    <a:ext uri="{9D8B030D-6E8A-4147-A177-3AD203B41FA5}">
                      <a16:colId xmlns:a16="http://schemas.microsoft.com/office/drawing/2014/main" val="87432664"/>
                    </a:ext>
                  </a:extLst>
                </a:gridCol>
                <a:gridCol w="3725333">
                  <a:extLst>
                    <a:ext uri="{9D8B030D-6E8A-4147-A177-3AD203B41FA5}">
                      <a16:colId xmlns:a16="http://schemas.microsoft.com/office/drawing/2014/main" val="2386969494"/>
                    </a:ext>
                  </a:extLst>
                </a:gridCol>
                <a:gridCol w="3725333">
                  <a:extLst>
                    <a:ext uri="{9D8B030D-6E8A-4147-A177-3AD203B41FA5}">
                      <a16:colId xmlns:a16="http://schemas.microsoft.com/office/drawing/2014/main" val="3797186077"/>
                    </a:ext>
                  </a:extLst>
                </a:gridCol>
              </a:tblGrid>
              <a:tr h="603250">
                <a:tc>
                  <a:txBody>
                    <a:bodyPr/>
                    <a:lstStyle/>
                    <a:p>
                      <a:pPr algn="ctr"/>
                      <a:r>
                        <a:rPr lang="ja-JP" altLang="en-US" sz="1600" b="1">
                          <a:solidFill>
                            <a:srgbClr val="FFFFFF"/>
                          </a:solidFill>
                          <a:latin typeface="Meiryo UI"/>
                          <a:ea typeface="Meiryo UI"/>
                        </a:rPr>
                        <a:t>種別</a:t>
                      </a:r>
                    </a:p>
                  </a:txBody>
                  <a:tcPr anchor="ctr">
                    <a:solidFill>
                      <a:srgbClr val="2F5496"/>
                    </a:solidFill>
                  </a:tcPr>
                </a:tc>
                <a:tc>
                  <a:txBody>
                    <a:bodyPr/>
                    <a:lstStyle/>
                    <a:p>
                      <a:pPr algn="ctr"/>
                      <a:r>
                        <a:rPr lang="ja-JP" altLang="en-US" sz="1600" b="1">
                          <a:solidFill>
                            <a:srgbClr val="FFFFFF"/>
                          </a:solidFill>
                          <a:latin typeface="Meiryo UI"/>
                          <a:ea typeface="Meiryo UI"/>
                        </a:rPr>
                        <a:t>フレームワーク</a:t>
                      </a:r>
                    </a:p>
                  </a:txBody>
                  <a:tcPr anchor="ctr">
                    <a:solidFill>
                      <a:srgbClr val="2F5496"/>
                    </a:solidFill>
                  </a:tcPr>
                </a:tc>
                <a:tc>
                  <a:txBody>
                    <a:bodyPr/>
                    <a:lstStyle/>
                    <a:p>
                      <a:pPr algn="ctr"/>
                      <a:r>
                        <a:rPr lang="ja-JP" altLang="en-US" sz="1600" b="1">
                          <a:solidFill>
                            <a:srgbClr val="FFFFFF"/>
                          </a:solidFill>
                          <a:latin typeface="Meiryo UI"/>
                          <a:ea typeface="Meiryo UI"/>
                        </a:rPr>
                        <a:t>自動検出</a:t>
                      </a:r>
                    </a:p>
                  </a:txBody>
                  <a:tcPr anchor="ctr">
                    <a:solidFill>
                      <a:srgbClr val="2F5496"/>
                    </a:solidFill>
                  </a:tcPr>
                </a:tc>
                <a:extLst>
                  <a:ext uri="{0D108BD9-81ED-4DB2-BD59-A6C34878D82A}">
                    <a16:rowId xmlns:a16="http://schemas.microsoft.com/office/drawing/2014/main" val="1880549050"/>
                  </a:ext>
                </a:extLst>
              </a:tr>
              <a:tr h="603250">
                <a:tc>
                  <a:txBody>
                    <a:bodyPr/>
                    <a:lstStyle/>
                    <a:p>
                      <a:pPr algn="ctr"/>
                      <a:r>
                        <a:rPr lang="en-US" altLang="ja-JP" sz="1600" b="1">
                          <a:solidFill>
                            <a:srgbClr val="333333"/>
                          </a:solidFill>
                          <a:latin typeface="Meiryo UI"/>
                          <a:ea typeface="Meiryo UI"/>
                        </a:rPr>
                        <a:t>Client-side</a:t>
                      </a:r>
                      <a:endParaRPr lang="ja-JP" altLang="en-US" sz="1600" b="1">
                        <a:solidFill>
                          <a:srgbClr val="333333"/>
                        </a:solidFill>
                        <a:latin typeface="Meiryo UI"/>
                        <a:ea typeface="Meiryo UI"/>
                      </a:endParaRPr>
                    </a:p>
                  </a:txBody>
                  <a:tcPr anchor="ctr"/>
                </a:tc>
                <a:tc>
                  <a:txBody>
                    <a:bodyPr/>
                    <a:lstStyle/>
                    <a:p>
                      <a:r>
                        <a:rPr lang="en-US" altLang="ja-JP" sz="1600">
                          <a:solidFill>
                            <a:srgbClr val="333333"/>
                          </a:solidFill>
                          <a:latin typeface="Meiryo UI"/>
                          <a:ea typeface="Meiryo UI"/>
                        </a:rPr>
                        <a:t>Vue.js, React, Angular</a:t>
                      </a:r>
                      <a:endParaRPr lang="ja-JP" altLang="en-US" sz="1600">
                        <a:solidFill>
                          <a:srgbClr val="333333"/>
                        </a:solidFill>
                        <a:latin typeface="Meiryo UI"/>
                        <a:ea typeface="Meiryo UI"/>
                      </a:endParaRPr>
                    </a:p>
                  </a:txBody>
                  <a:tcPr anchor="ctr"/>
                </a:tc>
                <a:tc>
                  <a:txBody>
                    <a:bodyPr/>
                    <a:lstStyle/>
                    <a:p>
                      <a:pPr algn="ctr"/>
                      <a:r>
                        <a:rPr lang="ja-JP" altLang="en-US" sz="1600">
                          <a:solidFill>
                            <a:srgbClr val="333333"/>
                          </a:solidFill>
                          <a:latin typeface="Meiryo UI"/>
                          <a:ea typeface="Meiryo UI"/>
                        </a:rPr>
                        <a:t>✅</a:t>
                      </a:r>
                    </a:p>
                  </a:txBody>
                  <a:tcPr anchor="ctr"/>
                </a:tc>
                <a:extLst>
                  <a:ext uri="{0D108BD9-81ED-4DB2-BD59-A6C34878D82A}">
                    <a16:rowId xmlns:a16="http://schemas.microsoft.com/office/drawing/2014/main" val="3372131376"/>
                  </a:ext>
                </a:extLst>
              </a:tr>
              <a:tr h="603250">
                <a:tc>
                  <a:txBody>
                    <a:bodyPr/>
                    <a:lstStyle/>
                    <a:p>
                      <a:pPr algn="ctr"/>
                      <a:r>
                        <a:rPr lang="en-US" altLang="ja-JP" sz="1600" b="1">
                          <a:solidFill>
                            <a:srgbClr val="333333"/>
                          </a:solidFill>
                          <a:latin typeface="Meiryo UI"/>
                          <a:ea typeface="Meiryo UI"/>
                        </a:rPr>
                        <a:t>Server-side</a:t>
                      </a:r>
                      <a:endParaRPr lang="ja-JP" altLang="en-US" sz="1600" b="1">
                        <a:solidFill>
                          <a:srgbClr val="333333"/>
                        </a:solidFill>
                        <a:latin typeface="Meiryo UI"/>
                        <a:ea typeface="Meiryo UI"/>
                      </a:endParaRPr>
                    </a:p>
                  </a:txBody>
                  <a:tcPr anchor="ctr">
                    <a:solidFill>
                      <a:srgbClr val="F2F2F2"/>
                    </a:solidFill>
                  </a:tcPr>
                </a:tc>
                <a:tc>
                  <a:txBody>
                    <a:bodyPr/>
                    <a:lstStyle/>
                    <a:p>
                      <a:r>
                        <a:rPr lang="en-US" altLang="ja-JP" sz="1600">
                          <a:solidFill>
                            <a:srgbClr val="333333"/>
                          </a:solidFill>
                          <a:latin typeface="Meiryo UI"/>
                          <a:ea typeface="Meiryo UI"/>
                        </a:rPr>
                        <a:t>Express.js, NestJS, Koa, Fastify</a:t>
                      </a:r>
                      <a:endParaRPr lang="ja-JP" altLang="en-US" sz="1600">
                        <a:solidFill>
                          <a:srgbClr val="333333"/>
                        </a:solidFill>
                        <a:latin typeface="Meiryo UI"/>
                        <a:ea typeface="Meiryo UI"/>
                      </a:endParaRPr>
                    </a:p>
                  </a:txBody>
                  <a:tcPr anchor="ctr">
                    <a:solidFill>
                      <a:srgbClr val="F2F2F2"/>
                    </a:solidFill>
                  </a:tcPr>
                </a:tc>
                <a:tc>
                  <a:txBody>
                    <a:bodyPr/>
                    <a:lstStyle/>
                    <a:p>
                      <a:pPr algn="ctr"/>
                      <a:r>
                        <a:rPr lang="ja-JP" altLang="en-US" sz="1600">
                          <a:solidFill>
                            <a:srgbClr val="333333"/>
                          </a:solidFill>
                          <a:latin typeface="Meiryo UI"/>
                          <a:ea typeface="Meiryo UI"/>
                        </a:rPr>
                        <a:t>✅</a:t>
                      </a:r>
                    </a:p>
                  </a:txBody>
                  <a:tcPr anchor="ctr">
                    <a:solidFill>
                      <a:srgbClr val="F2F2F2"/>
                    </a:solidFill>
                  </a:tcPr>
                </a:tc>
                <a:extLst>
                  <a:ext uri="{0D108BD9-81ED-4DB2-BD59-A6C34878D82A}">
                    <a16:rowId xmlns:a16="http://schemas.microsoft.com/office/drawing/2014/main" val="3351003292"/>
                  </a:ext>
                </a:extLst>
              </a:tr>
              <a:tr h="603250">
                <a:tc>
                  <a:txBody>
                    <a:bodyPr/>
                    <a:lstStyle/>
                    <a:p>
                      <a:pPr algn="ctr"/>
                      <a:r>
                        <a:rPr lang="ja-JP" altLang="en-US" sz="1600" b="1">
                          <a:solidFill>
                            <a:srgbClr val="333333"/>
                          </a:solidFill>
                          <a:latin typeface="Meiryo UI"/>
                          <a:ea typeface="Meiryo UI"/>
                        </a:rPr>
                        <a:t>Hybrid</a:t>
                      </a:r>
                    </a:p>
                  </a:txBody>
                  <a:tcPr anchor="ctr"/>
                </a:tc>
                <a:tc>
                  <a:txBody>
                    <a:bodyPr/>
                    <a:lstStyle/>
                    <a:p>
                      <a:r>
                        <a:rPr lang="en-US" altLang="ja-JP" sz="1600">
                          <a:solidFill>
                            <a:srgbClr val="333333"/>
                          </a:solidFill>
                          <a:latin typeface="Meiryo UI"/>
                          <a:ea typeface="Meiryo UI"/>
                        </a:rPr>
                        <a:t>Next.js, Nuxt.js, Remix</a:t>
                      </a:r>
                      <a:endParaRPr lang="ja-JP" altLang="en-US" sz="1600">
                        <a:solidFill>
                          <a:srgbClr val="333333"/>
                        </a:solidFill>
                        <a:latin typeface="Meiryo UI"/>
                        <a:ea typeface="Meiryo UI"/>
                      </a:endParaRPr>
                    </a:p>
                  </a:txBody>
                  <a:tcPr anchor="ctr"/>
                </a:tc>
                <a:tc>
                  <a:txBody>
                    <a:bodyPr/>
                    <a:lstStyle/>
                    <a:p>
                      <a:pPr algn="ctr"/>
                      <a:r>
                        <a:rPr lang="ja-JP" altLang="en-US" sz="1600">
                          <a:solidFill>
                            <a:srgbClr val="333333"/>
                          </a:solidFill>
                          <a:latin typeface="Meiryo UI"/>
                          <a:ea typeface="Meiryo UI"/>
                        </a:rPr>
                        <a:t>✅</a:t>
                      </a:r>
                    </a:p>
                  </a:txBody>
                  <a:tcPr anchor="ctr"/>
                </a:tc>
                <a:extLst>
                  <a:ext uri="{0D108BD9-81ED-4DB2-BD59-A6C34878D82A}">
                    <a16:rowId xmlns:a16="http://schemas.microsoft.com/office/drawing/2014/main" val="3941127465"/>
                  </a:ext>
                </a:extLst>
              </a:tr>
            </a:tbl>
          </a:graphicData>
        </a:graphic>
      </p:graphicFrame>
      <p:sp>
        <p:nvSpPr>
          <p:cNvPr id="5" name="テキスト ボックス 4">
            <a:extLst>
              <a:ext uri="{FF2B5EF4-FFF2-40B4-BE49-F238E27FC236}">
                <a16:creationId xmlns:a16="http://schemas.microsoft.com/office/drawing/2014/main" id="{BB9F0AF5-02C0-4AC9-8C2A-EFA03166040D}"/>
              </a:ext>
            </a:extLst>
          </p:cNvPr>
          <p:cNvSpPr txBox="1"/>
          <p:nvPr/>
        </p:nvSpPr>
        <p:spPr>
          <a:xfrm>
            <a:off x="508000" y="3556000"/>
            <a:ext cx="11176000" cy="444500"/>
          </a:xfrm>
          <a:prstGeom prst="rect">
            <a:avLst/>
          </a:prstGeom>
          <a:noFill/>
        </p:spPr>
        <p:txBody>
          <a:bodyPr vertOverflow="overflow" vert="horz" wrap="square" rtlCol="0" anchor="t">
            <a:spAutoFit/>
          </a:bodyPr>
          <a:lstStyle/>
          <a:p>
            <a:pPr algn="l"/>
            <a:r>
              <a:rPr lang="ja-JP" altLang="en-US" sz="1600">
                <a:solidFill>
                  <a:srgbClr val="333333"/>
                </a:solidFill>
                <a:latin typeface="Meiryo UI"/>
                <a:ea typeface="Meiryo UI"/>
              </a:rPr>
              <a:t>フレームワークは </a:t>
            </a:r>
            <a:r>
              <a:rPr lang="en-US" altLang="ja-JP" sz="1600">
                <a:solidFill>
                  <a:srgbClr val="333333"/>
                </a:solidFill>
                <a:latin typeface="Meiryo UI"/>
                <a:ea typeface="Meiryo UI"/>
              </a:rPr>
              <a:t>package.json </a:t>
            </a:r>
            <a:r>
              <a:rPr lang="ja-JP" altLang="en-US" sz="1600">
                <a:solidFill>
                  <a:srgbClr val="333333"/>
                </a:solidFill>
                <a:latin typeface="Meiryo UI"/>
                <a:ea typeface="Meiryo UI"/>
              </a:rPr>
              <a:t>の </a:t>
            </a:r>
            <a:r>
              <a:rPr lang="en-US" altLang="ja-JP" sz="1600">
                <a:solidFill>
                  <a:srgbClr val="333333"/>
                </a:solidFill>
                <a:latin typeface="Meiryo UI"/>
                <a:ea typeface="Meiryo UI"/>
              </a:rPr>
              <a:t>dependencies </a:t>
            </a:r>
            <a:r>
              <a:rPr lang="ja-JP" altLang="en-US" sz="1600">
                <a:solidFill>
                  <a:srgbClr val="333333"/>
                </a:solidFill>
                <a:latin typeface="Meiryo UI"/>
                <a:ea typeface="Meiryo UI"/>
              </a:rPr>
              <a:t>とディレクトリ構造から自動推定される。</a:t>
            </a:r>
          </a:p>
        </p:txBody>
      </p:sp>
    </p:spTree>
    <p:extLst>
      <p:ext uri="{BB962C8B-B14F-4D97-AF65-F5344CB8AC3E}">
        <p14:creationId xmlns:p14="http://schemas.microsoft.com/office/powerpoint/2010/main" val="383428838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E0C7-0EFD-BF7B-5529-331E29C1BB00}"/>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4EE7E622-3FF6-03E6-B591-241197BF9808}"/>
              </a:ext>
            </a:extLst>
          </p:cNvPr>
          <p:cNvSpPr/>
          <p:nvPr/>
        </p:nvSpPr>
        <p:spPr>
          <a:xfrm>
            <a:off x="411480" y="111978"/>
            <a:ext cx="4506362" cy="584775"/>
          </a:xfrm>
          <a:prstGeom prst="rect">
            <a:avLst/>
          </a:prstGeom>
        </p:spPr>
        <p:txBody>
          <a:bodyPr wrap="none" lIns="91440" tIns="45720" rIns="91440" bIns="45720" anchor="t">
            <a:spAutoFit/>
          </a:bodyPr>
          <a:lstStyle/>
          <a:p>
            <a:r>
              <a:rPr lang="ja-JP" altLang="en-US" sz="3200" b="1" dirty="0">
                <a:latin typeface="Meiryo UI" panose="020B0604030504040204" pitchFamily="50" charset="-128"/>
                <a:ea typeface="Meiryo UI" panose="020B0604030504040204" pitchFamily="50" charset="-128"/>
              </a:rPr>
              <a:t>検出対象</a:t>
            </a:r>
          </a:p>
        </p:txBody>
      </p:sp>
      <p:sp>
        <p:nvSpPr>
          <p:cNvPr id="6" name="スライド番号プレースホルダー 5">
            <a:extLst>
              <a:ext uri="{FF2B5EF4-FFF2-40B4-BE49-F238E27FC236}">
                <a16:creationId xmlns:a16="http://schemas.microsoft.com/office/drawing/2014/main" id="{38236E57-C4B5-6A32-F451-126659E8A561}"/>
              </a:ext>
            </a:extLst>
          </p:cNvPr>
          <p:cNvSpPr>
            <a:spLocks noGrp="1"/>
          </p:cNvSpPr>
          <p:nvPr>
            <p:ph type="sldNum" sz="quarter" idx="4"/>
          </p:nvPr>
        </p:nvSpPr>
        <p:spPr/>
        <p:txBody>
          <a:bodyPr/>
          <a:lstStyle/>
          <a:p>
            <a:fld id="{06F33280-3E80-482D-8576-4ABC99412ED4}" type="slidenum">
              <a:rPr lang="ja-JP" altLang="en-US" smtClean="0"/>
              <a:pPr/>
              <a:t>6</a:t>
            </a:fld>
            <a:endParaRPr lang="ja-JP" altLang="en-US"/>
          </a:p>
        </p:txBody>
      </p:sp>
      <p:sp>
        <p:nvSpPr>
          <p:cNvPr id="3" name="テキスト ボックス 2">
            <a:extLst>
              <a:ext uri="{FF2B5EF4-FFF2-40B4-BE49-F238E27FC236}">
                <a16:creationId xmlns:a16="http://schemas.microsoft.com/office/drawing/2014/main" id="{422D8E46-5842-458D-918E-0491BB2777E7}"/>
              </a:ext>
            </a:extLst>
          </p:cNvPr>
          <p:cNvSpPr txBox="1"/>
          <p:nvPr/>
        </p:nvSpPr>
        <p:spPr>
          <a:xfrm>
            <a:off x="508000" y="787400"/>
            <a:ext cx="11176000" cy="317500"/>
          </a:xfrm>
          <a:prstGeom prst="rect">
            <a:avLst/>
          </a:prstGeom>
          <a:noFill/>
        </p:spPr>
        <p:txBody>
          <a:bodyPr vertOverflow="overflow" vert="horz" wrap="square" rtlCol="0" anchor="t">
            <a:spAutoFit/>
          </a:bodyPr>
          <a:lstStyle/>
          <a:p>
            <a:pPr algn="l"/>
            <a:r>
              <a:rPr lang="ja-JP" altLang="en-US" sz="1600">
                <a:solidFill>
                  <a:srgbClr val="2F5496"/>
                </a:solidFill>
                <a:latin typeface="Meiryo UI"/>
                <a:ea typeface="Meiryo UI"/>
              </a:rPr>
              <a:t>クライアントサイド（Vue.js, React 等）</a:t>
            </a:r>
          </a:p>
        </p:txBody>
      </p:sp>
      <p:graphicFrame>
        <p:nvGraphicFramePr>
          <p:cNvPr id="5" name="表 4">
            <a:extLst>
              <a:ext uri="{FF2B5EF4-FFF2-40B4-BE49-F238E27FC236}">
                <a16:creationId xmlns:a16="http://schemas.microsoft.com/office/drawing/2014/main" id="{96E6B913-AB8F-4970-B069-5EBB094A0968}"/>
              </a:ext>
            </a:extLst>
          </p:cNvPr>
          <p:cNvGraphicFramePr>
            <a:graphicFrameLocks noGrp="1"/>
          </p:cNvGraphicFramePr>
          <p:nvPr>
            <p:extLst>
              <p:ext uri="{D42A27DB-BD31-4B8C-83A1-F6EECF244321}">
                <p14:modId xmlns:p14="http://schemas.microsoft.com/office/powerpoint/2010/main" val="2590168819"/>
              </p:ext>
            </p:extLst>
          </p:nvPr>
        </p:nvGraphicFramePr>
        <p:xfrm>
          <a:off x="508000" y="1117600"/>
          <a:ext cx="11176000" cy="1422400"/>
        </p:xfrm>
        <a:graphic>
          <a:graphicData uri="http://schemas.openxmlformats.org/drawingml/2006/table">
            <a:tbl>
              <a:tblPr firstRow="1" bandRow="1">
                <a:tableStyleId>{8EC20E35-A176-4012-BC5E-935CFFF8708E}</a:tableStyleId>
              </a:tblPr>
              <a:tblGrid>
                <a:gridCol w="2540000">
                  <a:extLst>
                    <a:ext uri="{9D8B030D-6E8A-4147-A177-3AD203B41FA5}">
                      <a16:colId xmlns:a16="http://schemas.microsoft.com/office/drawing/2014/main" val="387821029"/>
                    </a:ext>
                  </a:extLst>
                </a:gridCol>
                <a:gridCol w="8636000">
                  <a:extLst>
                    <a:ext uri="{9D8B030D-6E8A-4147-A177-3AD203B41FA5}">
                      <a16:colId xmlns:a16="http://schemas.microsoft.com/office/drawing/2014/main" val="2098815690"/>
                    </a:ext>
                  </a:extLst>
                </a:gridCol>
              </a:tblGrid>
              <a:tr h="355600">
                <a:tc>
                  <a:txBody>
                    <a:bodyPr/>
                    <a:lstStyle/>
                    <a:p>
                      <a:pPr algn="ctr"/>
                      <a:r>
                        <a:rPr lang="ja-JP" altLang="en-US" sz="1400" b="1">
                          <a:solidFill>
                            <a:srgbClr val="FFFFFF"/>
                          </a:solidFill>
                          <a:latin typeface="Meiryo UI"/>
                          <a:ea typeface="Meiryo UI"/>
                        </a:rPr>
                        <a:t>カテゴリ</a:t>
                      </a:r>
                    </a:p>
                  </a:txBody>
                  <a:tcPr anchor="ctr">
                    <a:solidFill>
                      <a:srgbClr val="2F5496"/>
                    </a:solidFill>
                  </a:tcPr>
                </a:tc>
                <a:tc>
                  <a:txBody>
                    <a:bodyPr/>
                    <a:lstStyle/>
                    <a:p>
                      <a:pPr algn="ctr"/>
                      <a:r>
                        <a:rPr lang="ja-JP" altLang="en-US" sz="1400" b="1">
                          <a:solidFill>
                            <a:srgbClr val="FFFFFF"/>
                          </a:solidFill>
                          <a:latin typeface="Meiryo UI"/>
                          <a:ea typeface="Meiryo UI"/>
                        </a:rPr>
                        <a:t>検出項目</a:t>
                      </a:r>
                    </a:p>
                  </a:txBody>
                  <a:tcPr anchor="ctr">
                    <a:solidFill>
                      <a:srgbClr val="2F5496"/>
                    </a:solidFill>
                  </a:tcPr>
                </a:tc>
                <a:extLst>
                  <a:ext uri="{0D108BD9-81ED-4DB2-BD59-A6C34878D82A}">
                    <a16:rowId xmlns:a16="http://schemas.microsoft.com/office/drawing/2014/main" val="2383217088"/>
                  </a:ext>
                </a:extLst>
              </a:tr>
              <a:tr h="355600">
                <a:tc>
                  <a:txBody>
                    <a:bodyPr/>
                    <a:lstStyle/>
                    <a:p>
                      <a:r>
                        <a:rPr lang="ja-JP" altLang="en-US" sz="1400" b="1">
                          <a:solidFill>
                            <a:srgbClr val="333333"/>
                          </a:solidFill>
                          <a:latin typeface="Meiryo UI"/>
                          <a:ea typeface="Meiryo UI"/>
                        </a:rPr>
                        <a:t>認証・認可</a:t>
                      </a:r>
                    </a:p>
                  </a:txBody>
                  <a:tcPr anchor="ctr"/>
                </a:tc>
                <a:tc>
                  <a:txBody>
                    <a:bodyPr/>
                    <a:lstStyle/>
                    <a:p>
                      <a:r>
                        <a:rPr lang="ja-JP" altLang="en-US" sz="1400">
                          <a:solidFill>
                            <a:srgbClr val="333333"/>
                          </a:solidFill>
                          <a:latin typeface="Meiryo UI"/>
                          <a:ea typeface="Meiryo UI"/>
                        </a:rPr>
                        <a:t>トークン管理（</a:t>
                      </a:r>
                      <a:r>
                        <a:rPr lang="en-US" altLang="ja-JP" sz="1400">
                          <a:solidFill>
                            <a:srgbClr val="333333"/>
                          </a:solidFill>
                          <a:latin typeface="Meiryo UI"/>
                          <a:ea typeface="Meiryo UI"/>
                        </a:rPr>
                        <a:t>JWT</a:t>
                      </a:r>
                      <a:r>
                        <a:rPr lang="ja-JP" altLang="en-US" sz="1400">
                          <a:solidFill>
                            <a:srgbClr val="333333"/>
                          </a:solidFill>
                          <a:latin typeface="Meiryo UI"/>
                          <a:ea typeface="Meiryo UI"/>
                        </a:rPr>
                        <a:t>）、ストレージセキュリティ、自動ログアウト</a:t>
                      </a:r>
                    </a:p>
                  </a:txBody>
                  <a:tcPr anchor="ctr"/>
                </a:tc>
                <a:extLst>
                  <a:ext uri="{0D108BD9-81ED-4DB2-BD59-A6C34878D82A}">
                    <a16:rowId xmlns:a16="http://schemas.microsoft.com/office/drawing/2014/main" val="1909884402"/>
                  </a:ext>
                </a:extLst>
              </a:tr>
              <a:tr h="355600">
                <a:tc>
                  <a:txBody>
                    <a:bodyPr/>
                    <a:lstStyle/>
                    <a:p>
                      <a:r>
                        <a:rPr lang="en-US" altLang="ja-JP" sz="1400" b="1">
                          <a:solidFill>
                            <a:srgbClr val="333333"/>
                          </a:solidFill>
                          <a:latin typeface="Meiryo UI"/>
                          <a:ea typeface="Meiryo UI"/>
                        </a:rPr>
                        <a:t>XSS </a:t>
                      </a:r>
                      <a:r>
                        <a:rPr lang="ja-JP" altLang="en-US" sz="1400" b="1">
                          <a:solidFill>
                            <a:srgbClr val="333333"/>
                          </a:solidFill>
                          <a:latin typeface="Meiryo UI"/>
                          <a:ea typeface="Meiryo UI"/>
                        </a:rPr>
                        <a:t>対策</a:t>
                      </a:r>
                    </a:p>
                  </a:txBody>
                  <a:tcPr anchor="ctr">
                    <a:solidFill>
                      <a:srgbClr val="F2F2F2"/>
                    </a:solidFill>
                  </a:tcPr>
                </a:tc>
                <a:tc>
                  <a:txBody>
                    <a:bodyPr/>
                    <a:lstStyle/>
                    <a:p>
                      <a:r>
                        <a:rPr lang="en-US" altLang="ja-JP" sz="1400">
                          <a:solidFill>
                            <a:srgbClr val="333333"/>
                          </a:solidFill>
                          <a:latin typeface="Meiryo UI"/>
                          <a:ea typeface="Meiryo UI"/>
                        </a:rPr>
                        <a:t>v-html / dangerouslySetInnerHTML</a:t>
                      </a:r>
                      <a:r>
                        <a:rPr lang="ja-JP" altLang="en-US" sz="1400">
                          <a:solidFill>
                            <a:srgbClr val="333333"/>
                          </a:solidFill>
                          <a:latin typeface="Meiryo UI"/>
                          <a:ea typeface="Meiryo UI"/>
                        </a:rPr>
                        <a:t>、</a:t>
                      </a:r>
                      <a:r>
                        <a:rPr lang="en-US" altLang="ja-JP" sz="1400">
                          <a:solidFill>
                            <a:srgbClr val="333333"/>
                          </a:solidFill>
                          <a:latin typeface="Meiryo UI"/>
                          <a:ea typeface="Meiryo UI"/>
                        </a:rPr>
                        <a:t>DOM </a:t>
                      </a:r>
                      <a:r>
                        <a:rPr lang="ja-JP" altLang="en-US" sz="1400">
                          <a:solidFill>
                            <a:srgbClr val="333333"/>
                          </a:solidFill>
                          <a:latin typeface="Meiryo UI"/>
                          <a:ea typeface="Meiryo UI"/>
                        </a:rPr>
                        <a:t>操作、入力エスケープ</a:t>
                      </a:r>
                    </a:p>
                  </a:txBody>
                  <a:tcPr anchor="ctr">
                    <a:solidFill>
                      <a:srgbClr val="F2F2F2"/>
                    </a:solidFill>
                  </a:tcPr>
                </a:tc>
                <a:extLst>
                  <a:ext uri="{0D108BD9-81ED-4DB2-BD59-A6C34878D82A}">
                    <a16:rowId xmlns:a16="http://schemas.microsoft.com/office/drawing/2014/main" val="149375567"/>
                  </a:ext>
                </a:extLst>
              </a:tr>
              <a:tr h="355600">
                <a:tc>
                  <a:txBody>
                    <a:bodyPr/>
                    <a:lstStyle/>
                    <a:p>
                      <a:r>
                        <a:rPr lang="en-US" altLang="ja-JP" sz="1400" b="1">
                          <a:solidFill>
                            <a:srgbClr val="333333"/>
                          </a:solidFill>
                          <a:latin typeface="Meiryo UI"/>
                          <a:ea typeface="Meiryo UI"/>
                        </a:rPr>
                        <a:t>API </a:t>
                      </a:r>
                      <a:r>
                        <a:rPr lang="ja-JP" altLang="en-US" sz="1400" b="1">
                          <a:solidFill>
                            <a:srgbClr val="333333"/>
                          </a:solidFill>
                          <a:latin typeface="Meiryo UI"/>
                          <a:ea typeface="Meiryo UI"/>
                        </a:rPr>
                        <a:t>通信 </a:t>
                      </a:r>
                      <a:r>
                        <a:rPr lang="en-US" altLang="ja-JP" sz="1400" b="1">
                          <a:solidFill>
                            <a:srgbClr val="333333"/>
                          </a:solidFill>
                          <a:latin typeface="Meiryo UI"/>
                          <a:ea typeface="Meiryo UI"/>
                        </a:rPr>
                        <a:t>/ </a:t>
                      </a:r>
                      <a:r>
                        <a:rPr lang="ja-JP" altLang="en-US" sz="1400" b="1">
                          <a:solidFill>
                            <a:srgbClr val="333333"/>
                          </a:solidFill>
                          <a:latin typeface="Meiryo UI"/>
                          <a:ea typeface="Meiryo UI"/>
                        </a:rPr>
                        <a:t>データ保護</a:t>
                      </a:r>
                    </a:p>
                  </a:txBody>
                  <a:tcPr anchor="ctr">
                    <a:solidFill>
                      <a:srgbClr val="F2F2F2"/>
                    </a:solidFill>
                  </a:tcPr>
                </a:tc>
                <a:tc>
                  <a:txBody>
                    <a:bodyPr/>
                    <a:lstStyle/>
                    <a:p>
                      <a:r>
                        <a:rPr lang="en-US" altLang="ja-JP" sz="1400">
                          <a:solidFill>
                            <a:srgbClr val="333333"/>
                          </a:solidFill>
                          <a:latin typeface="Meiryo UI"/>
                          <a:ea typeface="Meiryo UI"/>
                        </a:rPr>
                        <a:t>HTTPS </a:t>
                      </a:r>
                      <a:r>
                        <a:rPr lang="ja-JP" altLang="en-US" sz="1400">
                          <a:solidFill>
                            <a:srgbClr val="333333"/>
                          </a:solidFill>
                          <a:latin typeface="Meiryo UI"/>
                          <a:ea typeface="Meiryo UI"/>
                        </a:rPr>
                        <a:t>強制、</a:t>
                      </a:r>
                      <a:r>
                        <a:rPr lang="en-US" altLang="ja-JP" sz="1400">
                          <a:solidFill>
                            <a:srgbClr val="333333"/>
                          </a:solidFill>
                          <a:latin typeface="Meiryo UI"/>
                          <a:ea typeface="Meiryo UI"/>
                        </a:rPr>
                        <a:t>CORS</a:t>
                      </a:r>
                      <a:r>
                        <a:rPr lang="ja-JP" altLang="en-US" sz="1400">
                          <a:solidFill>
                            <a:srgbClr val="333333"/>
                          </a:solidFill>
                          <a:latin typeface="Meiryo UI"/>
                          <a:ea typeface="Meiryo UI"/>
                        </a:rPr>
                        <a:t>、エラー時の情報漏洩、</a:t>
                      </a:r>
                      <a:r>
                        <a:rPr lang="en-US" altLang="ja-JP" sz="1400">
                          <a:solidFill>
                            <a:srgbClr val="333333"/>
                          </a:solidFill>
                          <a:latin typeface="Meiryo UI"/>
                          <a:ea typeface="Meiryo UI"/>
                        </a:rPr>
                        <a:t>localStorage </a:t>
                      </a:r>
                      <a:r>
                        <a:rPr lang="ja-JP" altLang="en-US" sz="1400">
                          <a:solidFill>
                            <a:srgbClr val="333333"/>
                          </a:solidFill>
                          <a:latin typeface="Meiryo UI"/>
                          <a:ea typeface="Meiryo UI"/>
                        </a:rPr>
                        <a:t>機密情報</a:t>
                      </a:r>
                    </a:p>
                  </a:txBody>
                  <a:tcPr anchor="ctr">
                    <a:solidFill>
                      <a:srgbClr val="F2F2F2"/>
                    </a:solidFill>
                  </a:tcPr>
                </a:tc>
                <a:extLst>
                  <a:ext uri="{0D108BD9-81ED-4DB2-BD59-A6C34878D82A}">
                    <a16:rowId xmlns:a16="http://schemas.microsoft.com/office/drawing/2014/main" val="363631578"/>
                  </a:ext>
                </a:extLst>
              </a:tr>
            </a:tbl>
          </a:graphicData>
        </a:graphic>
      </p:graphicFrame>
      <p:sp>
        <p:nvSpPr>
          <p:cNvPr id="7" name="テキスト ボックス 6">
            <a:extLst>
              <a:ext uri="{FF2B5EF4-FFF2-40B4-BE49-F238E27FC236}">
                <a16:creationId xmlns:a16="http://schemas.microsoft.com/office/drawing/2014/main" id="{AE0E8698-035F-455A-8AB4-B9610E9BF86B}"/>
              </a:ext>
            </a:extLst>
          </p:cNvPr>
          <p:cNvSpPr txBox="1"/>
          <p:nvPr/>
        </p:nvSpPr>
        <p:spPr>
          <a:xfrm>
            <a:off x="508000" y="2895600"/>
            <a:ext cx="11176000" cy="317500"/>
          </a:xfrm>
          <a:prstGeom prst="rect">
            <a:avLst/>
          </a:prstGeom>
          <a:noFill/>
        </p:spPr>
        <p:txBody>
          <a:bodyPr vertOverflow="overflow" vert="horz" wrap="square" rtlCol="0" anchor="t">
            <a:spAutoFit/>
          </a:bodyPr>
          <a:lstStyle/>
          <a:p>
            <a:pPr algn="l"/>
            <a:r>
              <a:rPr lang="ja-JP" altLang="en-US" sz="1600">
                <a:solidFill>
                  <a:srgbClr val="2F5496"/>
                </a:solidFill>
                <a:latin typeface="Meiryo UI"/>
                <a:ea typeface="Meiryo UI"/>
              </a:rPr>
              <a:t>サーバーサイド（Express.js, Node.js 等）</a:t>
            </a:r>
          </a:p>
        </p:txBody>
      </p:sp>
      <p:graphicFrame>
        <p:nvGraphicFramePr>
          <p:cNvPr id="9" name="表 8">
            <a:extLst>
              <a:ext uri="{FF2B5EF4-FFF2-40B4-BE49-F238E27FC236}">
                <a16:creationId xmlns:a16="http://schemas.microsoft.com/office/drawing/2014/main" id="{B076A6BB-2675-4612-96C0-9CD8C7012ACF}"/>
              </a:ext>
            </a:extLst>
          </p:cNvPr>
          <p:cNvGraphicFramePr>
            <a:graphicFrameLocks noGrp="1"/>
          </p:cNvGraphicFramePr>
          <p:nvPr>
            <p:extLst>
              <p:ext uri="{D42A27DB-BD31-4B8C-83A1-F6EECF244321}">
                <p14:modId xmlns:p14="http://schemas.microsoft.com/office/powerpoint/2010/main" val="1100078214"/>
              </p:ext>
            </p:extLst>
          </p:nvPr>
        </p:nvGraphicFramePr>
        <p:xfrm>
          <a:off x="508000" y="3225800"/>
          <a:ext cx="11176000" cy="1422400"/>
        </p:xfrm>
        <a:graphic>
          <a:graphicData uri="http://schemas.openxmlformats.org/drawingml/2006/table">
            <a:tbl>
              <a:tblPr firstRow="1" bandRow="1">
                <a:tableStyleId>{8EC20E35-A176-4012-BC5E-935CFFF8708E}</a:tableStyleId>
              </a:tblPr>
              <a:tblGrid>
                <a:gridCol w="2540000">
                  <a:extLst>
                    <a:ext uri="{9D8B030D-6E8A-4147-A177-3AD203B41FA5}">
                      <a16:colId xmlns:a16="http://schemas.microsoft.com/office/drawing/2014/main" val="1208309304"/>
                    </a:ext>
                  </a:extLst>
                </a:gridCol>
                <a:gridCol w="8636000">
                  <a:extLst>
                    <a:ext uri="{9D8B030D-6E8A-4147-A177-3AD203B41FA5}">
                      <a16:colId xmlns:a16="http://schemas.microsoft.com/office/drawing/2014/main" val="4141356698"/>
                    </a:ext>
                  </a:extLst>
                </a:gridCol>
              </a:tblGrid>
              <a:tr h="355600">
                <a:tc>
                  <a:txBody>
                    <a:bodyPr/>
                    <a:lstStyle/>
                    <a:p>
                      <a:pPr algn="ctr"/>
                      <a:r>
                        <a:rPr lang="ja-JP" altLang="en-US" sz="1400" b="1">
                          <a:solidFill>
                            <a:srgbClr val="FFFFFF"/>
                          </a:solidFill>
                          <a:latin typeface="Meiryo UI"/>
                          <a:ea typeface="Meiryo UI"/>
                        </a:rPr>
                        <a:t>カテゴリ</a:t>
                      </a:r>
                    </a:p>
                  </a:txBody>
                  <a:tcPr anchor="ctr">
                    <a:solidFill>
                      <a:srgbClr val="548235"/>
                    </a:solidFill>
                  </a:tcPr>
                </a:tc>
                <a:tc>
                  <a:txBody>
                    <a:bodyPr/>
                    <a:lstStyle/>
                    <a:p>
                      <a:pPr algn="ctr"/>
                      <a:r>
                        <a:rPr lang="ja-JP" altLang="en-US" sz="1400" b="1">
                          <a:solidFill>
                            <a:srgbClr val="FFFFFF"/>
                          </a:solidFill>
                          <a:latin typeface="Meiryo UI"/>
                          <a:ea typeface="Meiryo UI"/>
                        </a:rPr>
                        <a:t>検出項目</a:t>
                      </a:r>
                    </a:p>
                  </a:txBody>
                  <a:tcPr anchor="ctr">
                    <a:solidFill>
                      <a:srgbClr val="548235"/>
                    </a:solidFill>
                  </a:tcPr>
                </a:tc>
                <a:extLst>
                  <a:ext uri="{0D108BD9-81ED-4DB2-BD59-A6C34878D82A}">
                    <a16:rowId xmlns:a16="http://schemas.microsoft.com/office/drawing/2014/main" val="3230473958"/>
                  </a:ext>
                </a:extLst>
              </a:tr>
              <a:tr h="355600">
                <a:tc>
                  <a:txBody>
                    <a:bodyPr/>
                    <a:lstStyle/>
                    <a:p>
                      <a:r>
                        <a:rPr lang="ja-JP" altLang="en-US" sz="1400" b="1">
                          <a:solidFill>
                            <a:srgbClr val="333333"/>
                          </a:solidFill>
                          <a:latin typeface="Meiryo UI"/>
                          <a:ea typeface="Meiryo UI"/>
                        </a:rPr>
                        <a:t>認証・</a:t>
                      </a:r>
                      <a:r>
                        <a:rPr lang="en-US" altLang="ja-JP" sz="1400" b="1">
                          <a:solidFill>
                            <a:srgbClr val="333333"/>
                          </a:solidFill>
                          <a:latin typeface="Meiryo UI"/>
                          <a:ea typeface="Meiryo UI"/>
                        </a:rPr>
                        <a:t>DB</a:t>
                      </a:r>
                      <a:endParaRPr lang="ja-JP" altLang="en-US" sz="1400" b="1">
                        <a:solidFill>
                          <a:srgbClr val="333333"/>
                        </a:solidFill>
                        <a:latin typeface="Meiryo UI"/>
                        <a:ea typeface="Meiryo UI"/>
                      </a:endParaRPr>
                    </a:p>
                  </a:txBody>
                  <a:tcPr anchor="ctr"/>
                </a:tc>
                <a:tc>
                  <a:txBody>
                    <a:bodyPr/>
                    <a:lstStyle/>
                    <a:p>
                      <a:r>
                        <a:rPr lang="en-US" altLang="ja-JP" sz="1400">
                          <a:solidFill>
                            <a:srgbClr val="333333"/>
                          </a:solidFill>
                          <a:latin typeface="Meiryo UI"/>
                          <a:ea typeface="Meiryo UI"/>
                        </a:rPr>
                        <a:t>JWT </a:t>
                      </a:r>
                      <a:r>
                        <a:rPr lang="ja-JP" altLang="en-US" sz="1400">
                          <a:solidFill>
                            <a:srgbClr val="333333"/>
                          </a:solidFill>
                          <a:latin typeface="Meiryo UI"/>
                          <a:ea typeface="Meiryo UI"/>
                        </a:rPr>
                        <a:t>検証、パスワードハッシュ、</a:t>
                      </a:r>
                      <a:r>
                        <a:rPr lang="en-US" altLang="ja-JP" sz="1400">
                          <a:solidFill>
                            <a:srgbClr val="333333"/>
                          </a:solidFill>
                          <a:latin typeface="Meiryo UI"/>
                          <a:ea typeface="Meiryo UI"/>
                        </a:rPr>
                        <a:t>SQL </a:t>
                      </a:r>
                      <a:r>
                        <a:rPr lang="ja-JP" altLang="en-US" sz="1400">
                          <a:solidFill>
                            <a:srgbClr val="333333"/>
                          </a:solidFill>
                          <a:latin typeface="Meiryo UI"/>
                          <a:ea typeface="Meiryo UI"/>
                        </a:rPr>
                        <a:t>インジェクション、パラメータ化クエリ</a:t>
                      </a:r>
                    </a:p>
                  </a:txBody>
                  <a:tcPr anchor="ctr"/>
                </a:tc>
                <a:extLst>
                  <a:ext uri="{0D108BD9-81ED-4DB2-BD59-A6C34878D82A}">
                    <a16:rowId xmlns:a16="http://schemas.microsoft.com/office/drawing/2014/main" val="2409072979"/>
                  </a:ext>
                </a:extLst>
              </a:tr>
              <a:tr h="355600">
                <a:tc>
                  <a:txBody>
                    <a:bodyPr/>
                    <a:lstStyle/>
                    <a:p>
                      <a:r>
                        <a:rPr lang="ja-JP" altLang="en-US" sz="1400" b="1">
                          <a:solidFill>
                            <a:srgbClr val="333333"/>
                          </a:solidFill>
                          <a:latin typeface="Meiryo UI"/>
                          <a:ea typeface="Meiryo UI"/>
                        </a:rPr>
                        <a:t>入力検証・暗号化</a:t>
                      </a:r>
                    </a:p>
                  </a:txBody>
                  <a:tcPr anchor="ctr">
                    <a:solidFill>
                      <a:srgbClr val="F2F2F2"/>
                    </a:solidFill>
                  </a:tcPr>
                </a:tc>
                <a:tc>
                  <a:txBody>
                    <a:bodyPr/>
                    <a:lstStyle/>
                    <a:p>
                      <a:r>
                        <a:rPr lang="ja-JP" altLang="en-US" sz="1400">
                          <a:solidFill>
                            <a:srgbClr val="333333"/>
                          </a:solidFill>
                          <a:latin typeface="Meiryo UI"/>
                          <a:ea typeface="Meiryo UI"/>
                        </a:rPr>
                        <a:t>サニタイゼーション、パストラバーサル、</a:t>
                      </a:r>
                      <a:r>
                        <a:rPr lang="en-US" altLang="ja-JP" sz="1400">
                          <a:solidFill>
                            <a:srgbClr val="333333"/>
                          </a:solidFill>
                          <a:latin typeface="Meiryo UI"/>
                          <a:ea typeface="Meiryo UI"/>
                        </a:rPr>
                        <a:t>HTTPS</a:t>
                      </a:r>
                      <a:r>
                        <a:rPr lang="ja-JP" altLang="en-US" sz="1400">
                          <a:solidFill>
                            <a:srgbClr val="333333"/>
                          </a:solidFill>
                          <a:latin typeface="Meiryo UI"/>
                          <a:ea typeface="Meiryo UI"/>
                        </a:rPr>
                        <a:t>、ハードコード秘密鍵</a:t>
                      </a:r>
                    </a:p>
                  </a:txBody>
                  <a:tcPr anchor="ctr">
                    <a:solidFill>
                      <a:srgbClr val="F2F2F2"/>
                    </a:solidFill>
                  </a:tcPr>
                </a:tc>
                <a:extLst>
                  <a:ext uri="{0D108BD9-81ED-4DB2-BD59-A6C34878D82A}">
                    <a16:rowId xmlns:a16="http://schemas.microsoft.com/office/drawing/2014/main" val="2527364436"/>
                  </a:ext>
                </a:extLst>
              </a:tr>
              <a:tr h="355600">
                <a:tc>
                  <a:txBody>
                    <a:bodyPr/>
                    <a:lstStyle/>
                    <a:p>
                      <a:r>
                        <a:rPr lang="en-US" altLang="ja-JP" sz="1400" b="1">
                          <a:solidFill>
                            <a:srgbClr val="333333"/>
                          </a:solidFill>
                          <a:latin typeface="Meiryo UI"/>
                          <a:ea typeface="Meiryo UI"/>
                        </a:rPr>
                        <a:t>CORS / </a:t>
                      </a:r>
                      <a:r>
                        <a:rPr lang="ja-JP" altLang="en-US" sz="1400" b="1">
                          <a:solidFill>
                            <a:srgbClr val="333333"/>
                          </a:solidFill>
                          <a:latin typeface="Meiryo UI"/>
                          <a:ea typeface="Meiryo UI"/>
                        </a:rPr>
                        <a:t>レート制限</a:t>
                      </a:r>
                    </a:p>
                  </a:txBody>
                  <a:tcPr anchor="ctr">
                    <a:solidFill>
                      <a:srgbClr val="F2F2F2"/>
                    </a:solidFill>
                  </a:tcPr>
                </a:tc>
                <a:tc>
                  <a:txBody>
                    <a:bodyPr/>
                    <a:lstStyle/>
                    <a:p>
                      <a:r>
                        <a:rPr lang="ja-JP" altLang="en-US" sz="1400">
                          <a:solidFill>
                            <a:srgbClr val="333333"/>
                          </a:solidFill>
                          <a:latin typeface="Meiryo UI"/>
                          <a:ea typeface="Meiryo UI"/>
                        </a:rPr>
                        <a:t>セキュリティヘッダー（</a:t>
                      </a:r>
                      <a:r>
                        <a:rPr lang="en-US" altLang="ja-JP" sz="1400">
                          <a:solidFill>
                            <a:srgbClr val="333333"/>
                          </a:solidFill>
                          <a:latin typeface="Meiryo UI"/>
                          <a:ea typeface="Meiryo UI"/>
                        </a:rPr>
                        <a:t>Helmet</a:t>
                      </a:r>
                      <a:r>
                        <a:rPr lang="ja-JP" altLang="en-US" sz="1400">
                          <a:solidFill>
                            <a:srgbClr val="333333"/>
                          </a:solidFill>
                          <a:latin typeface="Meiryo UI"/>
                          <a:ea typeface="Meiryo UI"/>
                        </a:rPr>
                        <a:t>）、</a:t>
                      </a:r>
                      <a:r>
                        <a:rPr lang="en-US" altLang="ja-JP" sz="1400">
                          <a:solidFill>
                            <a:srgbClr val="333333"/>
                          </a:solidFill>
                          <a:latin typeface="Meiryo UI"/>
                          <a:ea typeface="Meiryo UI"/>
                        </a:rPr>
                        <a:t>CORS </a:t>
                      </a:r>
                      <a:r>
                        <a:rPr lang="ja-JP" altLang="en-US" sz="1400">
                          <a:solidFill>
                            <a:srgbClr val="333333"/>
                          </a:solidFill>
                          <a:latin typeface="Meiryo UI"/>
                          <a:ea typeface="Meiryo UI"/>
                        </a:rPr>
                        <a:t>設定、</a:t>
                      </a:r>
                      <a:r>
                        <a:rPr lang="en-US" altLang="ja-JP" sz="1400">
                          <a:solidFill>
                            <a:srgbClr val="333333"/>
                          </a:solidFill>
                          <a:latin typeface="Meiryo UI"/>
                          <a:ea typeface="Meiryo UI"/>
                        </a:rPr>
                        <a:t>DoS </a:t>
                      </a:r>
                      <a:r>
                        <a:rPr lang="ja-JP" altLang="en-US" sz="1400">
                          <a:solidFill>
                            <a:srgbClr val="333333"/>
                          </a:solidFill>
                          <a:latin typeface="Meiryo UI"/>
                          <a:ea typeface="Meiryo UI"/>
                        </a:rPr>
                        <a:t>対策、タイムアウト</a:t>
                      </a:r>
                    </a:p>
                  </a:txBody>
                  <a:tcPr anchor="ctr">
                    <a:solidFill>
                      <a:srgbClr val="F2F2F2"/>
                    </a:solidFill>
                  </a:tcPr>
                </a:tc>
                <a:extLst>
                  <a:ext uri="{0D108BD9-81ED-4DB2-BD59-A6C34878D82A}">
                    <a16:rowId xmlns:a16="http://schemas.microsoft.com/office/drawing/2014/main" val="3403287732"/>
                  </a:ext>
                </a:extLst>
              </a:tr>
            </a:tbl>
          </a:graphicData>
        </a:graphic>
      </p:graphicFrame>
      <p:sp>
        <p:nvSpPr>
          <p:cNvPr id="10" name="テキスト ボックス 9">
            <a:extLst>
              <a:ext uri="{FF2B5EF4-FFF2-40B4-BE49-F238E27FC236}">
                <a16:creationId xmlns:a16="http://schemas.microsoft.com/office/drawing/2014/main" id="{B55A4E7B-A779-4AE8-BF83-C138C7BF9879}"/>
              </a:ext>
            </a:extLst>
          </p:cNvPr>
          <p:cNvSpPr txBox="1"/>
          <p:nvPr/>
        </p:nvSpPr>
        <p:spPr>
          <a:xfrm>
            <a:off x="508000" y="5080000"/>
            <a:ext cx="11176000" cy="508000"/>
          </a:xfrm>
          <a:prstGeom prst="rect">
            <a:avLst/>
          </a:prstGeom>
          <a:noFill/>
        </p:spPr>
        <p:txBody>
          <a:bodyPr vertOverflow="overflow" vert="horz" wrap="square" rtlCol="0" anchor="t">
            <a:spAutoFit/>
          </a:bodyPr>
          <a:lstStyle/>
          <a:p>
            <a:pPr algn="l"/>
            <a:r>
              <a:rPr lang="ja-JP" altLang="en-US" sz="1400">
                <a:solidFill>
                  <a:srgbClr val="666666"/>
                </a:solidFill>
                <a:latin typeface="Meiryo UI"/>
                <a:ea typeface="Meiryo UI"/>
              </a:rPr>
              <a:t>プロジェクトタイプ（クライアント／サーバー）を自動判定し、適切なセキュリティチェックリストに基づいてレビューする。</a:t>
            </a:r>
          </a:p>
        </p:txBody>
      </p:sp>
    </p:spTree>
    <p:extLst>
      <p:ext uri="{BB962C8B-B14F-4D97-AF65-F5344CB8AC3E}">
        <p14:creationId xmlns:p14="http://schemas.microsoft.com/office/powerpoint/2010/main" val="338911689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E0C7-0EFD-BF7B-5529-331E29C1BB00}"/>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4EE7E622-3FF6-03E6-B591-241197BF9808}"/>
              </a:ext>
            </a:extLst>
          </p:cNvPr>
          <p:cNvSpPr/>
          <p:nvPr/>
        </p:nvSpPr>
        <p:spPr>
          <a:xfrm>
            <a:off x="411480" y="111978"/>
            <a:ext cx="4506362" cy="584775"/>
          </a:xfrm>
          <a:prstGeom prst="rect">
            <a:avLst/>
          </a:prstGeom>
        </p:spPr>
        <p:txBody>
          <a:bodyPr wrap="none" lIns="91440" tIns="45720" rIns="91440" bIns="45720" anchor="t">
            <a:spAutoFit/>
          </a:bodyPr>
          <a:lstStyle/>
          <a:p>
            <a:r>
              <a:rPr lang="ja-JP" altLang="en-US" sz="3200" b="1" dirty="0">
                <a:latin typeface="Meiryo UI" panose="020B0604030504040204" pitchFamily="50" charset="-128"/>
                <a:ea typeface="Meiryo UI" panose="020B0604030504040204" pitchFamily="50" charset="-128"/>
              </a:rPr>
              <a:t>入力・出力・レポート構成</a:t>
            </a:r>
          </a:p>
        </p:txBody>
      </p:sp>
      <p:sp>
        <p:nvSpPr>
          <p:cNvPr id="6" name="スライド番号プレースホルダー 5">
            <a:extLst>
              <a:ext uri="{FF2B5EF4-FFF2-40B4-BE49-F238E27FC236}">
                <a16:creationId xmlns:a16="http://schemas.microsoft.com/office/drawing/2014/main" id="{38236E57-C4B5-6A32-F451-126659E8A561}"/>
              </a:ext>
            </a:extLst>
          </p:cNvPr>
          <p:cNvSpPr>
            <a:spLocks noGrp="1"/>
          </p:cNvSpPr>
          <p:nvPr>
            <p:ph type="sldNum" sz="quarter" idx="4"/>
          </p:nvPr>
        </p:nvSpPr>
        <p:spPr/>
        <p:txBody>
          <a:bodyPr/>
          <a:lstStyle/>
          <a:p>
            <a:fld id="{06F33280-3E80-482D-8576-4ABC99412ED4}" type="slidenum">
              <a:rPr lang="ja-JP" altLang="en-US" smtClean="0"/>
              <a:pPr/>
              <a:t>7</a:t>
            </a:fld>
            <a:endParaRPr lang="ja-JP" altLang="en-US"/>
          </a:p>
        </p:txBody>
      </p:sp>
      <p:sp>
        <p:nvSpPr>
          <p:cNvPr id="3" name="テキスト ボックス 2">
            <a:extLst>
              <a:ext uri="{FF2B5EF4-FFF2-40B4-BE49-F238E27FC236}">
                <a16:creationId xmlns:a16="http://schemas.microsoft.com/office/drawing/2014/main" id="{BC2A6469-2A73-4A12-B70D-7A3775888CF7}"/>
              </a:ext>
            </a:extLst>
          </p:cNvPr>
          <p:cNvSpPr txBox="1"/>
          <p:nvPr/>
        </p:nvSpPr>
        <p:spPr>
          <a:xfrm>
            <a:off x="508000" y="825500"/>
            <a:ext cx="11176000" cy="381000"/>
          </a:xfrm>
          <a:prstGeom prst="rect">
            <a:avLst/>
          </a:prstGeom>
          <a:noFill/>
        </p:spPr>
        <p:txBody>
          <a:bodyPr vertOverflow="overflow" vert="horz" wrap="square" rtlCol="0" anchor="t">
            <a:spAutoFit/>
          </a:bodyPr>
          <a:lstStyle/>
          <a:p>
            <a:pPr algn="l"/>
            <a:r>
              <a:rPr lang="ja-JP" altLang="en-US">
                <a:solidFill>
                  <a:srgbClr val="2F5496"/>
                </a:solidFill>
                <a:latin typeface="Meiryo UI"/>
                <a:ea typeface="Meiryo UI"/>
              </a:rPr>
              <a:t>入力</a:t>
            </a:r>
          </a:p>
        </p:txBody>
      </p:sp>
      <p:sp>
        <p:nvSpPr>
          <p:cNvPr id="4" name="四角形: 角を丸くする 3">
            <a:extLst>
              <a:ext uri="{FF2B5EF4-FFF2-40B4-BE49-F238E27FC236}">
                <a16:creationId xmlns:a16="http://schemas.microsoft.com/office/drawing/2014/main" id="{3FA9D44F-3BCD-4F04-B4C7-B53277AAF5C7}"/>
              </a:ext>
            </a:extLst>
          </p:cNvPr>
          <p:cNvSpPr/>
          <p:nvPr/>
        </p:nvSpPr>
        <p:spPr bwMode="auto">
          <a:xfrm>
            <a:off x="508000" y="1270000"/>
            <a:ext cx="11176000" cy="635000"/>
          </a:xfrm>
          <a:prstGeom prst="roundRect">
            <a:avLst/>
          </a:prstGeom>
          <a:solidFill>
            <a:srgbClr val="F0F0F0"/>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1" lang="ja-JP" altLang="en-US" sz="1400" b="0" i="0" u="none" strike="noStrike" cap="none" normalizeH="0" baseline="0">
                <a:ln>
                  <a:noFill/>
                </a:ln>
                <a:effectLst/>
                <a:latin typeface="Meiryo UI"/>
                <a:ea typeface="Meiryo UI"/>
              </a:rPr>
              <a:t>セキュリティスキャンを実行して</a:t>
            </a:r>
          </a:p>
        </p:txBody>
      </p:sp>
      <p:sp>
        <p:nvSpPr>
          <p:cNvPr id="5" name="四角形: 角を丸くする 4">
            <a:extLst>
              <a:ext uri="{FF2B5EF4-FFF2-40B4-BE49-F238E27FC236}">
                <a16:creationId xmlns:a16="http://schemas.microsoft.com/office/drawing/2014/main" id="{ACD835D9-370D-43B1-83A5-EA0AD1EE0AC0}"/>
              </a:ext>
            </a:extLst>
          </p:cNvPr>
          <p:cNvSpPr/>
          <p:nvPr/>
        </p:nvSpPr>
        <p:spPr bwMode="auto">
          <a:xfrm>
            <a:off x="508000" y="2095500"/>
            <a:ext cx="5334000" cy="698500"/>
          </a:xfrm>
          <a:prstGeom prst="roundRect">
            <a:avLst/>
          </a:prstGeom>
          <a:solidFill>
            <a:srgbClr val="2F5496"/>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1" lang="ja-JP" altLang="en-US" sz="1400" b="0" i="0" u="none" strike="noStrike" cap="none" normalizeH="0" baseline="0">
                <a:ln>
                  <a:noFill/>
                </a:ln>
                <a:effectLst/>
                <a:latin typeface="Meiryo UI"/>
                <a:ea typeface="Meiryo UI"/>
              </a:rPr>
              <a:t>実行場所: スキャン対象の npm プロジェクトディレクトリ（package.json を含む）</a:t>
            </a:r>
          </a:p>
        </p:txBody>
      </p:sp>
      <p:sp>
        <p:nvSpPr>
          <p:cNvPr id="7" name="四角形: 角を丸くする 6">
            <a:extLst>
              <a:ext uri="{FF2B5EF4-FFF2-40B4-BE49-F238E27FC236}">
                <a16:creationId xmlns:a16="http://schemas.microsoft.com/office/drawing/2014/main" id="{49845719-7305-4150-8CAC-E1585A5C0AEA}"/>
              </a:ext>
            </a:extLst>
          </p:cNvPr>
          <p:cNvSpPr/>
          <p:nvPr/>
        </p:nvSpPr>
        <p:spPr bwMode="auto">
          <a:xfrm>
            <a:off x="6350000" y="2095500"/>
            <a:ext cx="5334000" cy="698500"/>
          </a:xfrm>
          <a:prstGeom prst="roundRect">
            <a:avLst/>
          </a:prstGeom>
          <a:solidFill>
            <a:srgbClr val="2F5496"/>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1" lang="ja-JP" altLang="en-US" sz="1400" b="0" i="0" u="none" strike="noStrike" cap="none" normalizeH="0" baseline="0">
                <a:ln>
                  <a:noFill/>
                </a:ln>
                <a:effectLst/>
                <a:latin typeface="Meiryo UI"/>
                <a:ea typeface="Meiryo UI"/>
              </a:rPr>
              <a:t>前提: </a:t>
            </a:r>
            <a:r>
              <a:rPr kumimoji="1" lang="en-US" altLang="ja-JP" sz="1400" b="0" i="0" u="none" strike="noStrike" cap="none" normalizeH="0" baseline="0">
                <a:ln>
                  <a:noFill/>
                </a:ln>
                <a:effectLst/>
                <a:latin typeface="Meiryo UI"/>
                <a:ea typeface="Meiryo UI"/>
              </a:rPr>
              <a:t>Claude Code CLI + MCP Serena</a:t>
            </a:r>
            <a:r>
              <a:rPr kumimoji="1" lang="ja-JP" altLang="en-US" sz="1400" b="0" i="0" u="none" strike="noStrike" cap="none" normalizeH="0" baseline="0">
                <a:ln>
                  <a:noFill/>
                </a:ln>
                <a:effectLst/>
                <a:latin typeface="Meiryo UI"/>
                <a:ea typeface="Meiryo UI"/>
              </a:rPr>
              <a:t>（推奨）+ uv</a:t>
            </a:r>
          </a:p>
        </p:txBody>
      </p:sp>
      <p:sp>
        <p:nvSpPr>
          <p:cNvPr id="8" name="テキスト ボックス 7">
            <a:extLst>
              <a:ext uri="{FF2B5EF4-FFF2-40B4-BE49-F238E27FC236}">
                <a16:creationId xmlns:a16="http://schemas.microsoft.com/office/drawing/2014/main" id="{39111489-1581-41FA-B7D2-285F7AA05B6F}"/>
              </a:ext>
            </a:extLst>
          </p:cNvPr>
          <p:cNvSpPr txBox="1"/>
          <p:nvPr/>
        </p:nvSpPr>
        <p:spPr>
          <a:xfrm>
            <a:off x="508000" y="3048000"/>
            <a:ext cx="11176000" cy="381000"/>
          </a:xfrm>
          <a:prstGeom prst="rect">
            <a:avLst/>
          </a:prstGeom>
          <a:noFill/>
        </p:spPr>
        <p:txBody>
          <a:bodyPr vertOverflow="overflow" vert="horz" wrap="square" rtlCol="0" anchor="t">
            <a:spAutoFit/>
          </a:bodyPr>
          <a:lstStyle/>
          <a:p>
            <a:pPr algn="l"/>
            <a:r>
              <a:rPr lang="ja-JP" altLang="en-US">
                <a:solidFill>
                  <a:srgbClr val="2F5496"/>
                </a:solidFill>
                <a:latin typeface="Meiryo UI"/>
                <a:ea typeface="Meiryo UI"/>
              </a:rPr>
              <a:t>出力</a:t>
            </a:r>
          </a:p>
        </p:txBody>
      </p:sp>
      <p:graphicFrame>
        <p:nvGraphicFramePr>
          <p:cNvPr id="10" name="表 9">
            <a:extLst>
              <a:ext uri="{FF2B5EF4-FFF2-40B4-BE49-F238E27FC236}">
                <a16:creationId xmlns:a16="http://schemas.microsoft.com/office/drawing/2014/main" id="{7DAC8317-14E3-4CCE-9778-B2CCAAEFF690}"/>
              </a:ext>
            </a:extLst>
          </p:cNvPr>
          <p:cNvGraphicFramePr>
            <a:graphicFrameLocks noGrp="1"/>
          </p:cNvGraphicFramePr>
          <p:nvPr>
            <p:extLst>
              <p:ext uri="{D42A27DB-BD31-4B8C-83A1-F6EECF244321}">
                <p14:modId xmlns:p14="http://schemas.microsoft.com/office/powerpoint/2010/main" val="2275106905"/>
              </p:ext>
            </p:extLst>
          </p:nvPr>
        </p:nvGraphicFramePr>
        <p:xfrm>
          <a:off x="508000" y="3492500"/>
          <a:ext cx="11176000" cy="1524000"/>
        </p:xfrm>
        <a:graphic>
          <a:graphicData uri="http://schemas.openxmlformats.org/drawingml/2006/table">
            <a:tbl>
              <a:tblPr firstRow="1" bandRow="1">
                <a:tableStyleId>{8EC20E35-A176-4012-BC5E-935CFFF8708E}</a:tableStyleId>
              </a:tblPr>
              <a:tblGrid>
                <a:gridCol w="2794000">
                  <a:extLst>
                    <a:ext uri="{9D8B030D-6E8A-4147-A177-3AD203B41FA5}">
                      <a16:colId xmlns:a16="http://schemas.microsoft.com/office/drawing/2014/main" val="1020358904"/>
                    </a:ext>
                  </a:extLst>
                </a:gridCol>
                <a:gridCol w="3556000">
                  <a:extLst>
                    <a:ext uri="{9D8B030D-6E8A-4147-A177-3AD203B41FA5}">
                      <a16:colId xmlns:a16="http://schemas.microsoft.com/office/drawing/2014/main" val="3559632012"/>
                    </a:ext>
                  </a:extLst>
                </a:gridCol>
                <a:gridCol w="4826000">
                  <a:extLst>
                    <a:ext uri="{9D8B030D-6E8A-4147-A177-3AD203B41FA5}">
                      <a16:colId xmlns:a16="http://schemas.microsoft.com/office/drawing/2014/main" val="926025954"/>
                    </a:ext>
                  </a:extLst>
                </a:gridCol>
              </a:tblGrid>
              <a:tr h="508000">
                <a:tc>
                  <a:txBody>
                    <a:bodyPr/>
                    <a:lstStyle/>
                    <a:p>
                      <a:pPr algn="ctr"/>
                      <a:r>
                        <a:rPr lang="ja-JP" altLang="en-US" sz="1400" b="1">
                          <a:solidFill>
                            <a:srgbClr val="FFFFFF"/>
                          </a:solidFill>
                          <a:latin typeface="Meiryo UI"/>
                          <a:ea typeface="Meiryo UI"/>
                        </a:rPr>
                        <a:t>ファイル</a:t>
                      </a:r>
                    </a:p>
                  </a:txBody>
                  <a:tcPr anchor="ctr">
                    <a:solidFill>
                      <a:srgbClr val="548235"/>
                    </a:solidFill>
                  </a:tcPr>
                </a:tc>
                <a:tc>
                  <a:txBody>
                    <a:bodyPr/>
                    <a:lstStyle/>
                    <a:p>
                      <a:pPr algn="ctr"/>
                      <a:r>
                        <a:rPr lang="ja-JP" altLang="en-US" sz="1400" b="1">
                          <a:solidFill>
                            <a:srgbClr val="FFFFFF"/>
                          </a:solidFill>
                          <a:latin typeface="Meiryo UI"/>
                          <a:ea typeface="Meiryo UI"/>
                        </a:rPr>
                        <a:t>形式</a:t>
                      </a:r>
                    </a:p>
                  </a:txBody>
                  <a:tcPr anchor="ctr">
                    <a:solidFill>
                      <a:srgbClr val="548235"/>
                    </a:solidFill>
                  </a:tcPr>
                </a:tc>
                <a:tc>
                  <a:txBody>
                    <a:bodyPr/>
                    <a:lstStyle/>
                    <a:p>
                      <a:pPr algn="ctr"/>
                      <a:r>
                        <a:rPr lang="ja-JP" altLang="en-US" sz="1400" b="1">
                          <a:solidFill>
                            <a:srgbClr val="FFFFFF"/>
                          </a:solidFill>
                          <a:latin typeface="Meiryo UI"/>
                          <a:ea typeface="Meiryo UI"/>
                        </a:rPr>
                        <a:t>用途</a:t>
                      </a:r>
                    </a:p>
                  </a:txBody>
                  <a:tcPr anchor="ctr">
                    <a:solidFill>
                      <a:srgbClr val="548235"/>
                    </a:solidFill>
                  </a:tcPr>
                </a:tc>
                <a:extLst>
                  <a:ext uri="{0D108BD9-81ED-4DB2-BD59-A6C34878D82A}">
                    <a16:rowId xmlns:a16="http://schemas.microsoft.com/office/drawing/2014/main" val="3414730206"/>
                  </a:ext>
                </a:extLst>
              </a:tr>
              <a:tr h="508000">
                <a:tc>
                  <a:txBody>
                    <a:bodyPr/>
                    <a:lstStyle/>
                    <a:p>
                      <a:r>
                        <a:rPr lang="ja-JP" altLang="en-US" sz="1400" b="1">
                          <a:solidFill>
                            <a:srgbClr val="333333"/>
                          </a:solidFill>
                          <a:latin typeface="Meiryo UI"/>
                          <a:ea typeface="Meiryo UI"/>
                        </a:rPr>
                        <a:t>ターミナル出力</a:t>
                      </a:r>
                    </a:p>
                  </a:txBody>
                  <a:tcPr anchor="ctr"/>
                </a:tc>
                <a:tc>
                  <a:txBody>
                    <a:bodyPr/>
                    <a:lstStyle/>
                    <a:p>
                      <a:pPr algn="ctr"/>
                      <a:r>
                        <a:rPr lang="en-US" altLang="ja-JP" sz="1400">
                          <a:solidFill>
                            <a:srgbClr val="333333"/>
                          </a:solidFill>
                          <a:latin typeface="Meiryo UI"/>
                          <a:ea typeface="Meiryo UI"/>
                        </a:rPr>
                        <a:t>Markdown</a:t>
                      </a:r>
                      <a:r>
                        <a:rPr lang="ja-JP" altLang="en-US" sz="1400">
                          <a:solidFill>
                            <a:srgbClr val="333333"/>
                          </a:solidFill>
                          <a:latin typeface="Meiryo UI"/>
                          <a:ea typeface="Meiryo UI"/>
                        </a:rPr>
                        <a:t>（日本語）</a:t>
                      </a:r>
                    </a:p>
                  </a:txBody>
                  <a:tcPr anchor="ctr"/>
                </a:tc>
                <a:tc>
                  <a:txBody>
                    <a:bodyPr/>
                    <a:lstStyle/>
                    <a:p>
                      <a:r>
                        <a:rPr lang="ja-JP" altLang="en-US" sz="1400">
                          <a:solidFill>
                            <a:srgbClr val="333333"/>
                          </a:solidFill>
                          <a:latin typeface="Meiryo UI"/>
                          <a:ea typeface="Meiryo UI"/>
                        </a:rPr>
                        <a:t>リアルタイム確認</a:t>
                      </a:r>
                    </a:p>
                  </a:txBody>
                  <a:tcPr anchor="ctr"/>
                </a:tc>
                <a:extLst>
                  <a:ext uri="{0D108BD9-81ED-4DB2-BD59-A6C34878D82A}">
                    <a16:rowId xmlns:a16="http://schemas.microsoft.com/office/drawing/2014/main" val="2066120252"/>
                  </a:ext>
                </a:extLst>
              </a:tr>
              <a:tr h="508000">
                <a:tc>
                  <a:txBody>
                    <a:bodyPr/>
                    <a:lstStyle/>
                    <a:p>
                      <a:r>
                        <a:rPr lang="ja-JP" altLang="en-US" sz="1400" b="1">
                          <a:solidFill>
                            <a:srgbClr val="333333"/>
                          </a:solidFill>
                          <a:latin typeface="Meiryo UI"/>
                          <a:ea typeface="Meiryo UI"/>
                        </a:rPr>
                        <a:t>任意のファイル</a:t>
                      </a:r>
                    </a:p>
                  </a:txBody>
                  <a:tcPr anchor="ctr">
                    <a:solidFill>
                      <a:srgbClr val="F2F2F2"/>
                    </a:solidFill>
                  </a:tcPr>
                </a:tc>
                <a:tc>
                  <a:txBody>
                    <a:bodyPr/>
                    <a:lstStyle/>
                    <a:p>
                      <a:pPr algn="ctr"/>
                      <a:r>
                        <a:rPr lang="en-US" altLang="ja-JP" sz="1400">
                          <a:solidFill>
                            <a:srgbClr val="333333"/>
                          </a:solidFill>
                          <a:latin typeface="Meiryo UI"/>
                          <a:ea typeface="Meiryo UI"/>
                        </a:rPr>
                        <a:t>Markdown</a:t>
                      </a:r>
                      <a:r>
                        <a:rPr lang="ja-JP" altLang="en-US" sz="1400">
                          <a:solidFill>
                            <a:srgbClr val="333333"/>
                          </a:solidFill>
                          <a:latin typeface="Meiryo UI"/>
                          <a:ea typeface="Meiryo UI"/>
                        </a:rPr>
                        <a:t>（日本語）</a:t>
                      </a:r>
                    </a:p>
                  </a:txBody>
                  <a:tcPr anchor="ctr">
                    <a:solidFill>
                      <a:srgbClr val="F2F2F2"/>
                    </a:solidFill>
                  </a:tcPr>
                </a:tc>
                <a:tc>
                  <a:txBody>
                    <a:bodyPr/>
                    <a:lstStyle/>
                    <a:p>
                      <a:r>
                        <a:rPr lang="ja-JP" altLang="en-US" sz="1400">
                          <a:solidFill>
                            <a:srgbClr val="333333"/>
                          </a:solidFill>
                          <a:latin typeface="Meiryo UI"/>
                          <a:ea typeface="Meiryo UI"/>
                        </a:rPr>
                        <a:t>「レポートをファイルに保存して」で出力</a:t>
                      </a:r>
                    </a:p>
                  </a:txBody>
                  <a:tcPr anchor="ctr">
                    <a:solidFill>
                      <a:srgbClr val="F2F2F2"/>
                    </a:solidFill>
                  </a:tcPr>
                </a:tc>
                <a:extLst>
                  <a:ext uri="{0D108BD9-81ED-4DB2-BD59-A6C34878D82A}">
                    <a16:rowId xmlns:a16="http://schemas.microsoft.com/office/drawing/2014/main" val="3870818055"/>
                  </a:ext>
                </a:extLst>
              </a:tr>
            </a:tbl>
          </a:graphicData>
        </a:graphic>
      </p:graphicFrame>
    </p:spTree>
    <p:extLst>
      <p:ext uri="{BB962C8B-B14F-4D97-AF65-F5344CB8AC3E}">
        <p14:creationId xmlns:p14="http://schemas.microsoft.com/office/powerpoint/2010/main" val="3945680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E0C7-0EFD-BF7B-5529-331E29C1BB00}"/>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4EE7E622-3FF6-03E6-B591-241197BF9808}"/>
              </a:ext>
            </a:extLst>
          </p:cNvPr>
          <p:cNvSpPr/>
          <p:nvPr/>
        </p:nvSpPr>
        <p:spPr>
          <a:xfrm>
            <a:off x="411480" y="111978"/>
            <a:ext cx="4506362" cy="584775"/>
          </a:xfrm>
          <a:prstGeom prst="rect">
            <a:avLst/>
          </a:prstGeom>
        </p:spPr>
        <p:txBody>
          <a:bodyPr wrap="none" lIns="91440" tIns="45720" rIns="91440" bIns="45720" anchor="t">
            <a:spAutoFit/>
          </a:bodyPr>
          <a:lstStyle/>
          <a:p>
            <a:r>
              <a:rPr lang="ja-JP" altLang="en-US" sz="3200" b="1" dirty="0">
                <a:latin typeface="Meiryo UI" panose="020B0604030504040204" pitchFamily="50" charset="-128"/>
                <a:ea typeface="Meiryo UI" panose="020B0604030504040204" pitchFamily="50" charset="-128"/>
              </a:rPr>
              <a:t>処理フロー</a:t>
            </a:r>
          </a:p>
        </p:txBody>
      </p:sp>
      <p:sp>
        <p:nvSpPr>
          <p:cNvPr id="6" name="スライド番号プレースホルダー 5">
            <a:extLst>
              <a:ext uri="{FF2B5EF4-FFF2-40B4-BE49-F238E27FC236}">
                <a16:creationId xmlns:a16="http://schemas.microsoft.com/office/drawing/2014/main" id="{38236E57-C4B5-6A32-F451-126659E8A561}"/>
              </a:ext>
            </a:extLst>
          </p:cNvPr>
          <p:cNvSpPr>
            <a:spLocks noGrp="1"/>
          </p:cNvSpPr>
          <p:nvPr>
            <p:ph type="sldNum" sz="quarter" idx="4"/>
          </p:nvPr>
        </p:nvSpPr>
        <p:spPr/>
        <p:txBody>
          <a:bodyPr/>
          <a:lstStyle/>
          <a:p>
            <a:fld id="{06F33280-3E80-482D-8576-4ABC99412ED4}" type="slidenum">
              <a:rPr lang="ja-JP" altLang="en-US" smtClean="0"/>
              <a:pPr/>
              <a:t>8</a:t>
            </a:fld>
            <a:endParaRPr lang="ja-JP" altLang="en-US"/>
          </a:p>
        </p:txBody>
      </p:sp>
      <p:sp>
        <p:nvSpPr>
          <p:cNvPr id="3" name="テキスト ボックス 2">
            <a:extLst>
              <a:ext uri="{FF2B5EF4-FFF2-40B4-BE49-F238E27FC236}">
                <a16:creationId xmlns:a16="http://schemas.microsoft.com/office/drawing/2014/main" id="{29066987-52CC-4963-9884-7A84F21F92F5}"/>
              </a:ext>
            </a:extLst>
          </p:cNvPr>
          <p:cNvSpPr txBox="1"/>
          <p:nvPr/>
        </p:nvSpPr>
        <p:spPr>
          <a:xfrm>
            <a:off x="508000" y="825500"/>
            <a:ext cx="11176000" cy="444500"/>
          </a:xfrm>
          <a:prstGeom prst="rect">
            <a:avLst/>
          </a:prstGeom>
          <a:noFill/>
        </p:spPr>
        <p:txBody>
          <a:bodyPr vertOverflow="overflow" vert="horz" wrap="square" rtlCol="0" anchor="t">
            <a:spAutoFit/>
          </a:bodyPr>
          <a:lstStyle/>
          <a:p>
            <a:pPr algn="l"/>
            <a:r>
              <a:rPr lang="ja-JP" altLang="en-US" sz="1600">
                <a:solidFill>
                  <a:srgbClr val="333333"/>
                </a:solidFill>
                <a:latin typeface="Meiryo UI"/>
                <a:ea typeface="Meiryo UI"/>
              </a:rPr>
              <a:t>セキュリティスキャンは以下の 4 フェーズで実行されます。</a:t>
            </a:r>
          </a:p>
        </p:txBody>
      </p:sp>
      <p:sp>
        <p:nvSpPr>
          <p:cNvPr id="4" name="四角形: 角を丸くする 3">
            <a:extLst>
              <a:ext uri="{FF2B5EF4-FFF2-40B4-BE49-F238E27FC236}">
                <a16:creationId xmlns:a16="http://schemas.microsoft.com/office/drawing/2014/main" id="{5154A03A-347B-4540-9B3A-FCB3592F8944}"/>
              </a:ext>
            </a:extLst>
          </p:cNvPr>
          <p:cNvSpPr/>
          <p:nvPr/>
        </p:nvSpPr>
        <p:spPr bwMode="auto">
          <a:xfrm>
            <a:off x="533400" y="1460500"/>
            <a:ext cx="3492500" cy="1905000"/>
          </a:xfrm>
          <a:prstGeom prst="roundRect">
            <a:avLst/>
          </a:prstGeom>
          <a:solidFill>
            <a:srgbClr val="C00000"/>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algn="ctr">
              <a:buNone/>
            </a:pPr>
            <a:r>
              <a:rPr lang="en-US" altLang="ja-JP" sz="2000" b="1" dirty="0">
                <a:solidFill>
                  <a:srgbClr val="FFFFFF"/>
                </a:solidFill>
                <a:latin typeface="Meiryo UI"/>
                <a:ea typeface="Meiryo UI"/>
              </a:rPr>
              <a:t>Phase 1</a:t>
            </a:r>
          </a:p>
          <a:p>
            <a:pPr algn="ctr">
              <a:buNone/>
            </a:pPr>
            <a:r>
              <a:rPr lang="ja-JP" altLang="en-US" sz="1400" dirty="0">
                <a:solidFill>
                  <a:srgbClr val="FFFFFF"/>
                </a:solidFill>
                <a:latin typeface="Meiryo UI"/>
                <a:ea typeface="Meiryo UI"/>
              </a:rPr>
              <a:t>プロジェクト検出</a:t>
            </a:r>
          </a:p>
          <a:p>
            <a:pPr algn="ctr">
              <a:buNone/>
            </a:pPr>
            <a:endParaRPr lang="ja-JP" altLang="en-US" sz="800" dirty="0">
              <a:solidFill>
                <a:srgbClr val="FFFFFF"/>
              </a:solidFill>
              <a:latin typeface="Meiryo UI"/>
              <a:ea typeface="Meiryo UI"/>
            </a:endParaRPr>
          </a:p>
          <a:p>
            <a:pPr algn="ctr">
              <a:buNone/>
            </a:pPr>
            <a:r>
              <a:rPr lang="ja-JP" altLang="en-US" sz="1400" dirty="0">
                <a:solidFill>
                  <a:srgbClr val="FFFFFF"/>
                </a:solidFill>
                <a:latin typeface="Meiryo UI"/>
                <a:ea typeface="Meiryo UI"/>
              </a:rPr>
              <a:t>package.json +</a:t>
            </a:r>
          </a:p>
          <a:p>
            <a:pPr algn="ctr">
              <a:buNone/>
            </a:pPr>
            <a:r>
              <a:rPr lang="ja-JP" altLang="en-US" sz="1400" dirty="0">
                <a:solidFill>
                  <a:srgbClr val="FFFFFF"/>
                </a:solidFill>
                <a:latin typeface="Meiryo UI"/>
                <a:ea typeface="Meiryo UI"/>
              </a:rPr>
              <a:t>ディレクトリ構造分析</a:t>
            </a:r>
          </a:p>
        </p:txBody>
      </p:sp>
      <p:sp>
        <p:nvSpPr>
          <p:cNvPr id="5" name="四角形: 角を丸くする 4">
            <a:extLst>
              <a:ext uri="{FF2B5EF4-FFF2-40B4-BE49-F238E27FC236}">
                <a16:creationId xmlns:a16="http://schemas.microsoft.com/office/drawing/2014/main" id="{8C7DCB01-E099-4D76-8D66-CDB22396D3F5}"/>
              </a:ext>
            </a:extLst>
          </p:cNvPr>
          <p:cNvSpPr/>
          <p:nvPr/>
        </p:nvSpPr>
        <p:spPr bwMode="auto">
          <a:xfrm>
            <a:off x="4241800" y="1460500"/>
            <a:ext cx="3492500" cy="1905000"/>
          </a:xfrm>
          <a:prstGeom prst="roundRect">
            <a:avLst/>
          </a:prstGeom>
          <a:solidFill>
            <a:srgbClr val="BF8F00"/>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algn="ctr">
              <a:buNone/>
            </a:pPr>
            <a:r>
              <a:rPr lang="en-US" altLang="ja-JP" sz="2000" b="1" dirty="0">
                <a:solidFill>
                  <a:srgbClr val="FFFFFF"/>
                </a:solidFill>
                <a:latin typeface="Meiryo UI"/>
                <a:ea typeface="Meiryo UI"/>
              </a:rPr>
              <a:t>Phase 2</a:t>
            </a:r>
          </a:p>
          <a:p>
            <a:pPr algn="ctr">
              <a:buNone/>
            </a:pPr>
            <a:r>
              <a:rPr lang="ja-JP" altLang="en-US" sz="1400" dirty="0">
                <a:solidFill>
                  <a:srgbClr val="FFFFFF"/>
                </a:solidFill>
                <a:latin typeface="Meiryo UI"/>
                <a:ea typeface="Meiryo UI"/>
              </a:rPr>
              <a:t>プロンプト生成</a:t>
            </a:r>
          </a:p>
          <a:p>
            <a:pPr algn="ctr">
              <a:buNone/>
            </a:pPr>
            <a:endParaRPr lang="ja-JP" altLang="en-US" sz="800" dirty="0">
              <a:solidFill>
                <a:srgbClr val="FFFFFF"/>
              </a:solidFill>
              <a:latin typeface="Meiryo UI"/>
              <a:ea typeface="Meiryo UI"/>
            </a:endParaRPr>
          </a:p>
          <a:p>
            <a:pPr algn="ctr">
              <a:buNone/>
            </a:pPr>
            <a:r>
              <a:rPr lang="ja-JP" altLang="en-US" sz="1400" dirty="0">
                <a:solidFill>
                  <a:srgbClr val="FFFFFF"/>
                </a:solidFill>
                <a:latin typeface="Meiryo UI"/>
                <a:ea typeface="Meiryo UI"/>
              </a:rPr>
              <a:t>判定結果に応じた</a:t>
            </a:r>
          </a:p>
          <a:p>
            <a:pPr algn="ctr">
              <a:buNone/>
            </a:pPr>
            <a:r>
              <a:rPr lang="ja-JP" altLang="en-US" sz="1400" dirty="0">
                <a:solidFill>
                  <a:srgbClr val="FFFFFF"/>
                </a:solidFill>
                <a:latin typeface="Meiryo UI"/>
                <a:ea typeface="Meiryo UI"/>
              </a:rPr>
              <a:t>チェックリスト選択</a:t>
            </a:r>
          </a:p>
        </p:txBody>
      </p:sp>
      <p:sp>
        <p:nvSpPr>
          <p:cNvPr id="7" name="四角形: 角を丸くする 6">
            <a:extLst>
              <a:ext uri="{FF2B5EF4-FFF2-40B4-BE49-F238E27FC236}">
                <a16:creationId xmlns:a16="http://schemas.microsoft.com/office/drawing/2014/main" id="{E886D06F-68EB-4092-AEBD-013F1B6EF626}"/>
              </a:ext>
            </a:extLst>
          </p:cNvPr>
          <p:cNvSpPr/>
          <p:nvPr/>
        </p:nvSpPr>
        <p:spPr bwMode="auto">
          <a:xfrm>
            <a:off x="7950200" y="1460500"/>
            <a:ext cx="3492500" cy="1905000"/>
          </a:xfrm>
          <a:prstGeom prst="roundRect">
            <a:avLst/>
          </a:prstGeom>
          <a:solidFill>
            <a:srgbClr val="548235"/>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algn="ctr">
              <a:buNone/>
            </a:pPr>
            <a:r>
              <a:rPr lang="en-US" altLang="ja-JP" sz="2000" b="1" dirty="0">
                <a:solidFill>
                  <a:srgbClr val="FFFFFF"/>
                </a:solidFill>
                <a:latin typeface="Meiryo UI"/>
                <a:ea typeface="Meiryo UI"/>
              </a:rPr>
              <a:t>Phase 3-4</a:t>
            </a:r>
          </a:p>
          <a:p>
            <a:pPr algn="ctr">
              <a:buNone/>
            </a:pPr>
            <a:r>
              <a:rPr lang="ja-JP" altLang="en-US" sz="1400" dirty="0">
                <a:solidFill>
                  <a:srgbClr val="FFFFFF"/>
                </a:solidFill>
                <a:latin typeface="Meiryo UI"/>
                <a:ea typeface="Meiryo UI"/>
              </a:rPr>
              <a:t>コード分析・レポート</a:t>
            </a:r>
          </a:p>
          <a:p>
            <a:pPr algn="ctr">
              <a:buNone/>
            </a:pPr>
            <a:endParaRPr lang="ja-JP" altLang="en-US" sz="800" dirty="0">
              <a:solidFill>
                <a:srgbClr val="FFFFFF"/>
              </a:solidFill>
              <a:latin typeface="Meiryo UI"/>
              <a:ea typeface="Meiryo UI"/>
            </a:endParaRPr>
          </a:p>
          <a:p>
            <a:pPr algn="ctr">
              <a:buNone/>
            </a:pPr>
            <a:r>
              <a:rPr lang="en-US" altLang="ja-JP" sz="1400" dirty="0">
                <a:solidFill>
                  <a:srgbClr val="FFFFFF"/>
                </a:solidFill>
                <a:latin typeface="Meiryo UI"/>
                <a:ea typeface="Meiryo UI"/>
              </a:rPr>
              <a:t>Claude AI + MCP Serena</a:t>
            </a:r>
          </a:p>
          <a:p>
            <a:pPr algn="ctr">
              <a:buNone/>
            </a:pPr>
            <a:r>
              <a:rPr lang="ja-JP" altLang="en-US" sz="1400" dirty="0">
                <a:solidFill>
                  <a:srgbClr val="FFFFFF"/>
                </a:solidFill>
                <a:latin typeface="Meiryo UI"/>
                <a:ea typeface="Meiryo UI"/>
              </a:rPr>
              <a:t>→ 脆弱性検出・レポート生成</a:t>
            </a:r>
          </a:p>
        </p:txBody>
      </p:sp>
      <p:sp>
        <p:nvSpPr>
          <p:cNvPr id="8" name="テキスト ボックス 7">
            <a:extLst>
              <a:ext uri="{FF2B5EF4-FFF2-40B4-BE49-F238E27FC236}">
                <a16:creationId xmlns:a16="http://schemas.microsoft.com/office/drawing/2014/main" id="{605B2289-82D4-49C6-AE7C-AD3E8B44C313}"/>
              </a:ext>
            </a:extLst>
          </p:cNvPr>
          <p:cNvSpPr txBox="1"/>
          <p:nvPr/>
        </p:nvSpPr>
        <p:spPr>
          <a:xfrm>
            <a:off x="508000" y="3556000"/>
            <a:ext cx="11176000" cy="355600"/>
          </a:xfrm>
          <a:prstGeom prst="rect">
            <a:avLst/>
          </a:prstGeom>
          <a:noFill/>
        </p:spPr>
        <p:txBody>
          <a:bodyPr vertOverflow="overflow" vert="horz" wrap="square" rtlCol="0" anchor="t">
            <a:spAutoFit/>
          </a:bodyPr>
          <a:lstStyle/>
          <a:p>
            <a:pPr algn="l"/>
            <a:r>
              <a:rPr lang="ja-JP" altLang="en-US" sz="1600">
                <a:solidFill>
                  <a:srgbClr val="2F5496"/>
                </a:solidFill>
                <a:latin typeface="Meiryo UI"/>
                <a:ea typeface="Meiryo UI"/>
              </a:rPr>
              <a:t>レポート構成</a:t>
            </a:r>
          </a:p>
        </p:txBody>
      </p:sp>
      <p:graphicFrame>
        <p:nvGraphicFramePr>
          <p:cNvPr id="10" name="表 9">
            <a:extLst>
              <a:ext uri="{FF2B5EF4-FFF2-40B4-BE49-F238E27FC236}">
                <a16:creationId xmlns:a16="http://schemas.microsoft.com/office/drawing/2014/main" id="{A4C05558-9378-48A7-BA46-8207B0007ECC}"/>
              </a:ext>
            </a:extLst>
          </p:cNvPr>
          <p:cNvGraphicFramePr>
            <a:graphicFrameLocks noGrp="1"/>
          </p:cNvGraphicFramePr>
          <p:nvPr>
            <p:extLst>
              <p:ext uri="{D42A27DB-BD31-4B8C-83A1-F6EECF244321}">
                <p14:modId xmlns:p14="http://schemas.microsoft.com/office/powerpoint/2010/main" val="3797685207"/>
              </p:ext>
            </p:extLst>
          </p:nvPr>
        </p:nvGraphicFramePr>
        <p:xfrm>
          <a:off x="508000" y="3962400"/>
          <a:ext cx="11176000" cy="1651000"/>
        </p:xfrm>
        <a:graphic>
          <a:graphicData uri="http://schemas.openxmlformats.org/drawingml/2006/table">
            <a:tbl>
              <a:tblPr firstRow="1" bandRow="1">
                <a:tableStyleId>{8EC20E35-A176-4012-BC5E-935CFFF8708E}</a:tableStyleId>
              </a:tblPr>
              <a:tblGrid>
                <a:gridCol w="3302000">
                  <a:extLst>
                    <a:ext uri="{9D8B030D-6E8A-4147-A177-3AD203B41FA5}">
                      <a16:colId xmlns:a16="http://schemas.microsoft.com/office/drawing/2014/main" val="1543941249"/>
                    </a:ext>
                  </a:extLst>
                </a:gridCol>
                <a:gridCol w="7874000">
                  <a:extLst>
                    <a:ext uri="{9D8B030D-6E8A-4147-A177-3AD203B41FA5}">
                      <a16:colId xmlns:a16="http://schemas.microsoft.com/office/drawing/2014/main" val="1892730462"/>
                    </a:ext>
                  </a:extLst>
                </a:gridCol>
              </a:tblGrid>
              <a:tr h="330200">
                <a:tc>
                  <a:txBody>
                    <a:bodyPr/>
                    <a:lstStyle/>
                    <a:p>
                      <a:pPr algn="ctr"/>
                      <a:r>
                        <a:rPr lang="ja-JP" altLang="en-US" sz="1400" b="1">
                          <a:solidFill>
                            <a:srgbClr val="FFFFFF"/>
                          </a:solidFill>
                          <a:latin typeface="Meiryo UI"/>
                          <a:ea typeface="Meiryo UI"/>
                        </a:rPr>
                        <a:t>セクション</a:t>
                      </a:r>
                    </a:p>
                  </a:txBody>
                  <a:tcPr anchor="ctr">
                    <a:solidFill>
                      <a:srgbClr val="2F5496"/>
                    </a:solidFill>
                  </a:tcPr>
                </a:tc>
                <a:tc>
                  <a:txBody>
                    <a:bodyPr/>
                    <a:lstStyle/>
                    <a:p>
                      <a:pPr algn="ctr"/>
                      <a:r>
                        <a:rPr lang="ja-JP" altLang="en-US" sz="1400" b="1">
                          <a:solidFill>
                            <a:srgbClr val="FFFFFF"/>
                          </a:solidFill>
                          <a:latin typeface="Meiryo UI"/>
                          <a:ea typeface="Meiryo UI"/>
                        </a:rPr>
                        <a:t>内容</a:t>
                      </a:r>
                    </a:p>
                  </a:txBody>
                  <a:tcPr anchor="ctr">
                    <a:solidFill>
                      <a:srgbClr val="2F5496"/>
                    </a:solidFill>
                  </a:tcPr>
                </a:tc>
                <a:extLst>
                  <a:ext uri="{0D108BD9-81ED-4DB2-BD59-A6C34878D82A}">
                    <a16:rowId xmlns:a16="http://schemas.microsoft.com/office/drawing/2014/main" val="907959080"/>
                  </a:ext>
                </a:extLst>
              </a:tr>
              <a:tr h="330200">
                <a:tc>
                  <a:txBody>
                    <a:bodyPr/>
                    <a:lstStyle/>
                    <a:p>
                      <a:r>
                        <a:rPr lang="ja-JP" altLang="en-US" sz="1400">
                          <a:solidFill>
                            <a:srgbClr val="333333"/>
                          </a:solidFill>
                          <a:latin typeface="Meiryo UI"/>
                          <a:ea typeface="Meiryo UI"/>
                        </a:rPr>
                        <a:t>エグゼクティブサマリー</a:t>
                      </a:r>
                    </a:p>
                  </a:txBody>
                  <a:tcPr anchor="ctr"/>
                </a:tc>
                <a:tc>
                  <a:txBody>
                    <a:bodyPr/>
                    <a:lstStyle/>
                    <a:p>
                      <a:r>
                        <a:rPr lang="zh-TW" altLang="en-US" sz="1400">
                          <a:solidFill>
                            <a:srgbClr val="333333"/>
                          </a:solidFill>
                          <a:latin typeface="Meiryo UI"/>
                          <a:ea typeface="Meiryo UI"/>
                        </a:rPr>
                        <a:t>脆弱性総数（重要度別）、最重要問題、全体評価</a:t>
                      </a:r>
                      <a:endParaRPr lang="ja-JP" altLang="en-US" sz="1400">
                        <a:solidFill>
                          <a:srgbClr val="333333"/>
                        </a:solidFill>
                        <a:latin typeface="Meiryo UI"/>
                        <a:ea typeface="Meiryo UI"/>
                      </a:endParaRPr>
                    </a:p>
                  </a:txBody>
                  <a:tcPr anchor="ctr"/>
                </a:tc>
                <a:extLst>
                  <a:ext uri="{0D108BD9-81ED-4DB2-BD59-A6C34878D82A}">
                    <a16:rowId xmlns:a16="http://schemas.microsoft.com/office/drawing/2014/main" val="2264656962"/>
                  </a:ext>
                </a:extLst>
              </a:tr>
              <a:tr h="330200">
                <a:tc>
                  <a:txBody>
                    <a:bodyPr/>
                    <a:lstStyle/>
                    <a:p>
                      <a:r>
                        <a:rPr lang="ja-JP" altLang="en-US" sz="1400">
                          <a:solidFill>
                            <a:srgbClr val="333333"/>
                          </a:solidFill>
                          <a:latin typeface="Meiryo UI"/>
                          <a:ea typeface="Meiryo UI"/>
                        </a:rPr>
                        <a:t>詳細な脆弱性リスト</a:t>
                      </a:r>
                    </a:p>
                  </a:txBody>
                  <a:tcPr anchor="ctr">
                    <a:solidFill>
                      <a:srgbClr val="F2F2F2"/>
                    </a:solidFill>
                  </a:tcPr>
                </a:tc>
                <a:tc>
                  <a:txBody>
                    <a:bodyPr/>
                    <a:lstStyle/>
                    <a:p>
                      <a:r>
                        <a:rPr lang="ja-JP" altLang="en-US" sz="1400">
                          <a:solidFill>
                            <a:srgbClr val="333333"/>
                          </a:solidFill>
                          <a:latin typeface="Meiryo UI"/>
                          <a:ea typeface="Meiryo UI"/>
                        </a:rPr>
                        <a:t>重要度順に各脆弱性の詳細（場所、影響、修正提案、コード例）</a:t>
                      </a:r>
                    </a:p>
                  </a:txBody>
                  <a:tcPr anchor="ctr">
                    <a:solidFill>
                      <a:srgbClr val="F2F2F2"/>
                    </a:solidFill>
                  </a:tcPr>
                </a:tc>
                <a:extLst>
                  <a:ext uri="{0D108BD9-81ED-4DB2-BD59-A6C34878D82A}">
                    <a16:rowId xmlns:a16="http://schemas.microsoft.com/office/drawing/2014/main" val="395741890"/>
                  </a:ext>
                </a:extLst>
              </a:tr>
              <a:tr h="330200">
                <a:tc>
                  <a:txBody>
                    <a:bodyPr/>
                    <a:lstStyle/>
                    <a:p>
                      <a:r>
                        <a:rPr lang="ja-JP" altLang="en-US" sz="1400">
                          <a:solidFill>
                            <a:srgbClr val="333333"/>
                          </a:solidFill>
                          <a:latin typeface="Meiryo UI"/>
                          <a:ea typeface="Meiryo UI"/>
                        </a:rPr>
                        <a:t>ベストプラクティス</a:t>
                      </a:r>
                    </a:p>
                  </a:txBody>
                  <a:tcPr anchor="ctr"/>
                </a:tc>
                <a:tc>
                  <a:txBody>
                    <a:bodyPr/>
                    <a:lstStyle/>
                    <a:p>
                      <a:r>
                        <a:rPr lang="ja-JP" altLang="en-US" sz="1400">
                          <a:solidFill>
                            <a:srgbClr val="333333"/>
                          </a:solidFill>
                          <a:latin typeface="Meiryo UI"/>
                          <a:ea typeface="Meiryo UI"/>
                        </a:rPr>
                        <a:t>セキュリティヘッダー、入力検証、監視強化の推奨</a:t>
                      </a:r>
                    </a:p>
                  </a:txBody>
                  <a:tcPr anchor="ctr"/>
                </a:tc>
                <a:extLst>
                  <a:ext uri="{0D108BD9-81ED-4DB2-BD59-A6C34878D82A}">
                    <a16:rowId xmlns:a16="http://schemas.microsoft.com/office/drawing/2014/main" val="3317721748"/>
                  </a:ext>
                </a:extLst>
              </a:tr>
              <a:tr h="330200">
                <a:tc>
                  <a:txBody>
                    <a:bodyPr/>
                    <a:lstStyle/>
                    <a:p>
                      <a:r>
                        <a:rPr lang="ja-JP" altLang="en-US" sz="1400">
                          <a:solidFill>
                            <a:srgbClr val="333333"/>
                          </a:solidFill>
                          <a:latin typeface="Meiryo UI"/>
                          <a:ea typeface="Meiryo UI"/>
                        </a:rPr>
                        <a:t>アクションプラン</a:t>
                      </a:r>
                    </a:p>
                  </a:txBody>
                  <a:tcPr anchor="ctr"/>
                </a:tc>
                <a:tc>
                  <a:txBody>
                    <a:bodyPr/>
                    <a:lstStyle/>
                    <a:p>
                      <a:r>
                        <a:rPr lang="ja-JP" altLang="en-US" sz="1400">
                          <a:solidFill>
                            <a:srgbClr val="333333"/>
                          </a:solidFill>
                          <a:latin typeface="Meiryo UI"/>
                          <a:ea typeface="Meiryo UI"/>
                        </a:rPr>
                        <a:t>短期（</a:t>
                      </a:r>
                      <a:r>
                        <a:rPr lang="en-US" altLang="ja-JP" sz="1400">
                          <a:solidFill>
                            <a:srgbClr val="333333"/>
                          </a:solidFill>
                          <a:latin typeface="Meiryo UI"/>
                          <a:ea typeface="Meiryo UI"/>
                        </a:rPr>
                        <a:t>1</a:t>
                      </a:r>
                      <a:r>
                        <a:rPr lang="ja-JP" altLang="en-US" sz="1400">
                          <a:solidFill>
                            <a:srgbClr val="333333"/>
                          </a:solidFill>
                          <a:latin typeface="Meiryo UI"/>
                          <a:ea typeface="Meiryo UI"/>
                        </a:rPr>
                        <a:t>週間）</a:t>
                      </a:r>
                      <a:r>
                        <a:rPr lang="en-US" altLang="ja-JP" sz="1400">
                          <a:solidFill>
                            <a:srgbClr val="333333"/>
                          </a:solidFill>
                          <a:latin typeface="Meiryo UI"/>
                          <a:ea typeface="Meiryo UI"/>
                        </a:rPr>
                        <a:t>/ </a:t>
                      </a:r>
                      <a:r>
                        <a:rPr lang="ja-JP" altLang="en-US" sz="1400">
                          <a:solidFill>
                            <a:srgbClr val="333333"/>
                          </a:solidFill>
                          <a:latin typeface="Meiryo UI"/>
                          <a:ea typeface="Meiryo UI"/>
                        </a:rPr>
                        <a:t>中期（</a:t>
                      </a:r>
                      <a:r>
                        <a:rPr lang="en-US" altLang="ja-JP" sz="1400">
                          <a:solidFill>
                            <a:srgbClr val="333333"/>
                          </a:solidFill>
                          <a:latin typeface="Meiryo UI"/>
                          <a:ea typeface="Meiryo UI"/>
                        </a:rPr>
                        <a:t>1</a:t>
                      </a:r>
                      <a:r>
                        <a:rPr lang="ja-JP" altLang="en-US" sz="1400">
                          <a:solidFill>
                            <a:srgbClr val="333333"/>
                          </a:solidFill>
                          <a:latin typeface="Meiryo UI"/>
                          <a:ea typeface="Meiryo UI"/>
                        </a:rPr>
                        <a:t>ヶ月）</a:t>
                      </a:r>
                      <a:r>
                        <a:rPr lang="en-US" altLang="ja-JP" sz="1400">
                          <a:solidFill>
                            <a:srgbClr val="333333"/>
                          </a:solidFill>
                          <a:latin typeface="Meiryo UI"/>
                          <a:ea typeface="Meiryo UI"/>
                        </a:rPr>
                        <a:t>/ </a:t>
                      </a:r>
                      <a:r>
                        <a:rPr lang="ja-JP" altLang="en-US" sz="1400">
                          <a:solidFill>
                            <a:srgbClr val="333333"/>
                          </a:solidFill>
                          <a:latin typeface="Meiryo UI"/>
                          <a:ea typeface="Meiryo UI"/>
                        </a:rPr>
                        <a:t>長期（</a:t>
                      </a:r>
                      <a:r>
                        <a:rPr lang="en-US" altLang="ja-JP" sz="1400">
                          <a:solidFill>
                            <a:srgbClr val="333333"/>
                          </a:solidFill>
                          <a:latin typeface="Meiryo UI"/>
                          <a:ea typeface="Meiryo UI"/>
                        </a:rPr>
                        <a:t>3</a:t>
                      </a:r>
                      <a:r>
                        <a:rPr lang="ja-JP" altLang="en-US" sz="1400">
                          <a:solidFill>
                            <a:srgbClr val="333333"/>
                          </a:solidFill>
                          <a:latin typeface="Meiryo UI"/>
                          <a:ea typeface="Meiryo UI"/>
                        </a:rPr>
                        <a:t>ヶ月）の修正ロードマップ</a:t>
                      </a:r>
                    </a:p>
                  </a:txBody>
                  <a:tcPr anchor="ctr"/>
                </a:tc>
                <a:extLst>
                  <a:ext uri="{0D108BD9-81ED-4DB2-BD59-A6C34878D82A}">
                    <a16:rowId xmlns:a16="http://schemas.microsoft.com/office/drawing/2014/main" val="1366879593"/>
                  </a:ext>
                </a:extLst>
              </a:tr>
            </a:tbl>
          </a:graphicData>
        </a:graphic>
      </p:graphicFrame>
    </p:spTree>
    <p:extLst>
      <p:ext uri="{BB962C8B-B14F-4D97-AF65-F5344CB8AC3E}">
        <p14:creationId xmlns:p14="http://schemas.microsoft.com/office/powerpoint/2010/main" val="356297182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E0C7-0EFD-BF7B-5529-331E29C1BB00}"/>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4EE7E622-3FF6-03E6-B591-241197BF9808}"/>
              </a:ext>
            </a:extLst>
          </p:cNvPr>
          <p:cNvSpPr/>
          <p:nvPr/>
        </p:nvSpPr>
        <p:spPr>
          <a:xfrm>
            <a:off x="411480" y="111978"/>
            <a:ext cx="4506362" cy="584775"/>
          </a:xfrm>
          <a:prstGeom prst="rect">
            <a:avLst/>
          </a:prstGeom>
        </p:spPr>
        <p:txBody>
          <a:bodyPr wrap="none" lIns="91440" tIns="45720" rIns="91440" bIns="45720" anchor="t">
            <a:spAutoFit/>
          </a:bodyPr>
          <a:lstStyle/>
          <a:p>
            <a:r>
              <a:rPr lang="ja-JP" altLang="en-US" sz="3200" b="1" dirty="0">
                <a:latin typeface="Meiryo UI" panose="020B0604030504040204" pitchFamily="50" charset="-128"/>
                <a:ea typeface="Meiryo UI" panose="020B0604030504040204" pitchFamily="50" charset="-128"/>
              </a:rPr>
              <a:t>処理時間の目安・制約事項</a:t>
            </a:r>
          </a:p>
        </p:txBody>
      </p:sp>
      <p:sp>
        <p:nvSpPr>
          <p:cNvPr id="6" name="スライド番号プレースホルダー 5">
            <a:extLst>
              <a:ext uri="{FF2B5EF4-FFF2-40B4-BE49-F238E27FC236}">
                <a16:creationId xmlns:a16="http://schemas.microsoft.com/office/drawing/2014/main" id="{38236E57-C4B5-6A32-F451-126659E8A561}"/>
              </a:ext>
            </a:extLst>
          </p:cNvPr>
          <p:cNvSpPr>
            <a:spLocks noGrp="1"/>
          </p:cNvSpPr>
          <p:nvPr>
            <p:ph type="sldNum" sz="quarter" idx="4"/>
          </p:nvPr>
        </p:nvSpPr>
        <p:spPr/>
        <p:txBody>
          <a:bodyPr/>
          <a:lstStyle/>
          <a:p>
            <a:fld id="{06F33280-3E80-482D-8576-4ABC99412ED4}" type="slidenum">
              <a:rPr lang="ja-JP" altLang="en-US" smtClean="0"/>
              <a:pPr/>
              <a:t>9</a:t>
            </a:fld>
            <a:endParaRPr lang="ja-JP" altLang="en-US"/>
          </a:p>
        </p:txBody>
      </p:sp>
      <p:sp>
        <p:nvSpPr>
          <p:cNvPr id="3" name="テキスト ボックス 2">
            <a:extLst>
              <a:ext uri="{FF2B5EF4-FFF2-40B4-BE49-F238E27FC236}">
                <a16:creationId xmlns:a16="http://schemas.microsoft.com/office/drawing/2014/main" id="{88D8D4E5-A3F1-427F-BB87-CB0F82BB35DD}"/>
              </a:ext>
            </a:extLst>
          </p:cNvPr>
          <p:cNvSpPr txBox="1"/>
          <p:nvPr/>
        </p:nvSpPr>
        <p:spPr>
          <a:xfrm>
            <a:off x="508000" y="825500"/>
            <a:ext cx="11176000" cy="355600"/>
          </a:xfrm>
          <a:prstGeom prst="rect">
            <a:avLst/>
          </a:prstGeom>
          <a:noFill/>
        </p:spPr>
        <p:txBody>
          <a:bodyPr vertOverflow="overflow" vert="horz" wrap="square" rtlCol="0" anchor="t">
            <a:spAutoFit/>
          </a:bodyPr>
          <a:lstStyle/>
          <a:p>
            <a:pPr algn="l"/>
            <a:r>
              <a:rPr lang="ja-JP" altLang="en-US">
                <a:solidFill>
                  <a:srgbClr val="2F5496"/>
                </a:solidFill>
                <a:latin typeface="Meiryo UI"/>
                <a:ea typeface="Meiryo UI"/>
              </a:rPr>
              <a:t>処理時間の目安</a:t>
            </a:r>
          </a:p>
        </p:txBody>
      </p:sp>
      <p:graphicFrame>
        <p:nvGraphicFramePr>
          <p:cNvPr id="5" name="表 4">
            <a:extLst>
              <a:ext uri="{FF2B5EF4-FFF2-40B4-BE49-F238E27FC236}">
                <a16:creationId xmlns:a16="http://schemas.microsoft.com/office/drawing/2014/main" id="{0BCE4C03-EF58-45E9-B133-BDF03FF0DC34}"/>
              </a:ext>
            </a:extLst>
          </p:cNvPr>
          <p:cNvGraphicFramePr>
            <a:graphicFrameLocks noGrp="1"/>
          </p:cNvGraphicFramePr>
          <p:nvPr/>
        </p:nvGraphicFramePr>
        <p:xfrm>
          <a:off x="508000" y="1270000"/>
          <a:ext cx="11176000" cy="2095500"/>
        </p:xfrm>
        <a:graphic>
          <a:graphicData uri="http://schemas.openxmlformats.org/drawingml/2006/table">
            <a:tbl>
              <a:tblPr firstRow="1" bandRow="1">
                <a:tableStyleId>{8EC20E35-A176-4012-BC5E-935CFFF8708E}</a:tableStyleId>
              </a:tblPr>
              <a:tblGrid>
                <a:gridCol w="2540000">
                  <a:extLst>
                    <a:ext uri="{9D8B030D-6E8A-4147-A177-3AD203B41FA5}">
                      <a16:colId xmlns:a16="http://schemas.microsoft.com/office/drawing/2014/main" val="1714597042"/>
                    </a:ext>
                  </a:extLst>
                </a:gridCol>
                <a:gridCol w="4826000">
                  <a:extLst>
                    <a:ext uri="{9D8B030D-6E8A-4147-A177-3AD203B41FA5}">
                      <a16:colId xmlns:a16="http://schemas.microsoft.com/office/drawing/2014/main" val="1564840408"/>
                    </a:ext>
                  </a:extLst>
                </a:gridCol>
                <a:gridCol w="3810000">
                  <a:extLst>
                    <a:ext uri="{9D8B030D-6E8A-4147-A177-3AD203B41FA5}">
                      <a16:colId xmlns:a16="http://schemas.microsoft.com/office/drawing/2014/main" val="810782726"/>
                    </a:ext>
                  </a:extLst>
                </a:gridCol>
              </a:tblGrid>
              <a:tr h="523875">
                <a:tc>
                  <a:txBody>
                    <a:bodyPr/>
                    <a:lstStyle/>
                    <a:p>
                      <a:pPr algn="ctr"/>
                      <a:r>
                        <a:rPr lang="ja-JP" altLang="en-US" sz="1600" b="1">
                          <a:solidFill>
                            <a:srgbClr val="FFFFFF"/>
                          </a:solidFill>
                          <a:latin typeface="Meiryo UI"/>
                          <a:ea typeface="Meiryo UI"/>
                        </a:rPr>
                        <a:t>規模</a:t>
                      </a:r>
                    </a:p>
                  </a:txBody>
                  <a:tcPr anchor="ctr">
                    <a:solidFill>
                      <a:srgbClr val="2F5496"/>
                    </a:solidFill>
                  </a:tcPr>
                </a:tc>
                <a:tc>
                  <a:txBody>
                    <a:bodyPr/>
                    <a:lstStyle/>
                    <a:p>
                      <a:pPr algn="ctr"/>
                      <a:r>
                        <a:rPr lang="ja-JP" altLang="en-US" sz="1600" b="1">
                          <a:solidFill>
                            <a:srgbClr val="FFFFFF"/>
                          </a:solidFill>
                          <a:latin typeface="Meiryo UI"/>
                          <a:ea typeface="Meiryo UI"/>
                        </a:rPr>
                        <a:t>目安</a:t>
                      </a:r>
                    </a:p>
                  </a:txBody>
                  <a:tcPr anchor="ctr">
                    <a:solidFill>
                      <a:srgbClr val="2F5496"/>
                    </a:solidFill>
                  </a:tcPr>
                </a:tc>
                <a:tc>
                  <a:txBody>
                    <a:bodyPr/>
                    <a:lstStyle/>
                    <a:p>
                      <a:pPr algn="ctr"/>
                      <a:r>
                        <a:rPr lang="ja-JP" altLang="en-US" sz="1600" b="1">
                          <a:solidFill>
                            <a:srgbClr val="FFFFFF"/>
                          </a:solidFill>
                          <a:latin typeface="Meiryo UI"/>
                          <a:ea typeface="Meiryo UI"/>
                        </a:rPr>
                        <a:t>処理時間</a:t>
                      </a:r>
                    </a:p>
                  </a:txBody>
                  <a:tcPr anchor="ctr">
                    <a:solidFill>
                      <a:srgbClr val="2F5496"/>
                    </a:solidFill>
                  </a:tcPr>
                </a:tc>
                <a:extLst>
                  <a:ext uri="{0D108BD9-81ED-4DB2-BD59-A6C34878D82A}">
                    <a16:rowId xmlns:a16="http://schemas.microsoft.com/office/drawing/2014/main" val="2255427127"/>
                  </a:ext>
                </a:extLst>
              </a:tr>
              <a:tr h="523875">
                <a:tc>
                  <a:txBody>
                    <a:bodyPr/>
                    <a:lstStyle/>
                    <a:p>
                      <a:pPr algn="ctr"/>
                      <a:r>
                        <a:rPr lang="ja-JP" altLang="en-US" sz="1600" b="1">
                          <a:solidFill>
                            <a:srgbClr val="333333"/>
                          </a:solidFill>
                          <a:latin typeface="Meiryo UI"/>
                          <a:ea typeface="Meiryo UI"/>
                        </a:rPr>
                        <a:t>小規模</a:t>
                      </a:r>
                    </a:p>
                  </a:txBody>
                  <a:tcPr anchor="ctr"/>
                </a:tc>
                <a:tc>
                  <a:txBody>
                    <a:bodyPr/>
                    <a:lstStyle/>
                    <a:p>
                      <a:pPr algn="ctr"/>
                      <a:r>
                        <a:rPr lang="en-US" altLang="ja-JP" sz="1600">
                          <a:solidFill>
                            <a:srgbClr val="333333"/>
                          </a:solidFill>
                          <a:latin typeface="Meiryo UI"/>
                          <a:ea typeface="Meiryo UI"/>
                        </a:rPr>
                        <a:t>〜50 </a:t>
                      </a:r>
                      <a:r>
                        <a:rPr lang="ja-JP" altLang="en-US" sz="1600">
                          <a:solidFill>
                            <a:srgbClr val="333333"/>
                          </a:solidFill>
                          <a:latin typeface="Meiryo UI"/>
                          <a:ea typeface="Meiryo UI"/>
                        </a:rPr>
                        <a:t>ファイル</a:t>
                      </a:r>
                    </a:p>
                  </a:txBody>
                  <a:tcPr anchor="ctr"/>
                </a:tc>
                <a:tc>
                  <a:txBody>
                    <a:bodyPr/>
                    <a:lstStyle/>
                    <a:p>
                      <a:pPr algn="ctr"/>
                      <a:r>
                        <a:rPr lang="ja-JP" altLang="en-US" sz="1600">
                          <a:solidFill>
                            <a:srgbClr val="333333"/>
                          </a:solidFill>
                          <a:latin typeface="Meiryo UI"/>
                          <a:ea typeface="Meiryo UI"/>
                        </a:rPr>
                        <a:t>約 </a:t>
                      </a:r>
                      <a:r>
                        <a:rPr lang="en-US" altLang="ja-JP" sz="1600">
                          <a:solidFill>
                            <a:srgbClr val="333333"/>
                          </a:solidFill>
                          <a:latin typeface="Meiryo UI"/>
                          <a:ea typeface="Meiryo UI"/>
                        </a:rPr>
                        <a:t>10 </a:t>
                      </a:r>
                      <a:r>
                        <a:rPr lang="ja-JP" altLang="en-US" sz="1600">
                          <a:solidFill>
                            <a:srgbClr val="333333"/>
                          </a:solidFill>
                          <a:latin typeface="Meiryo UI"/>
                          <a:ea typeface="Meiryo UI"/>
                        </a:rPr>
                        <a:t>分</a:t>
                      </a:r>
                    </a:p>
                  </a:txBody>
                  <a:tcPr anchor="ctr"/>
                </a:tc>
                <a:extLst>
                  <a:ext uri="{0D108BD9-81ED-4DB2-BD59-A6C34878D82A}">
                    <a16:rowId xmlns:a16="http://schemas.microsoft.com/office/drawing/2014/main" val="2583336657"/>
                  </a:ext>
                </a:extLst>
              </a:tr>
              <a:tr h="523875">
                <a:tc>
                  <a:txBody>
                    <a:bodyPr/>
                    <a:lstStyle/>
                    <a:p>
                      <a:pPr algn="ctr"/>
                      <a:r>
                        <a:rPr lang="ja-JP" altLang="en-US" sz="1600" b="1">
                          <a:solidFill>
                            <a:srgbClr val="333333"/>
                          </a:solidFill>
                          <a:latin typeface="Meiryo UI"/>
                          <a:ea typeface="Meiryo UI"/>
                        </a:rPr>
                        <a:t>中規模</a:t>
                      </a:r>
                    </a:p>
                  </a:txBody>
                  <a:tcPr anchor="ctr">
                    <a:solidFill>
                      <a:srgbClr val="F2F2F2"/>
                    </a:solidFill>
                  </a:tcPr>
                </a:tc>
                <a:tc>
                  <a:txBody>
                    <a:bodyPr/>
                    <a:lstStyle/>
                    <a:p>
                      <a:pPr algn="ctr"/>
                      <a:r>
                        <a:rPr lang="en-US" altLang="ja-JP" sz="1600">
                          <a:solidFill>
                            <a:srgbClr val="333333"/>
                          </a:solidFill>
                          <a:latin typeface="Meiryo UI"/>
                          <a:ea typeface="Meiryo UI"/>
                        </a:rPr>
                        <a:t>50〜300 </a:t>
                      </a:r>
                      <a:r>
                        <a:rPr lang="ja-JP" altLang="en-US" sz="1600">
                          <a:solidFill>
                            <a:srgbClr val="333333"/>
                          </a:solidFill>
                          <a:latin typeface="Meiryo UI"/>
                          <a:ea typeface="Meiryo UI"/>
                        </a:rPr>
                        <a:t>ファイル</a:t>
                      </a:r>
                    </a:p>
                  </a:txBody>
                  <a:tcPr anchor="ctr">
                    <a:solidFill>
                      <a:srgbClr val="F2F2F2"/>
                    </a:solidFill>
                  </a:tcPr>
                </a:tc>
                <a:tc>
                  <a:txBody>
                    <a:bodyPr/>
                    <a:lstStyle/>
                    <a:p>
                      <a:pPr algn="ctr"/>
                      <a:r>
                        <a:rPr lang="en-US" altLang="ja-JP" sz="1600">
                          <a:solidFill>
                            <a:srgbClr val="333333"/>
                          </a:solidFill>
                          <a:latin typeface="Meiryo UI"/>
                          <a:ea typeface="Meiryo UI"/>
                        </a:rPr>
                        <a:t>10〜30 </a:t>
                      </a:r>
                      <a:r>
                        <a:rPr lang="ja-JP" altLang="en-US" sz="1600">
                          <a:solidFill>
                            <a:srgbClr val="333333"/>
                          </a:solidFill>
                          <a:latin typeface="Meiryo UI"/>
                          <a:ea typeface="Meiryo UI"/>
                        </a:rPr>
                        <a:t>分</a:t>
                      </a:r>
                    </a:p>
                  </a:txBody>
                  <a:tcPr anchor="ctr">
                    <a:solidFill>
                      <a:srgbClr val="F2F2F2"/>
                    </a:solidFill>
                  </a:tcPr>
                </a:tc>
                <a:extLst>
                  <a:ext uri="{0D108BD9-81ED-4DB2-BD59-A6C34878D82A}">
                    <a16:rowId xmlns:a16="http://schemas.microsoft.com/office/drawing/2014/main" val="1061576877"/>
                  </a:ext>
                </a:extLst>
              </a:tr>
              <a:tr h="523875">
                <a:tc>
                  <a:txBody>
                    <a:bodyPr/>
                    <a:lstStyle/>
                    <a:p>
                      <a:pPr algn="ctr"/>
                      <a:r>
                        <a:rPr lang="ja-JP" altLang="en-US" sz="1600" b="1">
                          <a:solidFill>
                            <a:srgbClr val="333333"/>
                          </a:solidFill>
                          <a:latin typeface="Meiryo UI"/>
                          <a:ea typeface="Meiryo UI"/>
                        </a:rPr>
                        <a:t>大規模</a:t>
                      </a:r>
                    </a:p>
                  </a:txBody>
                  <a:tcPr anchor="ctr"/>
                </a:tc>
                <a:tc>
                  <a:txBody>
                    <a:bodyPr/>
                    <a:lstStyle/>
                    <a:p>
                      <a:pPr algn="ctr"/>
                      <a:r>
                        <a:rPr lang="en-US" altLang="ja-JP" sz="1600">
                          <a:solidFill>
                            <a:srgbClr val="333333"/>
                          </a:solidFill>
                          <a:latin typeface="Meiryo UI"/>
                          <a:ea typeface="Meiryo UI"/>
                        </a:rPr>
                        <a:t>300 </a:t>
                      </a:r>
                      <a:r>
                        <a:rPr lang="ja-JP" altLang="en-US" sz="1600">
                          <a:solidFill>
                            <a:srgbClr val="333333"/>
                          </a:solidFill>
                          <a:latin typeface="Meiryo UI"/>
                          <a:ea typeface="Meiryo UI"/>
                        </a:rPr>
                        <a:t>ファイル</a:t>
                      </a:r>
                      <a:r>
                        <a:rPr lang="en-US" altLang="ja-JP" sz="1600">
                          <a:solidFill>
                            <a:srgbClr val="333333"/>
                          </a:solidFill>
                          <a:latin typeface="Meiryo UI"/>
                          <a:ea typeface="Meiryo UI"/>
                        </a:rPr>
                        <a:t>〜</a:t>
                      </a:r>
                      <a:endParaRPr lang="ja-JP" altLang="en-US" sz="1600">
                        <a:solidFill>
                          <a:srgbClr val="333333"/>
                        </a:solidFill>
                        <a:latin typeface="Meiryo UI"/>
                        <a:ea typeface="Meiryo UI"/>
                      </a:endParaRPr>
                    </a:p>
                  </a:txBody>
                  <a:tcPr anchor="ctr"/>
                </a:tc>
                <a:tc>
                  <a:txBody>
                    <a:bodyPr/>
                    <a:lstStyle/>
                    <a:p>
                      <a:pPr algn="ctr"/>
                      <a:r>
                        <a:rPr lang="en-US" altLang="ja-JP" sz="1600">
                          <a:solidFill>
                            <a:srgbClr val="333333"/>
                          </a:solidFill>
                          <a:latin typeface="Meiryo UI"/>
                          <a:ea typeface="Meiryo UI"/>
                        </a:rPr>
                        <a:t>30 </a:t>
                      </a:r>
                      <a:r>
                        <a:rPr lang="ja-JP" altLang="en-US" sz="1600">
                          <a:solidFill>
                            <a:srgbClr val="333333"/>
                          </a:solidFill>
                          <a:latin typeface="Meiryo UI"/>
                          <a:ea typeface="Meiryo UI"/>
                        </a:rPr>
                        <a:t>分以上</a:t>
                      </a:r>
                    </a:p>
                  </a:txBody>
                  <a:tcPr anchor="ctr"/>
                </a:tc>
                <a:extLst>
                  <a:ext uri="{0D108BD9-81ED-4DB2-BD59-A6C34878D82A}">
                    <a16:rowId xmlns:a16="http://schemas.microsoft.com/office/drawing/2014/main" val="1465548273"/>
                  </a:ext>
                </a:extLst>
              </a:tr>
            </a:tbl>
          </a:graphicData>
        </a:graphic>
      </p:graphicFrame>
      <p:sp>
        <p:nvSpPr>
          <p:cNvPr id="7" name="テキスト ボックス 6">
            <a:extLst>
              <a:ext uri="{FF2B5EF4-FFF2-40B4-BE49-F238E27FC236}">
                <a16:creationId xmlns:a16="http://schemas.microsoft.com/office/drawing/2014/main" id="{ED8B72C8-82EB-4DE1-9844-195E1A1D2EC3}"/>
              </a:ext>
            </a:extLst>
          </p:cNvPr>
          <p:cNvSpPr txBox="1"/>
          <p:nvPr/>
        </p:nvSpPr>
        <p:spPr>
          <a:xfrm>
            <a:off x="508000" y="3619500"/>
            <a:ext cx="11176000" cy="355600"/>
          </a:xfrm>
          <a:prstGeom prst="rect">
            <a:avLst/>
          </a:prstGeom>
          <a:noFill/>
        </p:spPr>
        <p:txBody>
          <a:bodyPr vertOverflow="overflow" vert="horz" wrap="square" rtlCol="0" anchor="t">
            <a:spAutoFit/>
          </a:bodyPr>
          <a:lstStyle/>
          <a:p>
            <a:pPr algn="l"/>
            <a:r>
              <a:rPr lang="ja-JP" altLang="en-US">
                <a:solidFill>
                  <a:srgbClr val="C00000"/>
                </a:solidFill>
                <a:latin typeface="Meiryo UI"/>
                <a:ea typeface="Meiryo UI"/>
              </a:rPr>
              <a:t>制約事項</a:t>
            </a:r>
          </a:p>
        </p:txBody>
      </p:sp>
      <p:sp>
        <p:nvSpPr>
          <p:cNvPr id="8" name="四角形: 角を丸くする 7">
            <a:extLst>
              <a:ext uri="{FF2B5EF4-FFF2-40B4-BE49-F238E27FC236}">
                <a16:creationId xmlns:a16="http://schemas.microsoft.com/office/drawing/2014/main" id="{87DC8789-4426-463D-97F9-C00B78E7C247}"/>
              </a:ext>
            </a:extLst>
          </p:cNvPr>
          <p:cNvSpPr/>
          <p:nvPr/>
        </p:nvSpPr>
        <p:spPr bwMode="auto">
          <a:xfrm>
            <a:off x="508000" y="4064000"/>
            <a:ext cx="11176000" cy="1524000"/>
          </a:xfrm>
          <a:prstGeom prst="roundRect">
            <a:avLst/>
          </a:prstGeom>
          <a:solidFill>
            <a:srgbClr val="FFF2F2"/>
          </a:solidFill>
          <a:ln>
            <a:noFill/>
          </a:ln>
          <a:effectLst/>
          <a:extLs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noAutofit/>
          </a:bodyPr>
          <a:lstStyle/>
          <a:p>
            <a:pPr marL="228600" indent="-228600">
              <a:spcAft>
                <a:spcPts val="400"/>
              </a:spcAft>
              <a:buFont typeface="Arial"/>
              <a:buChar char="•"/>
            </a:pPr>
            <a:r>
              <a:rPr lang="en-US" altLang="ja-JP" sz="1400" dirty="0">
                <a:solidFill>
                  <a:srgbClr val="333333"/>
                </a:solidFill>
                <a:latin typeface="Meiryo UI"/>
                <a:ea typeface="Meiryo UI"/>
              </a:rPr>
              <a:t>AI </a:t>
            </a:r>
            <a:r>
              <a:rPr lang="ja-JP" altLang="en-US" sz="1400" dirty="0">
                <a:solidFill>
                  <a:srgbClr val="333333"/>
                </a:solidFill>
                <a:latin typeface="Meiryo UI"/>
                <a:ea typeface="Meiryo UI"/>
              </a:rPr>
              <a:t>がソースコードを直接分析するため、分析対象はコンテキストウィンドウに収まる範囲に限定</a:t>
            </a:r>
          </a:p>
          <a:p>
            <a:pPr marL="228600" indent="-228600">
              <a:spcAft>
                <a:spcPts val="400"/>
              </a:spcAft>
              <a:buFont typeface="Arial"/>
              <a:buChar char="•"/>
            </a:pPr>
            <a:r>
              <a:rPr lang="en-US" altLang="ja-JP" sz="1400" dirty="0">
                <a:solidFill>
                  <a:srgbClr val="333333"/>
                </a:solidFill>
                <a:latin typeface="Meiryo UI"/>
                <a:ea typeface="Meiryo UI"/>
              </a:rPr>
              <a:t>AI </a:t>
            </a:r>
            <a:r>
              <a:rPr lang="ja-JP" altLang="en-US" sz="1400" dirty="0">
                <a:solidFill>
                  <a:srgbClr val="333333"/>
                </a:solidFill>
                <a:latin typeface="Meiryo UI"/>
                <a:ea typeface="Meiryo UI"/>
              </a:rPr>
              <a:t>判定は「AI の判断」として明記。最終判定は人間のセキュリティレビューで行うこと</a:t>
            </a:r>
          </a:p>
          <a:p>
            <a:pPr marL="228600" indent="-228600">
              <a:spcAft>
                <a:spcPts val="400"/>
              </a:spcAft>
              <a:buFont typeface="Arial"/>
              <a:buChar char="•"/>
            </a:pPr>
            <a:r>
              <a:rPr lang="ja-JP" altLang="en-US" sz="1400" dirty="0">
                <a:solidFill>
                  <a:srgbClr val="333333"/>
                </a:solidFill>
                <a:latin typeface="Meiryo UI"/>
                <a:ea typeface="Meiryo UI"/>
              </a:rPr>
              <a:t>大規模リポジトリではセッション再起動が必要な場合あり</a:t>
            </a:r>
          </a:p>
          <a:p>
            <a:pPr marL="228600" indent="-228600">
              <a:buFont typeface="Arial"/>
              <a:buChar char="•"/>
            </a:pPr>
            <a:r>
              <a:rPr lang="en-US" altLang="ja-JP" sz="1400" dirty="0">
                <a:solidFill>
                  <a:srgbClr val="333333"/>
                </a:solidFill>
                <a:latin typeface="Meiryo UI"/>
                <a:ea typeface="Meiryo UI"/>
              </a:rPr>
              <a:t>JSON </a:t>
            </a:r>
            <a:r>
              <a:rPr lang="ja-JP" altLang="en-US" sz="1400" dirty="0">
                <a:solidFill>
                  <a:srgbClr val="333333"/>
                </a:solidFill>
                <a:latin typeface="Meiryo UI"/>
                <a:ea typeface="Meiryo UI"/>
              </a:rPr>
              <a:t>形式の出力（CI/CD 連携用）は未対応 / ルールベースの網羅的検出ではなく再現性は保証されない</a:t>
            </a:r>
          </a:p>
        </p:txBody>
      </p:sp>
    </p:spTree>
    <p:extLst>
      <p:ext uri="{BB962C8B-B14F-4D97-AF65-F5344CB8AC3E}">
        <p14:creationId xmlns:p14="http://schemas.microsoft.com/office/powerpoint/2010/main" val="419574182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A7250088-8905-E2A5-2F56-AB28DDA2A7C8}"/>
              </a:ext>
            </a:extLst>
          </p:cNvPr>
          <p:cNvSpPr>
            <a:spLocks noGrp="1"/>
          </p:cNvSpPr>
          <p:nvPr>
            <p:ph type="sldNum" sz="quarter" idx="12"/>
          </p:nvPr>
        </p:nvSpPr>
        <p:spPr/>
        <p:txBody>
          <a:bodyPr/>
          <a:lstStyle/>
          <a:p>
            <a:fld id="{ECBC7219-2CD1-472E-BD6E-B9574BC90939}" type="slidenum">
              <a:rPr lang="ja-JP" altLang="en-US" smtClean="0"/>
              <a:pPr/>
              <a:t>10</a:t>
            </a:fld>
            <a:endParaRPr lang="ja-JP" altLang="en-US"/>
          </a:p>
        </p:txBody>
      </p:sp>
      <p:sp>
        <p:nvSpPr>
          <p:cNvPr id="4" name="正方形/長方形 3">
            <a:extLst>
              <a:ext uri="{FF2B5EF4-FFF2-40B4-BE49-F238E27FC236}">
                <a16:creationId xmlns:a16="http://schemas.microsoft.com/office/drawing/2014/main" id="{4E7D6FFA-58D0-4E38-8A62-C9D984E57026}"/>
              </a:ext>
            </a:extLst>
          </p:cNvPr>
          <p:cNvSpPr/>
          <p:nvPr/>
        </p:nvSpPr>
        <p:spPr bwMode="auto">
          <a:xfrm>
            <a:off x="406400" y="114300"/>
            <a:ext cx="66040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Overflow="clip" horzOverflow="clip" vert="horz" wrap="square" lIns="54000" tIns="45720" rIns="5400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1" lang="ja-JP" altLang="en-US" sz="2400" i="0" u="none" strike="noStrike" cap="none" normalizeH="0" baseline="0">
                <a:ln>
                  <a:noFill/>
                </a:ln>
                <a:solidFill>
                  <a:schemeClr val="tx1"/>
                </a:solidFill>
                <a:effectLst/>
                <a:latin typeface="Meiryo UI"/>
                <a:ea typeface="Meiryo UI"/>
              </a:rPr>
              <a:t>付録</a:t>
            </a:r>
            <a:r>
              <a:rPr kumimoji="1" lang="en-US" altLang="ja-JP" sz="2400" i="0" u="none" strike="noStrike" cap="none" normalizeH="0" baseline="0">
                <a:ln>
                  <a:noFill/>
                </a:ln>
                <a:solidFill>
                  <a:schemeClr val="tx1"/>
                </a:solidFill>
                <a:effectLst/>
                <a:latin typeface="Meiryo UI"/>
                <a:ea typeface="Meiryo UI"/>
              </a:rPr>
              <a:t>A: ESLint Security Triage </a:t>
            </a:r>
            <a:r>
              <a:rPr kumimoji="1" lang="ja-JP" altLang="en-US" sz="2400" i="0" u="none" strike="noStrike" cap="none" normalizeH="0" baseline="0">
                <a:ln>
                  <a:noFill/>
                </a:ln>
                <a:solidFill>
                  <a:schemeClr val="tx1"/>
                </a:solidFill>
                <a:effectLst/>
                <a:latin typeface="Meiryo UI"/>
                <a:ea typeface="Meiryo UI"/>
              </a:rPr>
              <a:t>との比較</a:t>
            </a:r>
          </a:p>
        </p:txBody>
      </p:sp>
      <p:sp>
        <p:nvSpPr>
          <p:cNvPr id="5" name="テキスト ボックス 4">
            <a:extLst>
              <a:ext uri="{FF2B5EF4-FFF2-40B4-BE49-F238E27FC236}">
                <a16:creationId xmlns:a16="http://schemas.microsoft.com/office/drawing/2014/main" id="{FCC09A93-AA1F-41C6-BAAB-195CFD6A3352}"/>
              </a:ext>
            </a:extLst>
          </p:cNvPr>
          <p:cNvSpPr txBox="1"/>
          <p:nvPr/>
        </p:nvSpPr>
        <p:spPr>
          <a:xfrm>
            <a:off x="508000" y="787400"/>
            <a:ext cx="11176000" cy="317500"/>
          </a:xfrm>
          <a:prstGeom prst="rect">
            <a:avLst/>
          </a:prstGeom>
          <a:noFill/>
        </p:spPr>
        <p:txBody>
          <a:bodyPr vertOverflow="overflow" vert="horz" wrap="square" rtlCol="0" anchor="t">
            <a:spAutoFit/>
          </a:bodyPr>
          <a:lstStyle/>
          <a:p>
            <a:pPr algn="l"/>
            <a:r>
              <a:rPr lang="ja-JP" altLang="en-US" sz="1600">
                <a:solidFill>
                  <a:srgbClr val="2F5496"/>
                </a:solidFill>
                <a:latin typeface="Meiryo UI"/>
                <a:ea typeface="Meiryo UI"/>
              </a:rPr>
              <a:t>アーキテクチャの違い</a:t>
            </a:r>
          </a:p>
        </p:txBody>
      </p:sp>
      <p:graphicFrame>
        <p:nvGraphicFramePr>
          <p:cNvPr id="7" name="表 6">
            <a:extLst>
              <a:ext uri="{FF2B5EF4-FFF2-40B4-BE49-F238E27FC236}">
                <a16:creationId xmlns:a16="http://schemas.microsoft.com/office/drawing/2014/main" id="{FC6E8E9F-AA15-4F0C-AEB8-F919E940CBDE}"/>
              </a:ext>
            </a:extLst>
          </p:cNvPr>
          <p:cNvGraphicFramePr>
            <a:graphicFrameLocks noGrp="1"/>
          </p:cNvGraphicFramePr>
          <p:nvPr>
            <p:extLst>
              <p:ext uri="{D42A27DB-BD31-4B8C-83A1-F6EECF244321}">
                <p14:modId xmlns:p14="http://schemas.microsoft.com/office/powerpoint/2010/main" val="510909282"/>
              </p:ext>
            </p:extLst>
          </p:nvPr>
        </p:nvGraphicFramePr>
        <p:xfrm>
          <a:off x="508000" y="1143000"/>
          <a:ext cx="11176000" cy="1778000"/>
        </p:xfrm>
        <a:graphic>
          <a:graphicData uri="http://schemas.openxmlformats.org/drawingml/2006/table">
            <a:tbl>
              <a:tblPr firstRow="1" bandRow="1">
                <a:tableStyleId>{8EC20E35-A176-4012-BC5E-935CFFF8708E}</a:tableStyleId>
              </a:tblPr>
              <a:tblGrid>
                <a:gridCol w="2286000">
                  <a:extLst>
                    <a:ext uri="{9D8B030D-6E8A-4147-A177-3AD203B41FA5}">
                      <a16:colId xmlns:a16="http://schemas.microsoft.com/office/drawing/2014/main" val="3824911616"/>
                    </a:ext>
                  </a:extLst>
                </a:gridCol>
                <a:gridCol w="4445000">
                  <a:extLst>
                    <a:ext uri="{9D8B030D-6E8A-4147-A177-3AD203B41FA5}">
                      <a16:colId xmlns:a16="http://schemas.microsoft.com/office/drawing/2014/main" val="3330837673"/>
                    </a:ext>
                  </a:extLst>
                </a:gridCol>
                <a:gridCol w="4445000">
                  <a:extLst>
                    <a:ext uri="{9D8B030D-6E8A-4147-A177-3AD203B41FA5}">
                      <a16:colId xmlns:a16="http://schemas.microsoft.com/office/drawing/2014/main" val="2003863405"/>
                    </a:ext>
                  </a:extLst>
                </a:gridCol>
              </a:tblGrid>
              <a:tr h="355600">
                <a:tc>
                  <a:txBody>
                    <a:bodyPr/>
                    <a:lstStyle/>
                    <a:p>
                      <a:pPr algn="ctr"/>
                      <a:r>
                        <a:rPr lang="ja-JP" altLang="en-US" sz="1400" b="1">
                          <a:solidFill>
                            <a:srgbClr val="FFFFFF"/>
                          </a:solidFill>
                          <a:latin typeface="Meiryo UI"/>
                          <a:ea typeface="Meiryo UI"/>
                        </a:rPr>
                        <a:t>観点</a:t>
                      </a:r>
                    </a:p>
                  </a:txBody>
                  <a:tcPr>
                    <a:solidFill>
                      <a:srgbClr val="2F5496"/>
                    </a:solidFill>
                  </a:tcPr>
                </a:tc>
                <a:tc>
                  <a:txBody>
                    <a:bodyPr/>
                    <a:lstStyle/>
                    <a:p>
                      <a:pPr algn="ctr"/>
                      <a:r>
                        <a:rPr lang="ja-JP" altLang="en-US" sz="1400" b="1">
                          <a:solidFill>
                            <a:srgbClr val="FFFFFF"/>
                          </a:solidFill>
                          <a:latin typeface="Meiryo UI"/>
                          <a:ea typeface="Meiryo UI"/>
                        </a:rPr>
                        <a:t>ESLint Security Triage</a:t>
                      </a:r>
                    </a:p>
                  </a:txBody>
                  <a:tcPr>
                    <a:solidFill>
                      <a:srgbClr val="2F5496"/>
                    </a:solidFill>
                  </a:tcPr>
                </a:tc>
                <a:tc>
                  <a:txBody>
                    <a:bodyPr/>
                    <a:lstStyle/>
                    <a:p>
                      <a:pPr algn="ctr"/>
                      <a:r>
                        <a:rPr lang="ja-JP" altLang="en-US" sz="1400" b="1">
                          <a:solidFill>
                            <a:srgbClr val="FFFFFF"/>
                          </a:solidFill>
                          <a:latin typeface="Meiryo UI"/>
                          <a:ea typeface="Meiryo UI"/>
                        </a:rPr>
                        <a:t>LLM Security Scan</a:t>
                      </a:r>
                    </a:p>
                  </a:txBody>
                  <a:tcPr>
                    <a:solidFill>
                      <a:srgbClr val="2F5496"/>
                    </a:solidFill>
                  </a:tcPr>
                </a:tc>
                <a:extLst>
                  <a:ext uri="{0D108BD9-81ED-4DB2-BD59-A6C34878D82A}">
                    <a16:rowId xmlns:a16="http://schemas.microsoft.com/office/drawing/2014/main" val="107867435"/>
                  </a:ext>
                </a:extLst>
              </a:tr>
              <a:tr h="355600">
                <a:tc>
                  <a:txBody>
                    <a:bodyPr/>
                    <a:lstStyle/>
                    <a:p>
                      <a:pPr algn="l"/>
                      <a:r>
                        <a:rPr lang="ja-JP" altLang="en-US" sz="1400" b="1">
                          <a:solidFill>
                            <a:srgbClr val="333333"/>
                          </a:solidFill>
                          <a:latin typeface="Meiryo UI"/>
                          <a:ea typeface="Meiryo UI"/>
                        </a:rPr>
                        <a:t>検出メカニズム</a:t>
                      </a:r>
                    </a:p>
                  </a:txBody>
                  <a:tcPr/>
                </a:tc>
                <a:tc>
                  <a:txBody>
                    <a:bodyPr/>
                    <a:lstStyle/>
                    <a:p>
                      <a:pPr algn="l"/>
                      <a:r>
                        <a:rPr lang="ja-JP" altLang="en-US" sz="1400">
                          <a:solidFill>
                            <a:srgbClr val="333333"/>
                          </a:solidFill>
                          <a:latin typeface="Meiryo UI"/>
                          <a:ea typeface="Meiryo UI"/>
                        </a:rPr>
                        <a:t>ESLint プラグインによるルールベース検出 + AI トリアージ</a:t>
                      </a:r>
                    </a:p>
                  </a:txBody>
                  <a:tcPr/>
                </a:tc>
                <a:tc>
                  <a:txBody>
                    <a:bodyPr/>
                    <a:lstStyle/>
                    <a:p>
                      <a:pPr algn="l"/>
                      <a:r>
                        <a:rPr lang="ja-JP" altLang="en-US" sz="1400">
                          <a:solidFill>
                            <a:srgbClr val="333333"/>
                          </a:solidFill>
                          <a:latin typeface="Meiryo UI"/>
                          <a:ea typeface="Meiryo UI"/>
                        </a:rPr>
                        <a:t>AI がソースコードを直接分析（プラグイン不要）</a:t>
                      </a:r>
                    </a:p>
                  </a:txBody>
                  <a:tcPr/>
                </a:tc>
                <a:extLst>
                  <a:ext uri="{0D108BD9-81ED-4DB2-BD59-A6C34878D82A}">
                    <a16:rowId xmlns:a16="http://schemas.microsoft.com/office/drawing/2014/main" val="197983722"/>
                  </a:ext>
                </a:extLst>
              </a:tr>
              <a:tr h="355600">
                <a:tc>
                  <a:txBody>
                    <a:bodyPr/>
                    <a:lstStyle/>
                    <a:p>
                      <a:pPr algn="l"/>
                      <a:r>
                        <a:rPr lang="ja-JP" altLang="en-US" sz="1400" b="1">
                          <a:solidFill>
                            <a:srgbClr val="333333"/>
                          </a:solidFill>
                          <a:latin typeface="Meiryo UI"/>
                          <a:ea typeface="Meiryo UI"/>
                        </a:rPr>
                        <a:t>AI の役割</a:t>
                      </a:r>
                    </a:p>
                  </a:txBody>
                  <a:tcPr/>
                </a:tc>
                <a:tc>
                  <a:txBody>
                    <a:bodyPr/>
                    <a:lstStyle/>
                    <a:p>
                      <a:pPr algn="l"/>
                      <a:r>
                        <a:rPr lang="ja-JP" altLang="en-US" sz="1400">
                          <a:solidFill>
                            <a:srgbClr val="333333"/>
                          </a:solidFill>
                          <a:latin typeface="Meiryo UI"/>
                          <a:ea typeface="Meiryo UI"/>
                        </a:rPr>
                        <a:t>偽陽性の判定（トリアージ）</a:t>
                      </a:r>
                    </a:p>
                  </a:txBody>
                  <a:tcPr/>
                </a:tc>
                <a:tc>
                  <a:txBody>
                    <a:bodyPr/>
                    <a:lstStyle/>
                    <a:p>
                      <a:pPr algn="l"/>
                      <a:r>
                        <a:rPr lang="ja-JP" altLang="en-US" sz="1400">
                          <a:solidFill>
                            <a:srgbClr val="333333"/>
                          </a:solidFill>
                          <a:latin typeface="Meiryo UI"/>
                          <a:ea typeface="Meiryo UI"/>
                        </a:rPr>
                        <a:t>脆弱性の発見そのもの</a:t>
                      </a:r>
                    </a:p>
                  </a:txBody>
                  <a:tcPr/>
                </a:tc>
                <a:extLst>
                  <a:ext uri="{0D108BD9-81ED-4DB2-BD59-A6C34878D82A}">
                    <a16:rowId xmlns:a16="http://schemas.microsoft.com/office/drawing/2014/main" val="3944127528"/>
                  </a:ext>
                </a:extLst>
              </a:tr>
              <a:tr h="355600">
                <a:tc>
                  <a:txBody>
                    <a:bodyPr/>
                    <a:lstStyle/>
                    <a:p>
                      <a:pPr algn="l"/>
                      <a:r>
                        <a:rPr lang="ja-JP" altLang="en-US" sz="1400" b="1">
                          <a:solidFill>
                            <a:srgbClr val="333333"/>
                          </a:solidFill>
                          <a:latin typeface="Meiryo UI"/>
                          <a:ea typeface="Meiryo UI"/>
                        </a:rPr>
                        <a:t>拡張方法</a:t>
                      </a:r>
                    </a:p>
                  </a:txBody>
                  <a:tcPr/>
                </a:tc>
                <a:tc>
                  <a:txBody>
                    <a:bodyPr/>
                    <a:lstStyle/>
                    <a:p>
                      <a:pPr algn="l"/>
                      <a:r>
                        <a:rPr lang="ja-JP" altLang="en-US" sz="1400">
                          <a:solidFill>
                            <a:srgbClr val="333333"/>
                          </a:solidFill>
                          <a:latin typeface="Meiryo UI"/>
                          <a:ea typeface="Meiryo UI"/>
                        </a:rPr>
                        <a:t>ESLint プラグインを追加</a:t>
                      </a:r>
                    </a:p>
                  </a:txBody>
                  <a:tcPr/>
                </a:tc>
                <a:tc>
                  <a:txBody>
                    <a:bodyPr/>
                    <a:lstStyle/>
                    <a:p>
                      <a:pPr algn="l"/>
                      <a:r>
                        <a:rPr lang="ja-JP" altLang="en-US" sz="1400">
                          <a:solidFill>
                            <a:srgbClr val="333333"/>
                          </a:solidFill>
                          <a:latin typeface="Meiryo UI"/>
                          <a:ea typeface="Meiryo UI"/>
                        </a:rPr>
                        <a:t>AI プロンプト（チェックリスト）の編集</a:t>
                      </a:r>
                    </a:p>
                  </a:txBody>
                  <a:tcPr/>
                </a:tc>
                <a:extLst>
                  <a:ext uri="{0D108BD9-81ED-4DB2-BD59-A6C34878D82A}">
                    <a16:rowId xmlns:a16="http://schemas.microsoft.com/office/drawing/2014/main" val="3741071085"/>
                  </a:ext>
                </a:extLst>
              </a:tr>
              <a:tr h="355600">
                <a:tc>
                  <a:txBody>
                    <a:bodyPr/>
                    <a:lstStyle/>
                    <a:p>
                      <a:pPr algn="l"/>
                      <a:r>
                        <a:rPr lang="ja-JP" altLang="en-US" sz="1400" b="1">
                          <a:solidFill>
                            <a:srgbClr val="333333"/>
                          </a:solidFill>
                          <a:latin typeface="Meiryo UI"/>
                          <a:ea typeface="Meiryo UI"/>
                        </a:rPr>
                        <a:t>外部ツール依存</a:t>
                      </a:r>
                    </a:p>
                  </a:txBody>
                  <a:tcPr/>
                </a:tc>
                <a:tc>
                  <a:txBody>
                    <a:bodyPr/>
                    <a:lstStyle/>
                    <a:p>
                      <a:pPr algn="l"/>
                      <a:r>
                        <a:rPr lang="ja-JP" altLang="en-US" sz="1400">
                          <a:solidFill>
                            <a:srgbClr val="333333"/>
                          </a:solidFill>
                          <a:latin typeface="Meiryo UI"/>
                          <a:ea typeface="Meiryo UI"/>
                        </a:rPr>
                        <a:t>ESLint + セキュリティプラグイン（必須）</a:t>
                      </a:r>
                    </a:p>
                  </a:txBody>
                  <a:tcPr/>
                </a:tc>
                <a:tc>
                  <a:txBody>
                    <a:bodyPr/>
                    <a:lstStyle/>
                    <a:p>
                      <a:pPr algn="l"/>
                      <a:r>
                        <a:rPr lang="ja-JP" altLang="en-US" sz="1400">
                          <a:solidFill>
                            <a:srgbClr val="333333"/>
                          </a:solidFill>
                          <a:latin typeface="Meiryo UI"/>
                          <a:ea typeface="Meiryo UI"/>
                        </a:rPr>
                        <a:t>MCP Serena（推奨、なくても動作可能）</a:t>
                      </a:r>
                    </a:p>
                  </a:txBody>
                  <a:tcPr/>
                </a:tc>
                <a:extLst>
                  <a:ext uri="{0D108BD9-81ED-4DB2-BD59-A6C34878D82A}">
                    <a16:rowId xmlns:a16="http://schemas.microsoft.com/office/drawing/2014/main" val="1710729667"/>
                  </a:ext>
                </a:extLst>
              </a:tr>
            </a:tbl>
          </a:graphicData>
        </a:graphic>
      </p:graphicFrame>
      <p:sp>
        <p:nvSpPr>
          <p:cNvPr id="8" name="テキスト ボックス 7">
            <a:extLst>
              <a:ext uri="{FF2B5EF4-FFF2-40B4-BE49-F238E27FC236}">
                <a16:creationId xmlns:a16="http://schemas.microsoft.com/office/drawing/2014/main" id="{124EC026-1F46-4ABE-AF97-F9AF45E3982A}"/>
              </a:ext>
            </a:extLst>
          </p:cNvPr>
          <p:cNvSpPr txBox="1"/>
          <p:nvPr/>
        </p:nvSpPr>
        <p:spPr>
          <a:xfrm>
            <a:off x="508000" y="3238500"/>
            <a:ext cx="11176000" cy="317500"/>
          </a:xfrm>
          <a:prstGeom prst="rect">
            <a:avLst/>
          </a:prstGeom>
          <a:noFill/>
        </p:spPr>
        <p:txBody>
          <a:bodyPr vertOverflow="overflow" vert="horz" wrap="square" rtlCol="0" anchor="t">
            <a:spAutoFit/>
          </a:bodyPr>
          <a:lstStyle/>
          <a:p>
            <a:pPr algn="l"/>
            <a:r>
              <a:rPr lang="ja-JP" altLang="en-US" sz="1600">
                <a:solidFill>
                  <a:srgbClr val="2F5496"/>
                </a:solidFill>
                <a:latin typeface="Meiryo UI"/>
                <a:ea typeface="Meiryo UI"/>
              </a:rPr>
              <a:t>使い分けの指針</a:t>
            </a:r>
          </a:p>
        </p:txBody>
      </p:sp>
      <p:graphicFrame>
        <p:nvGraphicFramePr>
          <p:cNvPr id="10" name="表 9">
            <a:extLst>
              <a:ext uri="{FF2B5EF4-FFF2-40B4-BE49-F238E27FC236}">
                <a16:creationId xmlns:a16="http://schemas.microsoft.com/office/drawing/2014/main" id="{D44B58D0-4844-4EF0-9C17-2C17820A4E33}"/>
              </a:ext>
            </a:extLst>
          </p:cNvPr>
          <p:cNvGraphicFramePr>
            <a:graphicFrameLocks noGrp="1"/>
          </p:cNvGraphicFramePr>
          <p:nvPr>
            <p:extLst>
              <p:ext uri="{D42A27DB-BD31-4B8C-83A1-F6EECF244321}">
                <p14:modId xmlns:p14="http://schemas.microsoft.com/office/powerpoint/2010/main" val="438502470"/>
              </p:ext>
            </p:extLst>
          </p:nvPr>
        </p:nvGraphicFramePr>
        <p:xfrm>
          <a:off x="508000" y="3594100"/>
          <a:ext cx="11176000" cy="1422400"/>
        </p:xfrm>
        <a:graphic>
          <a:graphicData uri="http://schemas.openxmlformats.org/drawingml/2006/table">
            <a:tbl>
              <a:tblPr firstRow="1" bandRow="1">
                <a:tableStyleId>{8EC20E35-A176-4012-BC5E-935CFFF8708E}</a:tableStyleId>
              </a:tblPr>
              <a:tblGrid>
                <a:gridCol w="6096000">
                  <a:extLst>
                    <a:ext uri="{9D8B030D-6E8A-4147-A177-3AD203B41FA5}">
                      <a16:colId xmlns:a16="http://schemas.microsoft.com/office/drawing/2014/main" val="3435798531"/>
                    </a:ext>
                  </a:extLst>
                </a:gridCol>
                <a:gridCol w="5080000">
                  <a:extLst>
                    <a:ext uri="{9D8B030D-6E8A-4147-A177-3AD203B41FA5}">
                      <a16:colId xmlns:a16="http://schemas.microsoft.com/office/drawing/2014/main" val="3080671350"/>
                    </a:ext>
                  </a:extLst>
                </a:gridCol>
              </a:tblGrid>
              <a:tr h="355600">
                <a:tc>
                  <a:txBody>
                    <a:bodyPr/>
                    <a:lstStyle/>
                    <a:p>
                      <a:pPr algn="ctr"/>
                      <a:r>
                        <a:rPr lang="ja-JP" altLang="en-US" sz="1400" b="1">
                          <a:solidFill>
                            <a:srgbClr val="FFFFFF"/>
                          </a:solidFill>
                          <a:latin typeface="Meiryo UI"/>
                          <a:ea typeface="Meiryo UI"/>
                        </a:rPr>
                        <a:t>ユースケース</a:t>
                      </a:r>
                    </a:p>
                  </a:txBody>
                  <a:tcPr>
                    <a:solidFill>
                      <a:srgbClr val="2F5496"/>
                    </a:solidFill>
                  </a:tcPr>
                </a:tc>
                <a:tc>
                  <a:txBody>
                    <a:bodyPr/>
                    <a:lstStyle/>
                    <a:p>
                      <a:pPr algn="ctr"/>
                      <a:r>
                        <a:rPr lang="ja-JP" altLang="en-US" sz="1400" b="1">
                          <a:solidFill>
                            <a:srgbClr val="FFFFFF"/>
                          </a:solidFill>
                          <a:latin typeface="Meiryo UI"/>
                          <a:ea typeface="Meiryo UI"/>
                        </a:rPr>
                        <a:t>推奨ツール</a:t>
                      </a:r>
                    </a:p>
                  </a:txBody>
                  <a:tcPr>
                    <a:solidFill>
                      <a:srgbClr val="2F5496"/>
                    </a:solidFill>
                  </a:tcPr>
                </a:tc>
                <a:extLst>
                  <a:ext uri="{0D108BD9-81ED-4DB2-BD59-A6C34878D82A}">
                    <a16:rowId xmlns:a16="http://schemas.microsoft.com/office/drawing/2014/main" val="4157548857"/>
                  </a:ext>
                </a:extLst>
              </a:tr>
              <a:tr h="355600">
                <a:tc>
                  <a:txBody>
                    <a:bodyPr/>
                    <a:lstStyle/>
                    <a:p>
                      <a:pPr algn="l"/>
                      <a:r>
                        <a:rPr lang="ja-JP" altLang="en-US" sz="1400">
                          <a:solidFill>
                            <a:srgbClr val="333333"/>
                          </a:solidFill>
                          <a:latin typeface="Meiryo UI"/>
                          <a:ea typeface="Meiryo UI"/>
                        </a:rPr>
                        <a:t>CI/CD パイプライン / 網羅的ルール検出</a:t>
                      </a:r>
                    </a:p>
                  </a:txBody>
                  <a:tcPr/>
                </a:tc>
                <a:tc>
                  <a:txBody>
                    <a:bodyPr/>
                    <a:lstStyle/>
                    <a:p>
                      <a:pPr algn="l"/>
                      <a:r>
                        <a:rPr lang="ja-JP" altLang="en-US" sz="1400">
                          <a:solidFill>
                            <a:srgbClr val="333333"/>
                          </a:solidFill>
                          <a:latin typeface="Meiryo UI"/>
                          <a:ea typeface="Meiryo UI"/>
                        </a:rPr>
                        <a:t>ESLint Security Triage</a:t>
                      </a:r>
                    </a:p>
                  </a:txBody>
                  <a:tcPr/>
                </a:tc>
                <a:extLst>
                  <a:ext uri="{0D108BD9-81ED-4DB2-BD59-A6C34878D82A}">
                    <a16:rowId xmlns:a16="http://schemas.microsoft.com/office/drawing/2014/main" val="1099799937"/>
                  </a:ext>
                </a:extLst>
              </a:tr>
              <a:tr h="355600">
                <a:tc>
                  <a:txBody>
                    <a:bodyPr/>
                    <a:lstStyle/>
                    <a:p>
                      <a:pPr algn="l"/>
                      <a:r>
                        <a:rPr lang="ja-JP" altLang="en-US" sz="1400">
                          <a:solidFill>
                            <a:srgbClr val="333333"/>
                          </a:solidFill>
                          <a:latin typeface="Meiryo UI"/>
                          <a:ea typeface="Meiryo UI"/>
                        </a:rPr>
                        <a:t>コンテキスト理解が必要な深い分析</a:t>
                      </a:r>
                    </a:p>
                  </a:txBody>
                  <a:tcPr/>
                </a:tc>
                <a:tc>
                  <a:txBody>
                    <a:bodyPr/>
                    <a:lstStyle/>
                    <a:p>
                      <a:pPr algn="l"/>
                      <a:r>
                        <a:rPr lang="ja-JP" altLang="en-US" sz="1400">
                          <a:solidFill>
                            <a:srgbClr val="333333"/>
                          </a:solidFill>
                          <a:latin typeface="Meiryo UI"/>
                          <a:ea typeface="Meiryo UI"/>
                        </a:rPr>
                        <a:t>LLM Security Scan</a:t>
                      </a:r>
                    </a:p>
                  </a:txBody>
                  <a:tcPr/>
                </a:tc>
                <a:extLst>
                  <a:ext uri="{0D108BD9-81ED-4DB2-BD59-A6C34878D82A}">
                    <a16:rowId xmlns:a16="http://schemas.microsoft.com/office/drawing/2014/main" val="1661748307"/>
                  </a:ext>
                </a:extLst>
              </a:tr>
              <a:tr h="355600">
                <a:tc>
                  <a:txBody>
                    <a:bodyPr/>
                    <a:lstStyle/>
                    <a:p>
                      <a:pPr algn="l"/>
                      <a:r>
                        <a:rPr lang="ja-JP" altLang="en-US" sz="1400" b="1">
                          <a:solidFill>
                            <a:srgbClr val="333333"/>
                          </a:solidFill>
                          <a:latin typeface="Meiryo UI"/>
                          <a:ea typeface="Meiryo UI"/>
                        </a:rPr>
                        <a:t>多層防御（両方の長所を活かす）</a:t>
                      </a:r>
                    </a:p>
                  </a:txBody>
                  <a:tcPr/>
                </a:tc>
                <a:tc>
                  <a:txBody>
                    <a:bodyPr/>
                    <a:lstStyle/>
                    <a:p>
                      <a:pPr algn="l"/>
                      <a:r>
                        <a:rPr lang="ja-JP" altLang="en-US" sz="1400" b="1">
                          <a:solidFill>
                            <a:srgbClr val="333333"/>
                          </a:solidFill>
                          <a:latin typeface="Meiryo UI"/>
                          <a:ea typeface="Meiryo UI"/>
                        </a:rPr>
                        <a:t>併用を推奨</a:t>
                      </a:r>
                    </a:p>
                  </a:txBody>
                  <a:tcPr/>
                </a:tc>
                <a:extLst>
                  <a:ext uri="{0D108BD9-81ED-4DB2-BD59-A6C34878D82A}">
                    <a16:rowId xmlns:a16="http://schemas.microsoft.com/office/drawing/2014/main" val="2555336952"/>
                  </a:ext>
                </a:extLst>
              </a:tr>
            </a:tbl>
          </a:graphicData>
        </a:graphic>
      </p:graphicFrame>
    </p:spTree>
    <p:extLst>
      <p:ext uri="{BB962C8B-B14F-4D97-AF65-F5344CB8AC3E}">
        <p14:creationId xmlns:p14="http://schemas.microsoft.com/office/powerpoint/2010/main" val="676355820"/>
      </p:ext>
    </p:extLst>
  </p:cSld>
  <p:clrMapOvr>
    <a:masterClrMapping/>
  </p:clrMapOvr>
</p:sld>
</file>

<file path=ppt/theme/theme1.xml><?xml version="1.0" encoding="utf-8"?>
<a:theme xmlns:a="http://schemas.openxmlformats.org/drawingml/2006/main" name="3_富士通テン01">
  <a:themeElements>
    <a:clrScheme name="ユーザー定義 1">
      <a:dk1>
        <a:sysClr val="windowText" lastClr="000000"/>
      </a:dk1>
      <a:lt1>
        <a:sysClr val="window" lastClr="FFFFFF"/>
      </a:lt1>
      <a:dk2>
        <a:srgbClr val="DA0000"/>
      </a:dk2>
      <a:lt2>
        <a:srgbClr val="EEECE1"/>
      </a:lt2>
      <a:accent1>
        <a:srgbClr val="5C11F3"/>
      </a:accent1>
      <a:accent2>
        <a:srgbClr val="FF4F4F"/>
      </a:accent2>
      <a:accent3>
        <a:srgbClr val="089FEA"/>
      </a:accent3>
      <a:accent4>
        <a:srgbClr val="6DE21E"/>
      </a:accent4>
      <a:accent5>
        <a:srgbClr val="F79646"/>
      </a:accent5>
      <a:accent6>
        <a:srgbClr val="C2BB93"/>
      </a:accent6>
      <a:hlink>
        <a:srgbClr val="366092"/>
      </a:hlink>
      <a:folHlink>
        <a:srgbClr val="5F497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54000" tIns="45720" rIns="5400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ja-JP" altLang="en-US" sz="1800" b="0" i="0" u="none" strike="noStrike" cap="none" normalizeH="0" baseline="0" smtClean="0">
            <a:ln>
              <a:noFill/>
            </a:ln>
            <a:solidFill>
              <a:schemeClr val="tx1"/>
            </a:solidFill>
            <a:effectLst/>
            <a:latin typeface="HGP創英角ｺﾞｼｯｸUB" pitchFamily="50" charset="-128"/>
            <a:ea typeface="HGP創英角ｺﾞｼｯｸUB" pitchFamily="50" charset="-128"/>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54000" tIns="45720" rIns="5400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ja-JP" altLang="en-US" sz="1800" b="0" i="0" u="none" strike="noStrike" cap="none" normalizeH="0" baseline="0" smtClean="0">
            <a:ln>
              <a:noFill/>
            </a:ln>
            <a:solidFill>
              <a:schemeClr val="tx1"/>
            </a:solidFill>
            <a:effectLst/>
            <a:latin typeface="HGP創英角ｺﾞｼｯｸUB" pitchFamily="50" charset="-128"/>
            <a:ea typeface="HGP創英角ｺﾞｼｯｸUB" pitchFamily="50" charset="-128"/>
          </a:defRPr>
        </a:defPPr>
      </a:lstStyle>
    </a:lnDef>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富士通テン01">
  <a:themeElements>
    <a:clrScheme name="ユーザー定義 1">
      <a:dk1>
        <a:sysClr val="windowText" lastClr="000000"/>
      </a:dk1>
      <a:lt1>
        <a:sysClr val="window" lastClr="FFFFFF"/>
      </a:lt1>
      <a:dk2>
        <a:srgbClr val="DA0000"/>
      </a:dk2>
      <a:lt2>
        <a:srgbClr val="EEECE1"/>
      </a:lt2>
      <a:accent1>
        <a:srgbClr val="5C11F3"/>
      </a:accent1>
      <a:accent2>
        <a:srgbClr val="FF4F4F"/>
      </a:accent2>
      <a:accent3>
        <a:srgbClr val="089FEA"/>
      </a:accent3>
      <a:accent4>
        <a:srgbClr val="6DE21E"/>
      </a:accent4>
      <a:accent5>
        <a:srgbClr val="F79646"/>
      </a:accent5>
      <a:accent6>
        <a:srgbClr val="C2BB93"/>
      </a:accent6>
      <a:hlink>
        <a:srgbClr val="366092"/>
      </a:hlink>
      <a:folHlink>
        <a:srgbClr val="5F497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54000" tIns="45720" rIns="5400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ja-JP" altLang="en-US" sz="1800" b="0" i="0" u="none" strike="noStrike" cap="none" normalizeH="0" baseline="0" smtClean="0">
            <a:ln>
              <a:noFill/>
            </a:ln>
            <a:solidFill>
              <a:schemeClr val="tx1"/>
            </a:solidFill>
            <a:effectLst/>
            <a:latin typeface="HGP創英角ｺﾞｼｯｸUB" pitchFamily="50" charset="-128"/>
            <a:ea typeface="HGP創英角ｺﾞｼｯｸUB" pitchFamily="50" charset="-128"/>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BFBFB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54000" tIns="45720" rIns="5400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ja-JP" altLang="en-US" sz="1800" b="0" i="0" u="none" strike="noStrike" cap="none" normalizeH="0" baseline="0" smtClean="0">
            <a:ln>
              <a:noFill/>
            </a:ln>
            <a:solidFill>
              <a:schemeClr val="tx1"/>
            </a:solidFill>
            <a:effectLst/>
            <a:latin typeface="HGP創英角ｺﾞｼｯｸUB" pitchFamily="50" charset="-128"/>
            <a:ea typeface="HGP創英角ｺﾞｼｯｸUB" pitchFamily="50" charset="-128"/>
          </a:defRPr>
        </a:defPPr>
      </a:lstStyle>
    </a:lnDef>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D474DDF-1AFE-418A-927B-BD9351193196}">
  <we:reference id="WA200010001" version="1.0.0.0" store="Omex"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1586EC5222D8DD4EA9380A9586B0DF37" ma:contentTypeVersion="14" ma:contentTypeDescription="新しいドキュメントを作成します。" ma:contentTypeScope="" ma:versionID="b2cc92d8f4beea44e3d609bb5924ec6f">
  <xsd:schema xmlns:xsd="http://www.w3.org/2001/XMLSchema" xmlns:xs="http://www.w3.org/2001/XMLSchema" xmlns:p="http://schemas.microsoft.com/office/2006/metadata/properties" xmlns:ns2="ea6db904-263b-43e2-ab7f-db7ee886b0e2" xmlns:ns3="c3a2110b-ae3e-426d-848d-3155ad29998e" targetNamespace="http://schemas.microsoft.com/office/2006/metadata/properties" ma:root="true" ma:fieldsID="1a3a1fc7835d1b2878e057f6608fc1c3" ns2:_="" ns3:_="">
    <xsd:import namespace="ea6db904-263b-43e2-ab7f-db7ee886b0e2"/>
    <xsd:import namespace="c3a2110b-ae3e-426d-848d-3155ad29998e"/>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6db904-263b-43e2-ab7f-db7ee886b0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画像タグ" ma:readOnly="false" ma:fieldId="{5cf76f15-5ced-4ddc-b409-7134ff3c332f}" ma:taxonomyMulti="true" ma:sspId="3984b59b-ce53-431a-bd0a-b30cdfa1a7f3"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3a2110b-ae3e-426d-848d-3155ad29998e"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d368ebfd-76cc-4ef6-b811-ebbdbf3aaaad}" ma:internalName="TaxCatchAll" ma:showField="CatchAllData" ma:web="c3a2110b-ae3e-426d-848d-3155ad29998e">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c3a2110b-ae3e-426d-848d-3155ad29998e">
      <UserInfo>
        <DisplayName>Tanaka Shinichi/田中 真一</DisplayName>
        <AccountId>12</AccountId>
        <AccountType/>
      </UserInfo>
    </SharedWithUsers>
    <TaxCatchAll xmlns="c3a2110b-ae3e-426d-848d-3155ad29998e" xsi:nil="true"/>
    <lcf76f155ced4ddcb4097134ff3c332f xmlns="ea6db904-263b-43e2-ab7f-db7ee886b0e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16EB410-1B73-478F-B305-5C0EBC92D2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6db904-263b-43e2-ab7f-db7ee886b0e2"/>
    <ds:schemaRef ds:uri="c3a2110b-ae3e-426d-848d-3155ad2999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70E840-A21A-4EE9-9973-9B09F861E51C}">
  <ds:schemaRefs>
    <ds:schemaRef ds:uri="http://schemas.microsoft.com/sharepoint/v3/contenttype/forms"/>
  </ds:schemaRefs>
</ds:datastoreItem>
</file>

<file path=customXml/itemProps3.xml><?xml version="1.0" encoding="utf-8"?>
<ds:datastoreItem xmlns:ds="http://schemas.openxmlformats.org/officeDocument/2006/customXml" ds:itemID="{B44FCE97-9FAC-4D61-991E-1C49029DAA3E}">
  <ds:schemaRefs>
    <ds:schemaRef ds:uri="c3a2110b-ae3e-426d-848d-3155ad29998e"/>
    <ds:schemaRef ds:uri="http://purl.org/dc/dcmitype/"/>
    <ds:schemaRef ds:uri="http://www.w3.org/XML/1998/namespace"/>
    <ds:schemaRef ds:uri="http://schemas.microsoft.com/office/2006/metadata/properties"/>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ea6db904-263b-43e2-ab7f-db7ee886b0e2"/>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4143</TotalTime>
  <Words>2579</Words>
  <Application>Microsoft Office PowerPoint</Application>
  <PresentationFormat>ワイド画面</PresentationFormat>
  <Paragraphs>318</Paragraphs>
  <Slides>10</Slides>
  <Notes>8</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10</vt:i4>
      </vt:variant>
    </vt:vector>
  </HeadingPairs>
  <TitlesOfParts>
    <vt:vector size="18" baseType="lpstr">
      <vt:lpstr>HGP創英角ｺﾞｼｯｸUB</vt:lpstr>
      <vt:lpstr>Meiryo UI</vt:lpstr>
      <vt:lpstr>メイリオ</vt:lpstr>
      <vt:lpstr>Arial</vt:lpstr>
      <vt:lpstr>Calibri</vt:lpstr>
      <vt:lpstr>Ink Free</vt:lpstr>
      <vt:lpstr>3_富士通テン01</vt:lpstr>
      <vt:lpstr>3_富士通テン01</vt:lpstr>
      <vt:lpstr>LLM Security Scan 外部仕様書</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富士通テン株式会社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micros_ppt_template</dc:title>
  <dc:creator>micros soft</dc:creator>
  <cp:lastModifiedBy>引地 信之</cp:lastModifiedBy>
  <cp:revision>251</cp:revision>
  <cp:lastPrinted>2025-01-24T06:39:00Z</cp:lastPrinted>
  <dcterms:created xsi:type="dcterms:W3CDTF">2010-12-21T00:06:43Z</dcterms:created>
  <dcterms:modified xsi:type="dcterms:W3CDTF">2026-03-14T06:21:55Z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0x0101001586EC5222D8DD4EA9380A9586B0DF37</vt:lpwstr>
  </property>
  <property fmtid="{D5CDD505-2E9C-101B-9397-08002B2CF9AE}" pid="3" name="MediaServiceImageTags">
    <vt:lpwstr/>
  </property>
</Properties>
</file>