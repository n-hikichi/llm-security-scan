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77" r:id="rId3"/>
    <p:sldId id="257" r:id="rId4"/>
    <p:sldId id="258" r:id="rId5"/>
    <p:sldId id="260" r:id="rId6"/>
    <p:sldId id="262" r:id="rId7"/>
    <p:sldId id="264" r:id="rId8"/>
    <p:sldId id="266" r:id="rId9"/>
    <p:sldId id="268" r:id="rId10"/>
    <p:sldId id="270" r:id="rId11"/>
    <p:sldId id="272" r:id="rId12"/>
    <p:sldId id="27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8" y="9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E958DF-B605-6838-264D-52E74A7FC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115C3-F95D-A547-FF71-37705B949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79392D-34FC-BB38-914F-AF81952C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76046A-60F1-610D-64F0-C7BE0C2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E0D23D-C93C-6FFE-82D6-F0E69889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72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3C3B0-34C4-F3FF-C803-1E40B2EE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BA79FA-6B1B-590C-C6AB-7E4AAC796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33D0F-ABE5-7414-D803-45D7751A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0C365-5B88-74EE-7B62-86F6BEC3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3E3F6-B281-6106-8EB3-4729B07D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125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333B0-2A76-54CF-CF4A-032A0464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C730CE-6A03-17A2-9FC9-FC2D1A62E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4BF12-D1EF-70FF-B8AC-789EB4B7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DD5581-3F1F-91CA-CA42-99E74511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AF23A-2C3F-8847-A61A-0089630C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24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31A4B-C46A-1470-81D9-CABA8DCA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C1C19-6CEB-3068-A360-92AB5DB73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2CA2B3-46AF-6A04-306D-DDA241321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E750DA-4CBA-A4EF-7DC4-A6E913A5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E3745B-6471-DF3A-65C7-C814D810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2052F9-FE82-8F3D-044D-B7CEB93F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69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539EB-D82A-EACD-AA73-A7BF8782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5AB8D9-2AFD-93B7-BF15-A669F0E9F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E90032-C747-9C42-CED9-E1D57311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68E3BB-C300-1811-F78A-DEB91A74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6CA20E-BF94-B8CA-DA0D-A1DE80FCB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FD2D46-C103-9F82-E775-EEFF07E3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DEE59A-662C-42EF-BE97-F1CC2DBB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B70BD8-BE5E-3F8E-07B8-B5359521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95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4B614-1A6A-A5B8-8505-68E9145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36A970-756B-C65A-E342-FDB82209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45C59E-E475-C4A2-EDC0-8200D267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725706-4B23-2B55-8ECD-4BE5A21B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900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A54C0-2BEE-9A7B-162D-42B9E210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A9BB56-B2B5-F05B-23E3-8409569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3349B1-9311-91F6-CA02-E1A02036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63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7C3DF9-18F3-6D75-6155-663707FB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EA484B-C533-1B26-0F3B-87FA7B07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C97A28-DE36-FDC7-4E43-26AD5817F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2896A-09FD-0A04-C198-EC1CCEB6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0A48B5-C7AA-FC53-3E31-964AA383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793B44-A1D4-AB57-8D30-C848F443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80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3246D-C1F0-B260-5684-78EBF2A7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3241326-F210-B167-2C34-289A1C652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BB401A-D01E-1CBD-81BF-A0B28811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97196B-CE25-4925-6542-ADB12517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7D1AF4-1788-4B00-4122-883C9C60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5E1D3F-8DF5-36AF-943B-42EC31B0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812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454DF-5DCA-A600-F065-51D382FC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1D9FCC-23C7-FDF3-19E2-5EB7E410E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4DD15E-3F3E-508D-DDBB-B4DC8E84D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D6C11E-8123-05A2-3B73-1BC628DA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D4F2C4-89B2-4E6F-A55E-BADEE6B2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421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5B510A-8B04-00C9-19A7-05F18B97B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6018C6-14F5-6AE3-15FC-8BC8CBBE9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F1732-2602-9F36-EF6F-29242BDA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02CC1-FE41-7D5D-07B9-EE806BDC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9C3DB8-B11B-BD0C-E6FB-DD802181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7250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E958DF-B605-6838-264D-52E74A7FC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83115C3-F95D-A547-FF71-37705B949A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79392D-34FC-BB38-914F-AF81952C9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C76046A-60F1-610D-64F0-C7BE0C286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E0D23D-C93C-6FFE-82D6-F0E69889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2727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B3C3B0-34C4-F3FF-C803-1E40B2EEB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BA79FA-6B1B-590C-C6AB-7E4AAC796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833D0F-ABE5-7414-D803-45D7751A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E0C365-5B88-74EE-7B62-86F6BEC37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3E3F6-B281-6106-8EB3-4729B07D7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01250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3333B0-2A76-54CF-CF4A-032A0464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7C730CE-6A03-17A2-9FC9-FC2D1A62E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E4BF12-D1EF-70FF-B8AC-789EB4B7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DD5581-3F1F-91CA-CA42-99E74511F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7AF23A-2C3F-8847-A61A-0089630C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2244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631A4B-C46A-1470-81D9-CABA8DCA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8EC1C19-6CEB-3068-A360-92AB5DB73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2CA2B3-46AF-6A04-306D-DDA241321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AE750DA-4CBA-A4EF-7DC4-A6E913A5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2E3745B-6471-DF3A-65C7-C814D810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F2052F9-FE82-8F3D-044D-B7CEB93F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695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539EB-D82A-EACD-AA73-A7BF8782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5AB8D9-2AFD-93B7-BF15-A669F0E9F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E90032-C747-9C42-CED9-E1D57311EB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B68E3BB-C300-1811-F78A-DEB91A74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6CA20E-BF94-B8CA-DA0D-A1DE80FCB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FD2D46-C103-9F82-E775-EEFF07E3E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DEE59A-662C-42EF-BE97-F1CC2DBB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EB70BD8-BE5E-3F8E-07B8-B53595210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0955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E4B614-1A6A-A5B8-8505-68E9145E8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036A970-756B-C65A-E342-FDB82209E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A45C59E-E475-C4A2-EDC0-8200D2676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5725706-4B23-2B55-8ECD-4BE5A21B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900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90A54C0-2BEE-9A7B-162D-42B9E210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AA9BB56-B2B5-F05B-23E3-84095698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3349B1-9311-91F6-CA02-E1A02036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6383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7C3DF9-18F3-6D75-6155-663707FBA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EA484B-C533-1B26-0F3B-87FA7B075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C97A28-DE36-FDC7-4E43-26AD5817F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2896A-09FD-0A04-C198-EC1CCEB6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0A48B5-C7AA-FC53-3E31-964AA383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8793B44-A1D4-AB57-8D30-C848F443D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805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13246D-C1F0-B260-5684-78EBF2A79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3241326-F210-B167-2C34-289A1C652F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BB401A-D01E-1CBD-81BF-A0B288110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97196B-CE25-4925-6542-ADB125178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7D1AF4-1788-4B00-4122-883C9C603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5E1D3F-8DF5-36AF-943B-42EC31B0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812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7454DF-5DCA-A600-F065-51D382FC1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41D9FCC-23C7-FDF3-19E2-5EB7E410E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4DD15E-3F3E-508D-DDBB-B4DC8E84D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D6C11E-8123-05A2-3B73-1BC628DA2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D4F2C4-89B2-4E6F-A55E-BADEE6B2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9421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25B510A-8B04-00C9-19A7-05F18B97BF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6018C6-14F5-6AE3-15FC-8BC8CBBE9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F1732-2602-9F36-EF6F-29242BDA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002CC1-FE41-7D5D-07B9-EE806BDC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9C3DB8-B11B-BD0C-E6FB-DD802181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725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A0D9578-C576-6686-16B5-F646A5A1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CEEFC6-9001-D930-607B-62B6FDBC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956DD1-8D7D-D073-C27C-27436F7B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7D5A6A-2C83-ED86-DF04-578AFAC91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5A9344-8EF9-C5B0-08F6-96F0772DA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0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A0D9578-C576-6686-16B5-F646A5A1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CEEFC6-9001-D930-607B-62B6FDBC3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956DD1-8D7D-D073-C27C-27436F7B1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37703-1E1C-491A-9528-E128BBF54B56}" type="datetimeFigureOut">
              <a:rPr kumimoji="1" lang="ja-JP" altLang="en-US" smtClean="0"/>
              <a:t>2026/3/10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7D5A6A-2C83-ED86-DF04-578AFAC91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5A9344-8EF9-C5B0-08F6-96F0772DA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D198F-90C2-4D9F-911E-750759BC4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0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8162FA-BD16-17BA-295F-13D015167A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ja-JP" altLang="en-US" sz="3600" b="1" dirty="0">
                <a:solidFill>
                  <a:srgbClr val="2F5496"/>
                </a:solidFill>
                <a:latin typeface="Meiryo UI"/>
                <a:ea typeface="Meiryo UI"/>
              </a:rPr>
              <a:t>インストールと</a:t>
            </a:r>
          </a:p>
          <a:p>
            <a:pPr algn="ctr">
              <a:buNone/>
            </a:pPr>
            <a:r>
              <a:rPr lang="en-US" altLang="ja-JP" sz="3600" b="1" dirty="0">
                <a:solidFill>
                  <a:srgbClr val="2F5496"/>
                </a:solidFill>
                <a:latin typeface="Meiryo UI"/>
                <a:ea typeface="Meiryo UI"/>
              </a:rPr>
              <a:t>Security Scan</a:t>
            </a:r>
            <a:r>
              <a:rPr lang="ja-JP" altLang="en-US" sz="3600" b="1" dirty="0">
                <a:solidFill>
                  <a:srgbClr val="2F5496"/>
                </a:solidFill>
                <a:latin typeface="Meiryo UI"/>
                <a:ea typeface="Meiryo UI"/>
              </a:rPr>
              <a:t>（</a:t>
            </a:r>
            <a:r>
              <a:rPr lang="en-US" altLang="ja-JP" sz="3600" b="1" dirty="0">
                <a:solidFill>
                  <a:srgbClr val="2F5496"/>
                </a:solidFill>
                <a:latin typeface="Meiryo UI"/>
                <a:ea typeface="Meiryo UI"/>
              </a:rPr>
              <a:t>LLM base</a:t>
            </a:r>
            <a:r>
              <a:rPr lang="ja-JP" altLang="en-US" sz="3600" b="1" dirty="0">
                <a:solidFill>
                  <a:srgbClr val="2F5496"/>
                </a:solidFill>
                <a:latin typeface="Meiryo UI"/>
                <a:ea typeface="Meiryo UI"/>
              </a:rPr>
              <a:t>）の方法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7B94370-2D50-60EF-C0A6-6BDFC3259F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altLang="ja-JP" sz="2000" dirty="0">
                <a:solidFill>
                  <a:srgbClr val="404040"/>
                </a:solidFill>
                <a:latin typeface="Meiryo UI"/>
                <a:ea typeface="Meiryo UI"/>
              </a:rPr>
              <a:t>Claude Code CLI + Agent-Skill </a:t>
            </a:r>
            <a:r>
              <a:rPr lang="ja-JP" altLang="en-US" sz="2000" dirty="0">
                <a:solidFill>
                  <a:srgbClr val="404040"/>
                </a:solidFill>
                <a:latin typeface="Meiryo UI"/>
                <a:ea typeface="Meiryo UI"/>
              </a:rPr>
              <a:t>を利用した</a:t>
            </a:r>
          </a:p>
          <a:p>
            <a:pPr algn="ctr">
              <a:buNone/>
            </a:pPr>
            <a:r>
              <a:rPr lang="en-US" altLang="ja-JP" sz="2000" dirty="0">
                <a:solidFill>
                  <a:srgbClr val="404040"/>
                </a:solidFill>
                <a:latin typeface="Meiryo UI"/>
                <a:ea typeface="Meiryo UI"/>
              </a:rPr>
              <a:t>LLM </a:t>
            </a:r>
            <a:r>
              <a:rPr lang="ja-JP" altLang="en-US" sz="2000" dirty="0">
                <a:solidFill>
                  <a:srgbClr val="404040"/>
                </a:solidFill>
                <a:latin typeface="Meiryo UI"/>
                <a:ea typeface="Meiryo UI"/>
              </a:rPr>
              <a:t>ベースセキュリティスキャン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B5622F9-02C5-4DC3-949B-98BEDE2DDC26}"/>
              </a:ext>
            </a:extLst>
          </p:cNvPr>
          <p:cNvSpPr/>
          <p:nvPr/>
        </p:nvSpPr>
        <p:spPr>
          <a:xfrm>
            <a:off x="4191000" y="3556000"/>
            <a:ext cx="3810000" cy="38100"/>
          </a:xfrm>
          <a:prstGeom prst="rect">
            <a:avLst/>
          </a:prstGeom>
          <a:solidFill>
            <a:srgbClr val="4472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151BEE-5B3C-4BF8-A856-6A61DA6ABAC7}"/>
              </a:ext>
            </a:extLst>
          </p:cNvPr>
          <p:cNvSpPr txBox="1"/>
          <p:nvPr/>
        </p:nvSpPr>
        <p:spPr>
          <a:xfrm>
            <a:off x="3810000" y="5334000"/>
            <a:ext cx="457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altLang="ja-JP" sz="1600">
                <a:solidFill>
                  <a:srgbClr val="808080"/>
                </a:solidFill>
                <a:latin typeface="Meiryo UI"/>
                <a:ea typeface="Meiryo UI"/>
              </a:rPr>
              <a:t>n.hikichi @ </a:t>
            </a:r>
            <a:r>
              <a:rPr lang="ja-JP" altLang="en-US" sz="1600">
                <a:solidFill>
                  <a:srgbClr val="808080"/>
                </a:solidFill>
                <a:latin typeface="Meiryo UI"/>
                <a:ea typeface="Meiryo UI"/>
              </a:rPr>
              <a:t>生成 </a:t>
            </a:r>
            <a:r>
              <a:rPr lang="en-US" altLang="ja-JP" sz="1600">
                <a:solidFill>
                  <a:srgbClr val="808080"/>
                </a:solidFill>
                <a:latin typeface="Meiryo UI"/>
                <a:ea typeface="Meiryo UI"/>
              </a:rPr>
              <a:t>AI </a:t>
            </a:r>
            <a:r>
              <a:rPr lang="ja-JP" altLang="en-US" sz="1600">
                <a:solidFill>
                  <a:srgbClr val="808080"/>
                </a:solidFill>
                <a:latin typeface="Meiryo UI"/>
                <a:ea typeface="Meiryo UI"/>
              </a:rPr>
              <a:t>活用プロジェクト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411092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5C24332-1B14-48A7-AB69-E69712E9B2C2}"/>
              </a:ext>
            </a:extLst>
          </p:cNvPr>
          <p:cNvSpPr/>
          <p:nvPr/>
        </p:nvSpPr>
        <p:spPr>
          <a:xfrm>
            <a:off x="393700" y="101600"/>
            <a:ext cx="28702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目次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234435-C74D-41B3-8615-9D0F05DE7116}"/>
              </a:ext>
            </a:extLst>
          </p:cNvPr>
          <p:cNvSpPr txBox="1"/>
          <p:nvPr/>
        </p:nvSpPr>
        <p:spPr>
          <a:xfrm>
            <a:off x="698500" y="723900"/>
            <a:ext cx="11176000" cy="35394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ja-JP" sz="2800">
                <a:latin typeface="Meiryo UI"/>
                <a:ea typeface="Meiryo UI"/>
              </a:rPr>
              <a:t>1. </a:t>
            </a:r>
            <a:r>
              <a:rPr lang="ja-JP" altLang="en-US" sz="2800">
                <a:latin typeface="Meiryo UI"/>
                <a:ea typeface="Meiryo UI"/>
              </a:rPr>
              <a:t>概要
</a:t>
            </a:r>
            <a:r>
              <a:rPr lang="en-US" altLang="ja-JP" sz="2800">
                <a:latin typeface="Meiryo UI"/>
                <a:ea typeface="Meiryo UI"/>
              </a:rPr>
              <a:t>2. MCP Serena </a:t>
            </a:r>
            <a:r>
              <a:rPr lang="ja-JP" altLang="en-US" sz="2800">
                <a:latin typeface="Meiryo UI"/>
                <a:ea typeface="Meiryo UI"/>
              </a:rPr>
              <a:t>のセットアップ
</a:t>
            </a:r>
            <a:r>
              <a:rPr lang="en-US" altLang="ja-JP" sz="2800">
                <a:latin typeface="Meiryo UI"/>
                <a:ea typeface="Meiryo UI"/>
              </a:rPr>
              <a:t>3. Serena </a:t>
            </a:r>
            <a:r>
              <a:rPr lang="ja-JP" altLang="en-US" sz="2800">
                <a:latin typeface="Meiryo UI"/>
                <a:ea typeface="Meiryo UI"/>
              </a:rPr>
              <a:t>で </a:t>
            </a:r>
            <a:r>
              <a:rPr lang="en-US" altLang="ja-JP" sz="2800">
                <a:latin typeface="Meiryo UI"/>
                <a:ea typeface="Meiryo UI"/>
              </a:rPr>
              <a:t>prescan </a:t>
            </a:r>
            <a:r>
              <a:rPr lang="ja-JP" altLang="en-US" sz="2800">
                <a:latin typeface="Meiryo UI"/>
                <a:ea typeface="Meiryo UI"/>
              </a:rPr>
              <a:t>する
</a:t>
            </a:r>
            <a:r>
              <a:rPr lang="en-US" altLang="ja-JP" sz="2800">
                <a:latin typeface="Meiryo UI"/>
                <a:ea typeface="Meiryo UI"/>
              </a:rPr>
              <a:t>4. Skill </a:t>
            </a:r>
            <a:r>
              <a:rPr lang="ja-JP" altLang="en-US" sz="2800">
                <a:latin typeface="Meiryo UI"/>
                <a:ea typeface="Meiryo UI"/>
              </a:rPr>
              <a:t>のインストール
</a:t>
            </a:r>
            <a:r>
              <a:rPr lang="en-US" altLang="ja-JP" sz="2800">
                <a:latin typeface="Meiryo UI"/>
                <a:ea typeface="Meiryo UI"/>
              </a:rPr>
              <a:t>5. LLM base </a:t>
            </a:r>
            <a:r>
              <a:rPr lang="ja-JP" altLang="en-US" sz="2800">
                <a:latin typeface="Meiryo UI"/>
                <a:ea typeface="Meiryo UI"/>
              </a:rPr>
              <a:t>の </a:t>
            </a:r>
            <a:r>
              <a:rPr lang="en-US" altLang="ja-JP" sz="2800">
                <a:latin typeface="Meiryo UI"/>
                <a:ea typeface="Meiryo UI"/>
              </a:rPr>
              <a:t>security scan </a:t>
            </a:r>
            <a:r>
              <a:rPr lang="ja-JP" altLang="en-US" sz="2800">
                <a:latin typeface="Meiryo UI"/>
                <a:ea typeface="Meiryo UI"/>
              </a:rPr>
              <a:t>の実行
付録 </a:t>
            </a:r>
            <a:r>
              <a:rPr lang="en-US" altLang="ja-JP" sz="2800">
                <a:latin typeface="Meiryo UI"/>
                <a:ea typeface="Meiryo UI"/>
              </a:rPr>
              <a:t>A. </a:t>
            </a:r>
            <a:r>
              <a:rPr lang="ja-JP" altLang="en-US" sz="2800">
                <a:latin typeface="Meiryo UI"/>
                <a:ea typeface="Meiryo UI"/>
              </a:rPr>
              <a:t>ハルシネーションの可能性
付録 </a:t>
            </a:r>
            <a:r>
              <a:rPr lang="en-US" altLang="ja-JP" sz="2800">
                <a:latin typeface="Meiryo UI"/>
                <a:ea typeface="Meiryo UI"/>
              </a:rPr>
              <a:t>B. Claude </a:t>
            </a:r>
            <a:r>
              <a:rPr lang="ja-JP" altLang="en-US" sz="2800">
                <a:latin typeface="Meiryo UI"/>
                <a:ea typeface="Meiryo UI"/>
              </a:rPr>
              <a:t>のインストール方法
付録 </a:t>
            </a:r>
            <a:r>
              <a:rPr lang="en-US" altLang="ja-JP" sz="2800">
                <a:latin typeface="Meiryo UI"/>
                <a:ea typeface="Meiryo UI"/>
              </a:rPr>
              <a:t>C. </a:t>
            </a:r>
            <a:r>
              <a:rPr lang="ja-JP" altLang="en-US" sz="2800">
                <a:latin typeface="Meiryo UI"/>
                <a:ea typeface="Meiryo UI"/>
              </a:rPr>
              <a:t>実行例</a:t>
            </a:r>
          </a:p>
        </p:txBody>
      </p:sp>
    </p:spTree>
    <p:extLst>
      <p:ext uri="{BB962C8B-B14F-4D97-AF65-F5344CB8AC3E}">
        <p14:creationId xmlns:p14="http://schemas.microsoft.com/office/powerpoint/2010/main" val="212922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75CB8BF-2827-4AEC-AFD4-916060EFA914}"/>
              </a:ext>
            </a:extLst>
          </p:cNvPr>
          <p:cNvSpPr/>
          <p:nvPr/>
        </p:nvSpPr>
        <p:spPr>
          <a:xfrm>
            <a:off x="393700" y="101600"/>
            <a:ext cx="4318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概要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0976F4B-F307-4AC6-B13D-2809A5F9F02A}"/>
              </a:ext>
            </a:extLst>
          </p:cNvPr>
          <p:cNvSpPr txBox="1"/>
          <p:nvPr/>
        </p:nvSpPr>
        <p:spPr>
          <a:xfrm>
            <a:off x="698500" y="787400"/>
            <a:ext cx="11176000" cy="369331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ja-JP" altLang="en-US">
                <a:latin typeface="Meiryo UI"/>
                <a:ea typeface="Meiryo UI"/>
              </a:rPr>
              <a:t>条件
</a:t>
            </a:r>
            <a:r>
              <a:rPr lang="en-US" altLang="ja-JP">
                <a:latin typeface="Meiryo UI"/>
                <a:ea typeface="Meiryo UI"/>
              </a:rPr>
              <a:t>• Claude Code CLI </a:t>
            </a:r>
            <a:r>
              <a:rPr lang="ja-JP" altLang="en-US">
                <a:latin typeface="Meiryo UI"/>
                <a:ea typeface="Meiryo UI"/>
              </a:rPr>
              <a:t>の利用を前提としている
概要
</a:t>
            </a:r>
            <a:r>
              <a:rPr lang="en-US" altLang="ja-JP">
                <a:latin typeface="Meiryo UI"/>
                <a:ea typeface="Meiryo UI"/>
              </a:rPr>
              <a:t>• Claude Code </a:t>
            </a:r>
            <a:r>
              <a:rPr lang="ja-JP" altLang="en-US">
                <a:latin typeface="Meiryo UI"/>
                <a:ea typeface="Meiryo UI"/>
              </a:rPr>
              <a:t>の </a:t>
            </a:r>
            <a:r>
              <a:rPr lang="en-US" altLang="ja-JP">
                <a:latin typeface="Meiryo UI"/>
                <a:ea typeface="Meiryo UI"/>
              </a:rPr>
              <a:t>agent-skill </a:t>
            </a:r>
            <a:r>
              <a:rPr lang="ja-JP" altLang="en-US">
                <a:latin typeface="Meiryo UI"/>
                <a:ea typeface="Meiryo UI"/>
              </a:rPr>
              <a:t>という機能を利用している
</a:t>
            </a:r>
            <a:r>
              <a:rPr lang="en-US" altLang="ja-JP">
                <a:latin typeface="Meiryo UI"/>
                <a:ea typeface="Meiryo UI"/>
              </a:rPr>
              <a:t>• </a:t>
            </a:r>
            <a:r>
              <a:rPr lang="ja-JP" altLang="en-US">
                <a:latin typeface="Meiryo UI"/>
                <a:ea typeface="Meiryo UI"/>
              </a:rPr>
              <a:t>この機能を利用してセキュリティスキャンを実装している
</a:t>
            </a:r>
            <a:r>
              <a:rPr lang="en-US" altLang="ja-JP">
                <a:latin typeface="Meiryo UI"/>
                <a:ea typeface="Meiryo UI"/>
              </a:rPr>
              <a:t>agent-skill </a:t>
            </a:r>
            <a:r>
              <a:rPr lang="ja-JP" altLang="en-US">
                <a:latin typeface="Meiryo UI"/>
                <a:ea typeface="Meiryo UI"/>
              </a:rPr>
              <a:t>とは
</a:t>
            </a:r>
            <a:r>
              <a:rPr lang="en-US" altLang="ja-JP">
                <a:latin typeface="Meiryo UI"/>
                <a:ea typeface="Meiryo UI"/>
              </a:rPr>
              <a:t>• Claude </a:t>
            </a:r>
            <a:r>
              <a:rPr lang="ja-JP" altLang="en-US">
                <a:latin typeface="Meiryo UI"/>
                <a:ea typeface="Meiryo UI"/>
              </a:rPr>
              <a:t>におけるサブタスクを実行する仕組み
</a:t>
            </a:r>
            <a:r>
              <a:rPr lang="en-US" altLang="ja-JP">
                <a:latin typeface="Meiryo UI"/>
                <a:ea typeface="Meiryo UI"/>
              </a:rPr>
              <a:t>• Context </a:t>
            </a:r>
            <a:r>
              <a:rPr lang="ja-JP" altLang="en-US">
                <a:latin typeface="Meiryo UI"/>
                <a:ea typeface="Meiryo UI"/>
              </a:rPr>
              <a:t>を消費せず、サブタスク内で生成 </a:t>
            </a:r>
            <a:r>
              <a:rPr lang="en-US" altLang="ja-JP">
                <a:latin typeface="Meiryo UI"/>
                <a:ea typeface="Meiryo UI"/>
              </a:rPr>
              <a:t>AI </a:t>
            </a:r>
            <a:r>
              <a:rPr lang="ja-JP" altLang="en-US">
                <a:latin typeface="Meiryo UI"/>
                <a:ea typeface="Meiryo UI"/>
              </a:rPr>
              <a:t>でのタスクが
  自立的に動作する
</a:t>
            </a:r>
            <a:r>
              <a:rPr lang="en-US" altLang="ja-JP">
                <a:latin typeface="Meiryo UI"/>
                <a:ea typeface="Meiryo UI"/>
              </a:rPr>
              <a:t>• Python / Javascript </a:t>
            </a:r>
            <a:r>
              <a:rPr lang="ja-JP" altLang="en-US">
                <a:latin typeface="Meiryo UI"/>
                <a:ea typeface="Meiryo UI"/>
              </a:rPr>
              <a:t>などのコードの実行も可能
</a:t>
            </a:r>
            <a:r>
              <a:rPr lang="en-US" altLang="ja-JP">
                <a:latin typeface="Meiryo UI"/>
                <a:ea typeface="Meiryo UI"/>
              </a:rPr>
              <a:t>• </a:t>
            </a:r>
            <a:r>
              <a:rPr lang="ja-JP" altLang="en-US">
                <a:latin typeface="Meiryo UI"/>
                <a:ea typeface="Meiryo UI"/>
              </a:rPr>
              <a:t>実行空間は </a:t>
            </a:r>
            <a:r>
              <a:rPr lang="en-US" altLang="ja-JP">
                <a:latin typeface="Meiryo UI"/>
                <a:ea typeface="Meiryo UI"/>
              </a:rPr>
              <a:t>Anthropic </a:t>
            </a:r>
            <a:r>
              <a:rPr lang="ja-JP" altLang="en-US">
                <a:latin typeface="Meiryo UI"/>
                <a:ea typeface="Meiryo UI"/>
              </a:rPr>
              <a:t>の </a:t>
            </a:r>
            <a:r>
              <a:rPr lang="en-US" altLang="ja-JP">
                <a:latin typeface="Meiryo UI"/>
                <a:ea typeface="Meiryo UI"/>
              </a:rPr>
              <a:t>cloud </a:t>
            </a:r>
            <a:r>
              <a:rPr lang="ja-JP" altLang="en-US">
                <a:latin typeface="Meiryo UI"/>
                <a:ea typeface="Meiryo UI"/>
              </a:rPr>
              <a:t>環境</a:t>
            </a:r>
          </a:p>
        </p:txBody>
      </p:sp>
    </p:spTree>
    <p:extLst>
      <p:ext uri="{BB962C8B-B14F-4D97-AF65-F5344CB8AC3E}">
        <p14:creationId xmlns:p14="http://schemas.microsoft.com/office/powerpoint/2010/main" val="298006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53CB55-1137-400F-8D78-165D88C5400E}"/>
              </a:ext>
            </a:extLst>
          </p:cNvPr>
          <p:cNvSpPr/>
          <p:nvPr/>
        </p:nvSpPr>
        <p:spPr>
          <a:xfrm>
            <a:off x="393700" y="101600"/>
            <a:ext cx="6350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1. MCP Serena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のセットアップ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990FA0-4E9D-4B54-B52B-726DB0FAEBC1}"/>
              </a:ext>
            </a:extLst>
          </p:cNvPr>
          <p:cNvSpPr txBox="1"/>
          <p:nvPr/>
        </p:nvSpPr>
        <p:spPr>
          <a:xfrm>
            <a:off x="698500" y="787400"/>
            <a:ext cx="11176000" cy="28418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a. 事前に uv のインストール</a:t>
            </a:r>
          </a:p>
          <a:p>
            <a:pPr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uv はスキャン対象ディレクトリで serena をインストールするために必要</a:t>
            </a:r>
          </a:p>
          <a:p>
            <a:pPr>
              <a:buFont typeface="Arial"/>
              <a:buChar char="•"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curl -LsSf https://astral.sh/uv/install.sh | sh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b. スキャン対象ディレクトリで serena をインストールして起動</a:t>
            </a:r>
          </a:p>
          <a:p>
            <a:pPr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この段階で security 対象の repository は展開しておく必要がある</a:t>
            </a:r>
          </a:p>
          <a:p>
            <a:pPr>
              <a:buFont typeface="Arial"/>
              <a:buChar char="•"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claude mcp add serena -- uvx --from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  git+https://github.com/oraios/serena \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  serena-mcp-server --context ide-assistant \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  --project $(pwd) --enable-webdashboard=false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c. 確認コマンド</a:t>
            </a:r>
          </a:p>
          <a:p>
            <a:pPr>
              <a:buFont typeface="Arial"/>
              <a:buChar char="•"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claude mcp list</a:t>
            </a:r>
            <a:r>
              <a:rPr lang="ja-JP" altLang="en-US" sz="1600" dirty="0">
                <a:latin typeface="Meiryo UI"/>
                <a:ea typeface="Meiryo UI"/>
              </a:rPr>
              <a:t>  または  </a:t>
            </a: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&gt; /mcp</a:t>
            </a:r>
          </a:p>
        </p:txBody>
      </p:sp>
    </p:spTree>
    <p:extLst>
      <p:ext uri="{BB962C8B-B14F-4D97-AF65-F5344CB8AC3E}">
        <p14:creationId xmlns:p14="http://schemas.microsoft.com/office/powerpoint/2010/main" val="450062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7CABBA-9CC0-4039-91CA-EF50EAF3456E}"/>
              </a:ext>
            </a:extLst>
          </p:cNvPr>
          <p:cNvSpPr/>
          <p:nvPr/>
        </p:nvSpPr>
        <p:spPr>
          <a:xfrm>
            <a:off x="393700" y="101600"/>
            <a:ext cx="6350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2. Serena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で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prescan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（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onboarding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）する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E37E92-9C15-40D5-A741-F9268FA5446D}"/>
              </a:ext>
            </a:extLst>
          </p:cNvPr>
          <p:cNvSpPr txBox="1"/>
          <p:nvPr/>
        </p:nvSpPr>
        <p:spPr>
          <a:xfrm>
            <a:off x="698500" y="787400"/>
            <a:ext cx="11176000" cy="30367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a. onboarding 処理を実行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スキャン対象ディレクトリで claude を起動し、次の onboarding 処理を行う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時間を要する</a:t>
            </a:r>
          </a:p>
          <a:p>
            <a:pPr>
              <a:spcBef>
                <a:spcPts val="200"/>
              </a:spcBef>
              <a:buNone/>
            </a:pPr>
            <a:r>
              <a:rPr lang="en-US" altLang="ja-JP" sz="1600" dirty="0">
                <a:solidFill>
                  <a:srgbClr val="595959"/>
                </a:solidFill>
                <a:latin typeface="Consolas"/>
                <a:ea typeface="Meiryo UI"/>
              </a:rPr>
              <a:t>&gt; mcp serena の onboarding 処理を行って。</a:t>
            </a:r>
          </a:p>
          <a:p>
            <a:pPr>
              <a:spcBef>
                <a:spcPts val="6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b. Context を消費しているので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claude code CLI は再起動しておく</a:t>
            </a:r>
          </a:p>
          <a:p>
            <a:pPr>
              <a:spcBef>
                <a:spcPts val="8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参考: onboarding 作業とは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プロジェクトを初めて Serena MCP で扱う際に行われる、</a:t>
            </a:r>
          </a:p>
          <a:p>
            <a:pPr marL="228600">
              <a:buNone/>
            </a:pPr>
            <a:r>
              <a:rPr lang="ja-JP" altLang="en-US" sz="1800" dirty="0">
                <a:latin typeface="Meiryo UI"/>
                <a:ea typeface="Meiryo UI"/>
              </a:rPr>
              <a:t>初期理解・構造分析・インデックス生成・メモリ作成などの</a:t>
            </a:r>
          </a:p>
          <a:p>
            <a:pPr marL="228600">
              <a:buNone/>
            </a:pPr>
            <a:r>
              <a:rPr lang="ja-JP" altLang="en-US" sz="1800" dirty="0">
                <a:latin typeface="Meiryo UI"/>
                <a:ea typeface="Meiryo UI"/>
              </a:rPr>
              <a:t>一連の初期化プロセス</a:t>
            </a:r>
          </a:p>
        </p:txBody>
      </p:sp>
    </p:spTree>
    <p:extLst>
      <p:ext uri="{BB962C8B-B14F-4D97-AF65-F5344CB8AC3E}">
        <p14:creationId xmlns:p14="http://schemas.microsoft.com/office/powerpoint/2010/main" val="3557025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DB866E2-E4B1-43E3-9D3A-3177F9049327}"/>
              </a:ext>
            </a:extLst>
          </p:cNvPr>
          <p:cNvSpPr/>
          <p:nvPr/>
        </p:nvSpPr>
        <p:spPr>
          <a:xfrm>
            <a:off x="393700" y="101600"/>
            <a:ext cx="6350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3. Skill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のインストール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35F6CF1-7585-4B7D-8C81-33671CD19130}"/>
              </a:ext>
            </a:extLst>
          </p:cNvPr>
          <p:cNvSpPr txBox="1"/>
          <p:nvPr/>
        </p:nvSpPr>
        <p:spPr>
          <a:xfrm>
            <a:off x="698500" y="787400"/>
            <a:ext cx="11176000" cy="2893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a. GitHub Releases から llm-security-scan.zip をダウンロード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以下のリンクから最新版をダウンロード: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https://github.com/n-hikichi/llm-security-scan/releases/latest</a:t>
            </a:r>
          </a:p>
          <a:p>
            <a:pPr>
              <a:spcBef>
                <a:spcPts val="6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b. スキャン対象ディレクトリに展開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claude 起動ディレクトリに展開する</a:t>
            </a:r>
          </a:p>
          <a:p>
            <a:pPr>
              <a:spcBef>
                <a:spcPts val="6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c. .claude/skills/ に展開されていることを確認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Claude へ次の指示で、skill が認識されていることを確認: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&gt; skill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認識されていない場合は、再起動してもう一度確認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日本語で確認したい場合:  </a:t>
            </a: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&gt; 日本語で再提示して</a:t>
            </a:r>
          </a:p>
        </p:txBody>
      </p:sp>
    </p:spTree>
    <p:extLst>
      <p:ext uri="{BB962C8B-B14F-4D97-AF65-F5344CB8AC3E}">
        <p14:creationId xmlns:p14="http://schemas.microsoft.com/office/powerpoint/2010/main" val="582700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304F97D-4679-4E21-B66F-9046F8B070DA}"/>
              </a:ext>
            </a:extLst>
          </p:cNvPr>
          <p:cNvSpPr/>
          <p:nvPr/>
        </p:nvSpPr>
        <p:spPr>
          <a:xfrm>
            <a:off x="393700" y="101600"/>
            <a:ext cx="8255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4. LLM base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security scan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の実行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99A5F1-8CB0-49B7-AF08-5EB75C8701B7}"/>
              </a:ext>
            </a:extLst>
          </p:cNvPr>
          <p:cNvSpPr txBox="1"/>
          <p:nvPr/>
        </p:nvSpPr>
        <p:spPr>
          <a:xfrm>
            <a:off x="698500" y="787400"/>
            <a:ext cx="11176000" cy="33855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a. security scan を開始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Claude へ次の指示でスキャンを開始（10分近くかかる場合あり）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&gt; セキュリティスキャンを実行して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選択肢を促された場合は、それに対応して指定</a:t>
            </a:r>
          </a:p>
          <a:p>
            <a:pPr>
              <a:spcBef>
                <a:spcPts val="6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b. npm audit の実行許可確認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"npm audit" の実行許可確認が発生した場合、ここでは実行しない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選択肢が提示された場合、"1." と "2." を進めるよう指示</a:t>
            </a:r>
          </a:p>
          <a:p>
            <a:pPr marL="457200" lvl="1"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1. package.json の目視確認のみでレポート作成</a:t>
            </a:r>
          </a:p>
          <a:p>
            <a:pPr marL="457200" lvl="1"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2. コードベースの静的解析に集中</a:t>
            </a:r>
          </a:p>
          <a:p>
            <a:pPr>
              <a:spcBef>
                <a:spcPts val="600"/>
              </a:spcBef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c. セキュリティレポートの保存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レポート表示後、必要に応じてファイルに保存: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&gt; 得られたレポートをファイルに保存して。</a:t>
            </a:r>
          </a:p>
        </p:txBody>
      </p:sp>
    </p:spTree>
    <p:extLst>
      <p:ext uri="{BB962C8B-B14F-4D97-AF65-F5344CB8AC3E}">
        <p14:creationId xmlns:p14="http://schemas.microsoft.com/office/powerpoint/2010/main" val="53047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BC2A6FF-99FC-4D59-8E1C-42FF70B4891C}"/>
              </a:ext>
            </a:extLst>
          </p:cNvPr>
          <p:cNvSpPr/>
          <p:nvPr/>
        </p:nvSpPr>
        <p:spPr>
          <a:xfrm>
            <a:off x="393700" y="101600"/>
            <a:ext cx="8890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付録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A.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ハルシネーションの可能性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7058FC5-828D-4E31-94AB-ECC3003B5A62}"/>
              </a:ext>
            </a:extLst>
          </p:cNvPr>
          <p:cNvSpPr txBox="1"/>
          <p:nvPr/>
        </p:nvSpPr>
        <p:spPr>
          <a:xfrm>
            <a:off x="698500" y="787400"/>
            <a:ext cx="11176000" cy="27033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2000" b="1" dirty="0">
                <a:solidFill>
                  <a:srgbClr val="2F5496"/>
                </a:solidFill>
                <a:latin typeface="Meiryo UI"/>
                <a:ea typeface="Meiryo UI"/>
              </a:rPr>
              <a:t>Agent-skill でのハルシネーション発生例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Claude の Agent-skill で、次のような状況でハルシネーションが発生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Skill の知識として「推奨」と記述しただけなのに、実際に実行してしまった</a:t>
            </a:r>
          </a:p>
          <a:p>
            <a:pPr>
              <a:spcBef>
                <a:spcPts val="2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例: 依存環境を scan する npm audit が有効と記述 → 実行された</a:t>
            </a:r>
          </a:p>
          <a:p>
            <a:pPr>
              <a:spcBef>
                <a:spcPts val="800"/>
              </a:spcBef>
              <a:buNone/>
            </a:pPr>
            <a:r>
              <a:rPr lang="ja-JP" altLang="en-US" sz="2000" b="1" dirty="0">
                <a:solidFill>
                  <a:srgbClr val="C00000"/>
                </a:solidFill>
                <a:latin typeface="Meiryo UI"/>
                <a:ea typeface="Meiryo UI"/>
              </a:rPr>
              <a:t>対策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推奨環境の記述自体を削除する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「こうすると良い」という記述は、AI が実行可能と解釈して</a:t>
            </a:r>
          </a:p>
          <a:p>
            <a:pPr marL="228600">
              <a:buNone/>
            </a:pPr>
            <a:r>
              <a:rPr lang="ja-JP" altLang="en-US" sz="1800" dirty="0">
                <a:latin typeface="Meiryo UI"/>
                <a:ea typeface="Meiryo UI"/>
              </a:rPr>
              <a:t>実行してしまうリスクがある</a:t>
            </a:r>
          </a:p>
        </p:txBody>
      </p:sp>
    </p:spTree>
    <p:extLst>
      <p:ext uri="{BB962C8B-B14F-4D97-AF65-F5344CB8AC3E}">
        <p14:creationId xmlns:p14="http://schemas.microsoft.com/office/powerpoint/2010/main" val="3836349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B05AE2F-4A4F-4ED0-B5F1-22B95FC7C3C8}"/>
              </a:ext>
            </a:extLst>
          </p:cNvPr>
          <p:cNvSpPr/>
          <p:nvPr/>
        </p:nvSpPr>
        <p:spPr>
          <a:xfrm>
            <a:off x="393700" y="101600"/>
            <a:ext cx="9525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付録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B. Claude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のインストール方法（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1/2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B887E34-8649-4D63-B7FA-3EEF45D44B04}"/>
              </a:ext>
            </a:extLst>
          </p:cNvPr>
          <p:cNvSpPr txBox="1"/>
          <p:nvPr/>
        </p:nvSpPr>
        <p:spPr>
          <a:xfrm>
            <a:off x="698500" y="787400"/>
            <a:ext cx="11176000" cy="30623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2000" b="1" dirty="0">
                <a:solidFill>
                  <a:srgbClr val="2F5496"/>
                </a:solidFill>
                <a:latin typeface="Meiryo UI"/>
                <a:ea typeface="Meiryo UI"/>
              </a:rPr>
              <a:t>Ubuntu へのインストール例（Claude Code CLI）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Ubuntu の場合、binary version がお勧め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Javascript 版もあるが、JS が target の場合 conflict の可能性あり</a:t>
            </a:r>
          </a:p>
          <a:p>
            <a:pPr>
              <a:spcBef>
                <a:spcPts val="300"/>
              </a:spcBef>
              <a:buNone/>
            </a:pPr>
            <a:r>
              <a:rPr lang="ja-JP" altLang="en-US" sz="1600" dirty="0">
                <a:latin typeface="Meiryo UI"/>
                <a:ea typeface="Meiryo UI"/>
              </a:rPr>
              <a:t>インストールコマンド: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curl -fsSL https://claude.ai/install.sh | bash</a:t>
            </a:r>
          </a:p>
          <a:p>
            <a:pPr>
              <a:spcBef>
                <a:spcPts val="800"/>
              </a:spcBef>
              <a:buNone/>
            </a:pPr>
            <a:r>
              <a:rPr lang="ja-JP" altLang="en-US" sz="2000" b="1" dirty="0">
                <a:solidFill>
                  <a:srgbClr val="2F5496"/>
                </a:solidFill>
                <a:latin typeface="Meiryo UI"/>
                <a:ea typeface="Meiryo UI"/>
              </a:rPr>
              <a:t>Claude Code CLI の認証（初回利用時）</a:t>
            </a:r>
          </a:p>
          <a:p>
            <a:pPr>
              <a:spcBef>
                <a:spcPts val="3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a. Chromium をインストールする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b. Claude 起動時に認証用 URL が表示される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c. Email に認証用 token 生成 URL が含まれている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d. 認証時、普通は email を参照しないで進められる</a:t>
            </a:r>
          </a:p>
        </p:txBody>
      </p:sp>
    </p:spTree>
    <p:extLst>
      <p:ext uri="{BB962C8B-B14F-4D97-AF65-F5344CB8AC3E}">
        <p14:creationId xmlns:p14="http://schemas.microsoft.com/office/powerpoint/2010/main" val="2286348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99DCC55-AF9E-46EB-A8D4-BCF2F83F20F1}"/>
              </a:ext>
            </a:extLst>
          </p:cNvPr>
          <p:cNvSpPr/>
          <p:nvPr/>
        </p:nvSpPr>
        <p:spPr>
          <a:xfrm>
            <a:off x="393700" y="101600"/>
            <a:ext cx="9525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付録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B. Claude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のインストール方法（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2/2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C761E35-BBFA-4780-915B-6E51EEA7E905}"/>
              </a:ext>
            </a:extLst>
          </p:cNvPr>
          <p:cNvSpPr txBox="1"/>
          <p:nvPr/>
        </p:nvSpPr>
        <p:spPr>
          <a:xfrm>
            <a:off x="698500" y="787400"/>
            <a:ext cx="11176000" cy="256993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2000" b="1" dirty="0">
                <a:solidFill>
                  <a:srgbClr val="2F5496"/>
                </a:solidFill>
                <a:latin typeface="Meiryo UI"/>
                <a:ea typeface="Meiryo UI"/>
              </a:rPr>
              <a:t>認証手順の詳細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認証ステップの browser と認証 URL の browser は同じものを使う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Chromium をインストールすると、認証ステップが楽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長い URL を chromium で open する script file を作成するとうまくいく</a:t>
            </a:r>
          </a:p>
          <a:p>
            <a:pPr>
              <a:spcBef>
                <a:spcPts val="800"/>
              </a:spcBef>
              <a:buNone/>
            </a:pPr>
            <a:r>
              <a:rPr lang="ja-JP" altLang="en-US" sz="2000" b="1" dirty="0">
                <a:solidFill>
                  <a:srgbClr val="2F5496"/>
                </a:solidFill>
                <a:latin typeface="Meiryo UI"/>
                <a:ea typeface="Meiryo UI"/>
              </a:rPr>
              <a:t>付録: ccusage（利用状況確認コマンド）</a:t>
            </a:r>
          </a:p>
          <a:p>
            <a:pPr>
              <a:spcBef>
                <a:spcPts val="400"/>
              </a:spcBef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ccusage をインストールすると、利用状況が確認できる</a:t>
            </a:r>
          </a:p>
          <a:p>
            <a:pPr>
              <a:buFont typeface="Arial"/>
              <a:buChar char="•"/>
            </a:pPr>
            <a:r>
              <a:rPr lang="ja-JP" altLang="en-US" sz="1800" dirty="0">
                <a:latin typeface="Meiryo UI"/>
                <a:ea typeface="Meiryo UI"/>
              </a:rPr>
              <a:t>使い過ぎると精度の低いモデルに自動切替えされることがある</a:t>
            </a:r>
          </a:p>
          <a:p>
            <a:pPr>
              <a:spcBef>
                <a:spcPts val="200"/>
              </a:spcBef>
              <a:buNone/>
            </a:pPr>
            <a:r>
              <a:rPr lang="ja-JP" altLang="en-US" sz="1600" dirty="0">
                <a:latin typeface="Meiryo UI"/>
                <a:ea typeface="Meiryo UI"/>
              </a:rPr>
              <a:t>参考: </a:t>
            </a: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https://zenn.dev/ryoppippi/articles/6c9a8fe6629cd6</a:t>
            </a:r>
          </a:p>
        </p:txBody>
      </p:sp>
    </p:spTree>
    <p:extLst>
      <p:ext uri="{BB962C8B-B14F-4D97-AF65-F5344CB8AC3E}">
        <p14:creationId xmlns:p14="http://schemas.microsoft.com/office/powerpoint/2010/main" val="80011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4D3F3CA-232A-445A-99AB-75C23A81B69B}"/>
              </a:ext>
            </a:extLst>
          </p:cNvPr>
          <p:cNvSpPr/>
          <p:nvPr/>
        </p:nvSpPr>
        <p:spPr>
          <a:xfrm>
            <a:off x="393700" y="101600"/>
            <a:ext cx="6350000" cy="558800"/>
          </a:xfrm>
          <a:prstGeom prst="rect">
            <a:avLst/>
          </a:prstGeom>
          <a:solidFill>
            <a:srgbClr val="4472C4">
              <a:alpha val="40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>
            <a:noAutofit/>
          </a:bodyPr>
          <a:lstStyle/>
          <a:p>
            <a:pPr algn="l"/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付録 </a:t>
            </a:r>
            <a:r>
              <a:rPr lang="en-US" altLang="ja-JP" sz="3200">
                <a:solidFill>
                  <a:srgbClr val="000000"/>
                </a:solidFill>
                <a:latin typeface="Meiryo UI"/>
                <a:ea typeface="Meiryo UI"/>
              </a:rPr>
              <a:t>C. </a:t>
            </a:r>
            <a:r>
              <a:rPr lang="ja-JP" altLang="en-US" sz="3200">
                <a:solidFill>
                  <a:srgbClr val="000000"/>
                </a:solidFill>
                <a:latin typeface="Meiryo UI"/>
                <a:ea typeface="Meiryo UI"/>
              </a:rPr>
              <a:t>実行例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9BBD94-80D8-4427-A5CA-89DC80BCEE53}"/>
              </a:ext>
            </a:extLst>
          </p:cNvPr>
          <p:cNvSpPr txBox="1"/>
          <p:nvPr/>
        </p:nvSpPr>
        <p:spPr>
          <a:xfrm>
            <a:off x="698500" y="787400"/>
            <a:ext cx="11176000" cy="382668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ja-JP" altLang="en-US" sz="1800" b="1" dirty="0">
                <a:solidFill>
                  <a:srgbClr val="2F5496"/>
                </a:solidFill>
                <a:latin typeface="Meiryo UI"/>
                <a:ea typeface="Meiryo UI"/>
              </a:rPr>
              <a:t>heresme-sv に対する適用例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latin typeface="Meiryo UI"/>
                <a:ea typeface="Meiryo UI"/>
              </a:rPr>
              <a:t>1. 付録 B に従い Claude Code CLI をインストール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latin typeface="Meiryo UI"/>
                <a:ea typeface="Meiryo UI"/>
              </a:rPr>
              <a:t>2. テスト対象を git clone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gh repo clone MicrosSoftwareInc/heresme-sv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latin typeface="Meiryo UI"/>
                <a:ea typeface="Meiryo UI"/>
              </a:rPr>
              <a:t>3. Claude Code CLI の動作確認</a:t>
            </a:r>
          </a:p>
          <a:p>
            <a:pPr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source code の README.md がある場所で claude を起動</a:t>
            </a:r>
          </a:p>
          <a:p>
            <a:pPr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初回起動時は browser が起動されるので認証する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latin typeface="Meiryo UI"/>
                <a:ea typeface="Meiryo UI"/>
              </a:rPr>
              <a:t>4. llm-security-scan.zip をダウンロードして展開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curl -L https://github.com/n-hikichi/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  llm-security-scan/releases/latest/download/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  llm-security-scan.zip -o llm-security-scan.zip</a:t>
            </a:r>
          </a:p>
          <a:p>
            <a:pPr marL="228600">
              <a:buNone/>
            </a:pPr>
            <a:r>
              <a:rPr lang="en-US" altLang="ja-JP" sz="1400" dirty="0">
                <a:solidFill>
                  <a:srgbClr val="595959"/>
                </a:solidFill>
                <a:latin typeface="Consolas"/>
                <a:ea typeface="Meiryo UI"/>
              </a:rPr>
              <a:t>$ unzip llm-security-scan.zip</a:t>
            </a:r>
          </a:p>
          <a:p>
            <a:pPr>
              <a:spcBef>
                <a:spcPts val="400"/>
              </a:spcBef>
              <a:buNone/>
            </a:pPr>
            <a:r>
              <a:rPr lang="ja-JP" altLang="en-US" sz="1800" b="1" dirty="0">
                <a:latin typeface="Meiryo UI"/>
                <a:ea typeface="Meiryo UI"/>
              </a:rPr>
              <a:t>5. 本編に従ってスキャンを実行</a:t>
            </a:r>
          </a:p>
          <a:p>
            <a:pPr>
              <a:buFont typeface="Arial"/>
              <a:buChar char="•"/>
            </a:pPr>
            <a:r>
              <a:rPr lang="ja-JP" altLang="en-US" sz="1600" dirty="0">
                <a:latin typeface="Meiryo UI"/>
                <a:ea typeface="Meiryo UI"/>
              </a:rPr>
              <a:t>Security scan 本体は、10分近くかかる</a:t>
            </a:r>
          </a:p>
        </p:txBody>
      </p:sp>
    </p:spTree>
    <p:extLst>
      <p:ext uri="{BB962C8B-B14F-4D97-AF65-F5344CB8AC3E}">
        <p14:creationId xmlns:p14="http://schemas.microsoft.com/office/powerpoint/2010/main" val="2702031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08CD90-C4E9-4ED2-B224-02AE069A82F7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1054</Words>
  <Application>Microsoft Office PowerPoint</Application>
  <PresentationFormat>ワイド画面</PresentationFormat>
  <Paragraphs>100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Meiryo UI</vt:lpstr>
      <vt:lpstr>游ゴシック</vt:lpstr>
      <vt:lpstr>游ゴシック Light</vt:lpstr>
      <vt:lpstr>Arial</vt:lpstr>
      <vt:lpstr>Consolas</vt:lpstr>
      <vt:lpstr>Office テーマ</vt:lpstr>
      <vt:lpstr>Office テーマ</vt:lpstr>
      <vt:lpstr>インストールと Security Scan（LLM base）の方法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引地 信之</dc:creator>
  <cp:lastModifiedBy>引地 信之</cp:lastModifiedBy>
  <cp:revision>1</cp:revision>
  <dcterms:created xsi:type="dcterms:W3CDTF">2026-03-10T04:12:05Z</dcterms:created>
  <dcterms:modified xsi:type="dcterms:W3CDTF">2026-03-10T04:31:34Z</dcterms:modified>
</cp:coreProperties>
</file>