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4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70" r:id="rId11"/>
    <p:sldId id="273" r:id="rId12"/>
    <p:sldId id="275" r:id="rId13"/>
    <p:sldId id="278" r:id="rId14"/>
    <p:sldId id="279" r:id="rId15"/>
    <p:sldId id="282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0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E54D0-D202-889B-956F-00B45D43B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907C84F-8C08-01A3-C181-20883DBCB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0ED44E-A31D-A4AD-0E11-929568A1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ECB689-A96E-C1B7-F621-B1FC99999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7CF4D5-9838-01BE-6A4D-C8CD253F2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718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9425D8-9B5B-887C-DAE1-EBAF9B1C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E426C4-9404-2F6F-DBCB-8C35A3430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5C68F6-7961-80F0-7E75-9B164DD8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81BA4C-2D56-280F-DFA2-7E52469DE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492418-B85F-54B4-9785-4E8E914D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78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9454E0-10CB-4F69-CF06-6D985B40A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6E69B3-BBEC-0CD4-9C6A-343C8D341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5D61E1-9BAB-50AD-967F-E7B3E4D8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935D5A0-8771-6D4E-E78F-66C3B86A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C7B548-C119-23E5-BD2F-02FFFA4A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904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BC722E-F9B6-CEC9-9E46-124AA0E3C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9C70E3-84BA-D34F-BCDD-37ACA9278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6CB6327-A67D-C9A1-9167-905674D7F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A69030-1B87-77DF-58D7-C71D5859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68E091-982C-9A33-7653-110E675F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CF2A92-7F4D-FAE0-9039-40C35262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69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4639EA-C780-3EA7-81B0-FAD9A4BB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266822-8DC7-16F9-FA42-CCBD6C83E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F3FF8-160A-7B18-D10D-4DCE3B09C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EB0312-5291-9ED4-95AD-A8BFEAE409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39591D-F1AD-C6E4-BA55-181719322A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10D4F51-85A0-F4CC-36AC-1AD89EDF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ED39CA-6FF2-CF4A-28DD-4AE2C921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A9C82C2-A425-1F7E-4B91-BFBC20B60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28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CC2BAE-2F06-2792-84E8-6D718995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D8D7F27-BF94-3736-51F3-E8F6F031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0C828AE-C74E-B3E2-39AB-B19B455F4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172F53-62D3-C611-6783-18F77EE8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609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DFA13ED-5BBC-689E-E85F-9D572BD3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A24CD6-77E9-F49A-2E51-C430C67F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558AC5-68EB-A424-33C2-146ED582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38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DDFEB-BD08-074E-5BB0-6EA37F83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522A95-2B98-A785-622B-BD1310282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157EB5-A731-0480-A97E-FD9992510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1378B4-A6EF-33F1-DA1C-9F0E7BB4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1A1047-0A06-A7FE-21C0-E6B5A10B1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9FEC79-95B7-9CFA-AFA3-9D9E5F10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3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878BA-1756-DAC7-872E-85D3E7F9C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5247F32-9ACB-5D10-3651-F5DF61D99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85E808D-EA3A-5379-8C47-EA510CE43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61CD8C-A28A-7936-8578-F478F03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2C1066-624B-1185-5655-A34184663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46BFD5-38BE-74FF-0529-54C86C052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999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8782D4-FDB2-BA1C-5EEC-5050F7C26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26C868-97BB-DDE6-1EC1-09D0444E6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9ECC0-11AC-6A46-D3E5-BCA35300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754124-728E-E262-CF93-A39D1DB5C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A10ECC-36E6-2B39-C5CB-771D9ABC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03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EB41C15-F1D8-C28D-59D1-3EC470F5E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11D2CF-BDEE-528A-D793-91C0174CC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0EE262-97E7-7197-F6E6-F8FE62DE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D5FFFC-E1CA-81F0-7EA8-C91BBB2EA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2AE0BC-654B-894B-9BE5-985A2DE8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38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5BA0F57-ECE2-77DA-BA6B-9504528F0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98E425-9B52-7BCC-3B58-1D21F5AFD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76A44E-D58F-91D8-4789-710A2A200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44FB8-3A70-4270-811F-AD96AAF69DD9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E57F7F-BC47-D3CA-0268-42D5F0AE4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F238D2-1397-4F35-6217-250E86931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277415-EE88-49DD-A38A-C4D79833A447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0" name="AccentBar"/>
          <p:cNvSpPr/>
          <p:nvPr userDrawn="1"/>
        </p:nvSpPr>
        <p:spPr>
          <a:xfrm>
            <a:off x="5486400" y="6400800"/>
            <a:ext cx="6705600" cy="264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1" name="FooterBranding"/>
          <p:cNvSpPr/>
          <p:nvPr userDrawn="1"/>
        </p:nvSpPr>
        <p:spPr>
          <a:xfrm>
            <a:off x="5600000" y="6390000"/>
            <a:ext cx="6400000" cy="28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800" dirty="0">
                <a:solidFill>
                  <a:srgbClr val="FFFFFF"/>
                </a:solidFill>
                <a:latin typeface="Calibri"/>
              </a:rPr>
              <a:t>Micros Software  |  Blockchain &amp; Generative AI lab.</a:t>
            </a:r>
          </a:p>
        </p:txBody>
      </p:sp>
      <p:sp>
        <p:nvSpPr>
          <p:cNvPr id="102" name="Copyright"/>
          <p:cNvSpPr/>
          <p:nvPr userDrawn="1"/>
        </p:nvSpPr>
        <p:spPr>
          <a:xfrm>
            <a:off x="200000" y="6480000"/>
            <a:ext cx="5000000" cy="26416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l"/>
            <a:r>
              <a:rPr lang="en-US" sz="800" dirty="0">
                <a:solidFill>
                  <a:srgbClr val="888888"/>
                </a:solidFill>
                <a:latin typeface="Calibri"/>
              </a:rPr>
              <a:t>Copyright © 2026 MICROS SOFTWARE,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55895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96472-E679-0A67-A3AE-6715B4AAFE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4000" b="1">
                <a:solidFill>
                  <a:srgbClr val="5C11F3"/>
                </a:solidFill>
              </a:rPr>
              <a:t>LLM Security Scan</a:t>
            </a:r>
            <a:endParaRPr kumimoji="1" lang="ja-JP" altLang="en-US" sz="4000" b="1">
              <a:solidFill>
                <a:srgbClr val="5C11F3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B312EF2-8082-E972-0CFE-AC3210FF35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200"/>
              <a:t>初心者（生成</a:t>
            </a:r>
            <a:r>
              <a:rPr kumimoji="1" lang="en-US" altLang="ja-JP" sz="2200"/>
              <a:t>AI</a:t>
            </a:r>
            <a:r>
              <a:rPr kumimoji="1" lang="ja-JP" altLang="en-US" sz="2200"/>
              <a:t>駆動開発経験者）向けガイド</a:t>
            </a:r>
          </a:p>
        </p:txBody>
      </p:sp>
    </p:spTree>
    <p:extLst>
      <p:ext uri="{BB962C8B-B14F-4D97-AF65-F5344CB8AC3E}">
        <p14:creationId xmlns:p14="http://schemas.microsoft.com/office/powerpoint/2010/main" val="2524364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40E5CB-603D-C3D4-D941-1C1F92DB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目次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F4B025-6B37-4888-9E73-FDC4D55ED41B}"/>
              </a:ext>
            </a:extLst>
          </p:cNvPr>
          <p:cNvSpPr txBox="1"/>
          <p:nvPr/>
        </p:nvSpPr>
        <p:spPr>
          <a:xfrm>
            <a:off x="1016000" y="1968500"/>
            <a:ext cx="10160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600" b="1" dirty="0">
                <a:solidFill>
                  <a:srgbClr val="5C11F3"/>
                </a:solidFill>
                <a:latin typeface="Calibri"/>
                <a:ea typeface="Yu Gothic"/>
              </a:rPr>
              <a:t>メインコンテンツ</a:t>
            </a:r>
          </a:p>
          <a:p>
            <a:pPr marL="342900" indent="-342900">
              <a:buFont typeface="Arial"/>
              <a:buAutoNum type="arabicPeriod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LLM Security Scan とは</a:t>
            </a:r>
          </a:p>
          <a:p>
            <a:pPr marL="342900" indent="-342900">
              <a:buFont typeface="Arial"/>
              <a:buAutoNum type="arabicPeriod" startAt="2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従来のセキュリティスキャンとの違い</a:t>
            </a:r>
          </a:p>
          <a:p>
            <a:pPr marL="342900" indent="-342900">
              <a:buFont typeface="Arial"/>
              <a:buAutoNum type="arabicPeriod" startAt="3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必要な準備</a:t>
            </a:r>
          </a:p>
          <a:p>
            <a:pPr marL="342900" indent="-342900">
              <a:buFont typeface="Arial"/>
              <a:buAutoNum type="arabicPeriod" startAt="4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セットアップ手順（ステップ 1～3）</a:t>
            </a:r>
          </a:p>
          <a:p>
            <a:pPr marL="342900" indent="-342900">
              <a:buFont typeface="Arial"/>
              <a:buAutoNum type="arabicPeriod" startAt="5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実行フローと検出項目</a:t>
            </a:r>
          </a:p>
          <a:p>
            <a:pPr marL="342900" indent="-342900">
              <a:buFont typeface="Arial"/>
              <a:buAutoNum type="arabicPeriod" startAt="6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入出力の流れと成果物</a:t>
            </a:r>
          </a:p>
          <a:p>
            <a:pPr algn="l">
              <a:spcBef>
                <a:spcPts val="800"/>
              </a:spcBef>
              <a:buNone/>
            </a:pPr>
            <a:r>
              <a:rPr lang="ja-JP" sz="1600" b="1" dirty="0">
                <a:solidFill>
                  <a:srgbClr val="5C11F3"/>
                </a:solidFill>
                <a:latin typeface="Calibri"/>
                <a:ea typeface="Yu Gothic"/>
              </a:rPr>
              <a:t>付録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付録 A：v1.0.0 仕様 / 対応言語</a:t>
            </a:r>
          </a:p>
          <a:p>
            <a:pPr marL="342900" indent="-342900"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付録 B：よくある質問（Q&amp;A）</a:t>
            </a:r>
          </a:p>
        </p:txBody>
      </p:sp>
    </p:spTree>
    <p:extLst>
      <p:ext uri="{BB962C8B-B14F-4D97-AF65-F5344CB8AC3E}">
        <p14:creationId xmlns:p14="http://schemas.microsoft.com/office/powerpoint/2010/main" val="3309012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BC46CE-C8E6-5AD1-8FDA-8EFAE07D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2800" b="1"/>
              <a:t>LLM Security Scan </a:t>
            </a:r>
            <a:r>
              <a:rPr kumimoji="1" lang="ja-JP" altLang="en-US" sz="2800" b="1"/>
              <a:t>とは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0D2ADE-9D8C-4510-9824-AD7124685CA2}"/>
              </a:ext>
            </a:extLst>
          </p:cNvPr>
          <p:cNvSpPr txBox="1"/>
          <p:nvPr/>
        </p:nvSpPr>
        <p:spPr>
          <a:xfrm>
            <a:off x="1016000" y="1714500"/>
            <a:ext cx="1016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5C11F3"/>
                </a:solidFill>
              </a:rPr>
              <a:t>Claude AI </a:t>
            </a:r>
            <a:r>
              <a:rPr lang="ja-JP" altLang="en-US" b="1">
                <a:solidFill>
                  <a:srgbClr val="5C11F3"/>
                </a:solidFill>
              </a:rPr>
              <a:t>を活用したセキュリティスキャンツール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E2DBC6-78EF-43C4-8130-67A0DC90067D}"/>
              </a:ext>
            </a:extLst>
          </p:cNvPr>
          <p:cNvSpPr txBox="1"/>
          <p:nvPr/>
        </p:nvSpPr>
        <p:spPr>
          <a:xfrm>
            <a:off x="1016000" y="2286000"/>
            <a:ext cx="10160000" cy="381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600" b="1" dirty="0">
                <a:solidFill>
                  <a:srgbClr val="333333"/>
                </a:solidFill>
                <a:latin typeface="Calibri"/>
                <a:ea typeface="Yu Gothic"/>
              </a:rPr>
              <a:t>特徴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b="1" dirty="0">
                <a:solidFill>
                  <a:srgbClr val="5C11F3"/>
                </a:solidFill>
                <a:latin typeface="Calibri"/>
                <a:ea typeface="Yu Gothic"/>
              </a:rPr>
              <a:t>プロジェクト型の自動判断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— リポジトリ構造から JavaScript/Vue.js/Express.js を自動認識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b="1" dirty="0">
                <a:solidFill>
                  <a:srgbClr val="5C11F3"/>
                </a:solidFill>
                <a:latin typeface="Calibri"/>
                <a:ea typeface="Yu Gothic"/>
              </a:rPr>
              <a:t>生成AI駆動の分析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— ルールベースではなく、Claude の言語理解能力で文脈を考慮した検出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b="1" dirty="0">
                <a:solidFill>
                  <a:srgbClr val="5C11F3"/>
                </a:solidFill>
                <a:latin typeface="Calibri"/>
                <a:ea typeface="Yu Gothic"/>
              </a:rPr>
              <a:t>MCP Serena との連携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— コードベースのディープな分析が可能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b="1" dirty="0">
                <a:solidFill>
                  <a:srgbClr val="5C11F3"/>
                </a:solidFill>
                <a:latin typeface="Calibri"/>
                <a:ea typeface="Yu Gothic"/>
              </a:rPr>
              <a:t>入出力が明確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— 入力：リポジトリ、出力：詳細レポート（ターミナル表示 + ファイル保存）</a:t>
            </a:r>
          </a:p>
        </p:txBody>
      </p:sp>
    </p:spTree>
    <p:extLst>
      <p:ext uri="{BB962C8B-B14F-4D97-AF65-F5344CB8AC3E}">
        <p14:creationId xmlns:p14="http://schemas.microsoft.com/office/powerpoint/2010/main" val="3127413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3DBB5B-653C-47E9-9B57-98145651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従来のセキュリティスキャンとの違い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02449CA-F076-4300-BCA9-42E3A4065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47614"/>
              </p:ext>
            </p:extLst>
          </p:nvPr>
        </p:nvGraphicFramePr>
        <p:xfrm>
          <a:off x="1270000" y="1778000"/>
          <a:ext cx="9651999" cy="406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7333">
                  <a:extLst>
                    <a:ext uri="{9D8B030D-6E8A-4147-A177-3AD203B41FA5}">
                      <a16:colId xmlns:a16="http://schemas.microsoft.com/office/drawing/2014/main" val="1481819963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3453060891"/>
                    </a:ext>
                  </a:extLst>
                </a:gridCol>
                <a:gridCol w="3217333">
                  <a:extLst>
                    <a:ext uri="{9D8B030D-6E8A-4147-A177-3AD203B41FA5}">
                      <a16:colId xmlns:a16="http://schemas.microsoft.com/office/drawing/2014/main" val="2108001768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従来のツール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LLM Security Scan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352101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分析方式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ルールベース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AI ベース（Claude）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872152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検出能力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パターンマッチング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文脈を理解した分析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1862646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誤検知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多い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少ない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1791644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カスタマイズ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難しい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Claude で調整可能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8363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学習時間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短い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中程度（初期セットアップ）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132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5749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2085FF-6938-4746-80FA-55471A59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必要な準備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299ECC-DCD0-4583-80FD-271BDB22EAAC}"/>
              </a:ext>
            </a:extLst>
          </p:cNvPr>
          <p:cNvSpPr txBox="1"/>
          <p:nvPr/>
        </p:nvSpPr>
        <p:spPr>
          <a:xfrm>
            <a:off x="1016000" y="1778000"/>
            <a:ext cx="10160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800" b="1" dirty="0">
                <a:solidFill>
                  <a:srgbClr val="5C11F3"/>
                </a:solidFill>
                <a:latin typeface="Calibri"/>
                <a:ea typeface="Yu Gothic"/>
              </a:rPr>
              <a:t>前提条件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Claude Code CLI がインストール済み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対象プロジェクトが git clone 済み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uv（Python パッケージマネージャ）がインストール可能</a:t>
            </a:r>
          </a:p>
          <a:p>
            <a:pPr algn="l">
              <a:spcBef>
                <a:spcPts val="1000"/>
              </a:spcBef>
              <a:buNone/>
            </a:pPr>
            <a:r>
              <a:rPr lang="ja-JP" sz="1800" b="1" dirty="0">
                <a:solidFill>
                  <a:srgbClr val="5C11F3"/>
                </a:solidFill>
                <a:latin typeface="Calibri"/>
                <a:ea typeface="Yu Gothic"/>
              </a:rPr>
              <a:t>所要時間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セットアップ：</a:t>
            </a:r>
            <a:r>
              <a:rPr lang="ja-JP" sz="1500" b="1" dirty="0">
                <a:solidFill>
                  <a:srgbClr val="DA0000"/>
                </a:solidFill>
                <a:latin typeface="Calibri"/>
                <a:ea typeface="Yu Gothic"/>
              </a:rPr>
              <a:t>約 15～20 分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初回スキャン：</a:t>
            </a:r>
            <a:r>
              <a:rPr lang="ja-JP" sz="1500" b="1" dirty="0">
                <a:solidFill>
                  <a:srgbClr val="DA0000"/>
                </a:solidFill>
                <a:latin typeface="Calibri"/>
                <a:ea typeface="Yu Gothic"/>
              </a:rPr>
              <a:t>約 10 分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（プロジェクト規模による）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2回目以降：</a:t>
            </a:r>
            <a:r>
              <a:rPr lang="ja-JP" sz="1500" b="1" dirty="0">
                <a:solidFill>
                  <a:srgbClr val="DA0000"/>
                </a:solidFill>
                <a:latin typeface="Calibri"/>
                <a:ea typeface="Yu Gothic"/>
              </a:rPr>
              <a:t>約 5～10 分</a:t>
            </a:r>
          </a:p>
        </p:txBody>
      </p:sp>
    </p:spTree>
    <p:extLst>
      <p:ext uri="{BB962C8B-B14F-4D97-AF65-F5344CB8AC3E}">
        <p14:creationId xmlns:p14="http://schemas.microsoft.com/office/powerpoint/2010/main" val="157325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F980E-CD0A-9A51-4629-09026878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セットアップ手順（ステップ </a:t>
            </a:r>
            <a:r>
              <a:rPr kumimoji="1" lang="en-US" altLang="ja-JP" sz="2800" b="1"/>
              <a:t>1/3</a:t>
            </a:r>
            <a:r>
              <a:rPr kumimoji="1" lang="ja-JP" altLang="en-US" sz="2800" b="1"/>
              <a:t>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9CFAB21-A7DD-411D-92AF-97044A61494D}"/>
              </a:ext>
            </a:extLst>
          </p:cNvPr>
          <p:cNvSpPr/>
          <p:nvPr/>
        </p:nvSpPr>
        <p:spPr>
          <a:xfrm>
            <a:off x="1016000" y="1778000"/>
            <a:ext cx="1524000" cy="571500"/>
          </a:xfrm>
          <a:prstGeom prst="roundRect">
            <a:avLst/>
          </a:prstGeom>
          <a:solidFill>
            <a:srgbClr val="5C11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</a:rPr>
              <a:t>STEP 1</a:t>
            </a:r>
            <a:endParaRPr lang="ja-JP" altLang="en-US" sz="1600" b="1">
              <a:solidFill>
                <a:srgbClr val="FFFFFF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D929439-4E61-4E45-8EFC-7A365482F056}"/>
              </a:ext>
            </a:extLst>
          </p:cNvPr>
          <p:cNvSpPr txBox="1"/>
          <p:nvPr/>
        </p:nvSpPr>
        <p:spPr>
          <a:xfrm>
            <a:off x="2794000" y="18161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200" b="1">
                <a:solidFill>
                  <a:srgbClr val="333333"/>
                </a:solidFill>
              </a:rPr>
              <a:t>uv </a:t>
            </a:r>
            <a:r>
              <a:rPr lang="ja-JP" altLang="en-US" sz="2200" b="1">
                <a:solidFill>
                  <a:srgbClr val="333333"/>
                </a:solidFill>
              </a:rPr>
              <a:t>をインストール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1EDC1888-49C2-4862-B67D-6EBC41AE81AF}"/>
              </a:ext>
            </a:extLst>
          </p:cNvPr>
          <p:cNvSpPr/>
          <p:nvPr/>
        </p:nvSpPr>
        <p:spPr>
          <a:xfrm>
            <a:off x="1016000" y="2540000"/>
            <a:ext cx="10160000" cy="762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86D3B7-A4BE-4BA8-9A75-8AD8FD653A9F}"/>
              </a:ext>
            </a:extLst>
          </p:cNvPr>
          <p:cNvSpPr txBox="1"/>
          <p:nvPr/>
        </p:nvSpPr>
        <p:spPr>
          <a:xfrm>
            <a:off x="1206500" y="2667000"/>
            <a:ext cx="977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600">
                <a:solidFill>
                  <a:srgbClr val="6DE21E"/>
                </a:solidFill>
                <a:latin typeface="Consolas"/>
              </a:rPr>
              <a:t>curl -LsSf https://astral.sh/uv/install.sh | sh</a:t>
            </a:r>
            <a:endParaRPr lang="ja-JP" altLang="en-US" sz="1600">
              <a:solidFill>
                <a:srgbClr val="6DE21E"/>
              </a:solidFill>
              <a:latin typeface="Consola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430B9B-E0DF-44B1-AC72-1DEEEE9764C1}"/>
              </a:ext>
            </a:extLst>
          </p:cNvPr>
          <p:cNvSpPr txBox="1"/>
          <p:nvPr/>
        </p:nvSpPr>
        <p:spPr>
          <a:xfrm>
            <a:off x="1016000" y="3556000"/>
            <a:ext cx="635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500" i="1">
                <a:solidFill>
                  <a:srgbClr val="888888"/>
                </a:solidFill>
              </a:rPr>
              <a:t>※ </a:t>
            </a:r>
            <a:r>
              <a:rPr lang="ja-JP" altLang="en-US" sz="1500" i="1">
                <a:solidFill>
                  <a:srgbClr val="888888"/>
                </a:solidFill>
              </a:rPr>
              <a:t>一度だけ実行すれば</a:t>
            </a:r>
            <a:r>
              <a:rPr lang="en-US" altLang="ja-JP" sz="1500" i="1">
                <a:solidFill>
                  <a:srgbClr val="888888"/>
                </a:solidFill>
              </a:rPr>
              <a:t>OK</a:t>
            </a:r>
            <a:endParaRPr lang="ja-JP" altLang="en-US" sz="1500" i="1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279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8FF400-BD26-A0DD-EFC3-F14D4575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セットアップ手順（ステップ </a:t>
            </a:r>
            <a:r>
              <a:rPr kumimoji="1" lang="en-US" altLang="ja-JP" sz="2800" b="1"/>
              <a:t>2/3</a:t>
            </a:r>
            <a:r>
              <a:rPr kumimoji="1" lang="ja-JP" altLang="en-US" sz="2800" b="1"/>
              <a:t>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6178522-9402-41DB-A30A-0C064C0581D6}"/>
              </a:ext>
            </a:extLst>
          </p:cNvPr>
          <p:cNvSpPr/>
          <p:nvPr/>
        </p:nvSpPr>
        <p:spPr>
          <a:xfrm>
            <a:off x="1016000" y="1778000"/>
            <a:ext cx="1524000" cy="571500"/>
          </a:xfrm>
          <a:prstGeom prst="roundRect">
            <a:avLst/>
          </a:prstGeom>
          <a:solidFill>
            <a:srgbClr val="5C11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</a:rPr>
              <a:t>STEP 2</a:t>
            </a:r>
            <a:endParaRPr lang="ja-JP" altLang="en-US" sz="1600" b="1">
              <a:solidFill>
                <a:srgbClr val="FFFFFF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CBC657-2E56-4999-A31F-3DF3F989A1D0}"/>
              </a:ext>
            </a:extLst>
          </p:cNvPr>
          <p:cNvSpPr txBox="1"/>
          <p:nvPr/>
        </p:nvSpPr>
        <p:spPr>
          <a:xfrm>
            <a:off x="2794000" y="18161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200" b="1">
                <a:solidFill>
                  <a:srgbClr val="333333"/>
                </a:solidFill>
              </a:rPr>
              <a:t>MCP Serena </a:t>
            </a:r>
            <a:r>
              <a:rPr lang="ja-JP" altLang="en-US" sz="2200" b="1">
                <a:solidFill>
                  <a:srgbClr val="333333"/>
                </a:solidFill>
              </a:rPr>
              <a:t>をセットアップ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EBC921-1DD7-4055-BD21-27E0D5E390B7}"/>
              </a:ext>
            </a:extLst>
          </p:cNvPr>
          <p:cNvSpPr txBox="1"/>
          <p:nvPr/>
        </p:nvSpPr>
        <p:spPr>
          <a:xfrm>
            <a:off x="1016000" y="2413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>
                <a:solidFill>
                  <a:srgbClr val="555555"/>
                </a:solidFill>
              </a:rPr>
              <a:t>スキャン対象ディレクトリで以下を実行：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92CFF34-44A9-402D-B9B0-0F4C79D69840}"/>
              </a:ext>
            </a:extLst>
          </p:cNvPr>
          <p:cNvSpPr/>
          <p:nvPr/>
        </p:nvSpPr>
        <p:spPr>
          <a:xfrm>
            <a:off x="1016000" y="2921000"/>
            <a:ext cx="10160000" cy="1270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A1D578E-C8A3-4FCD-97DD-A3DD31DC60B6}"/>
              </a:ext>
            </a:extLst>
          </p:cNvPr>
          <p:cNvSpPr txBox="1"/>
          <p:nvPr/>
        </p:nvSpPr>
        <p:spPr>
          <a:xfrm>
            <a:off x="1206500" y="3048000"/>
            <a:ext cx="9779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6DE21E"/>
                </a:solidFill>
                <a:latin typeface="Consolas"/>
              </a:rPr>
              <a:t>claude mcp add serena -- uvx \
  --from git+https://github.com/oraios/serena \
  serena-mcp-server --context ide-assistant \
  --project $(pwd) --enable-webdashboard=false</a:t>
            </a:r>
            <a:endParaRPr lang="ja-JP" altLang="en-US" sz="1400">
              <a:solidFill>
                <a:srgbClr val="6DE21E"/>
              </a:solidFill>
              <a:latin typeface="Consola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D2D2C7-D1EA-419F-B0AA-AA8C5BB16E36}"/>
              </a:ext>
            </a:extLst>
          </p:cNvPr>
          <p:cNvSpPr txBox="1"/>
          <p:nvPr/>
        </p:nvSpPr>
        <p:spPr>
          <a:xfrm>
            <a:off x="1016000" y="4381500"/>
            <a:ext cx="635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i="1">
                <a:solidFill>
                  <a:srgbClr val="888888"/>
                </a:solidFill>
              </a:rPr>
              <a:t>その後、</a:t>
            </a:r>
            <a:r>
              <a:rPr lang="en-US" altLang="ja-JP" sz="1500" i="1">
                <a:solidFill>
                  <a:srgbClr val="888888"/>
                </a:solidFill>
              </a:rPr>
              <a:t>Claude CLI </a:t>
            </a:r>
            <a:r>
              <a:rPr lang="ja-JP" altLang="en-US" sz="1500" i="1">
                <a:solidFill>
                  <a:srgbClr val="888888"/>
                </a:solidFill>
              </a:rPr>
              <a:t>を再起動</a:t>
            </a:r>
          </a:p>
        </p:txBody>
      </p:sp>
    </p:spTree>
    <p:extLst>
      <p:ext uri="{BB962C8B-B14F-4D97-AF65-F5344CB8AC3E}">
        <p14:creationId xmlns:p14="http://schemas.microsoft.com/office/powerpoint/2010/main" val="2051884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AC632C-FEDB-6606-2319-F01BA22A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セットアップ手順（ステップ </a:t>
            </a:r>
            <a:r>
              <a:rPr kumimoji="1" lang="en-US" altLang="ja-JP" sz="2800" b="1"/>
              <a:t>3/3</a:t>
            </a:r>
            <a:r>
              <a:rPr kumimoji="1" lang="ja-JP" altLang="en-US" sz="2800" b="1"/>
              <a:t>）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BCD5941-0A77-4A2B-9ECB-C8468A8FF513}"/>
              </a:ext>
            </a:extLst>
          </p:cNvPr>
          <p:cNvSpPr/>
          <p:nvPr/>
        </p:nvSpPr>
        <p:spPr>
          <a:xfrm>
            <a:off x="1016000" y="1778000"/>
            <a:ext cx="1524000" cy="571500"/>
          </a:xfrm>
          <a:prstGeom prst="roundRect">
            <a:avLst/>
          </a:prstGeom>
          <a:solidFill>
            <a:srgbClr val="5C11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FFFFFF"/>
                </a:solidFill>
              </a:rPr>
              <a:t>STEP 3</a:t>
            </a:r>
            <a:endParaRPr lang="ja-JP" altLang="en-US" sz="1600" b="1">
              <a:solidFill>
                <a:srgbClr val="FFFFFF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730CC8-1AA6-4D85-A1B7-60BC016139D4}"/>
              </a:ext>
            </a:extLst>
          </p:cNvPr>
          <p:cNvSpPr txBox="1"/>
          <p:nvPr/>
        </p:nvSpPr>
        <p:spPr>
          <a:xfrm>
            <a:off x="2794000" y="18161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200" b="1">
                <a:solidFill>
                  <a:srgbClr val="333333"/>
                </a:solidFill>
              </a:rPr>
              <a:t>Skill </a:t>
            </a:r>
            <a:r>
              <a:rPr lang="ja-JP" altLang="en-US" sz="2200" b="1">
                <a:solidFill>
                  <a:srgbClr val="333333"/>
                </a:solidFill>
              </a:rPr>
              <a:t>をインストール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05D90BC-DABD-4644-AAB7-03E51879FF3A}"/>
              </a:ext>
            </a:extLst>
          </p:cNvPr>
          <p:cNvSpPr txBox="1"/>
          <p:nvPr/>
        </p:nvSpPr>
        <p:spPr>
          <a:xfrm>
            <a:off x="1016000" y="2413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500" b="1">
                <a:solidFill>
                  <a:srgbClr val="333333"/>
                </a:solidFill>
              </a:rPr>
              <a:t>1. GitHub Releases </a:t>
            </a:r>
            <a:r>
              <a:rPr lang="ja-JP" altLang="en-US" sz="1500" b="1">
                <a:solidFill>
                  <a:srgbClr val="333333"/>
                </a:solidFill>
              </a:rPr>
              <a:t>から </a:t>
            </a:r>
            <a:r>
              <a:rPr lang="en-US" altLang="ja-JP" sz="1500" b="1">
                <a:solidFill>
                  <a:srgbClr val="333333"/>
                </a:solidFill>
              </a:rPr>
              <a:t>llm-security-scan.zip </a:t>
            </a:r>
            <a:r>
              <a:rPr lang="ja-JP" altLang="en-US" sz="1500" b="1">
                <a:solidFill>
                  <a:srgbClr val="333333"/>
                </a:solidFill>
              </a:rPr>
              <a:t>をダウンロード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2E7287ED-32A7-4CAB-8733-2760ACD371F8}"/>
              </a:ext>
            </a:extLst>
          </p:cNvPr>
          <p:cNvSpPr/>
          <p:nvPr/>
        </p:nvSpPr>
        <p:spPr>
          <a:xfrm>
            <a:off x="1016000" y="2819400"/>
            <a:ext cx="10160000" cy="6350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8C87241-1D78-4586-9C7A-FC2DDC774696}"/>
              </a:ext>
            </a:extLst>
          </p:cNvPr>
          <p:cNvSpPr txBox="1"/>
          <p:nvPr/>
        </p:nvSpPr>
        <p:spPr>
          <a:xfrm>
            <a:off x="1206500" y="2921000"/>
            <a:ext cx="9779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6DE21E"/>
                </a:solidFill>
                <a:latin typeface="Consolas"/>
              </a:rPr>
              <a:t>curl -L https://github.com/.../llm-security-scan.zip -o llm-security-scan.zip</a:t>
            </a:r>
            <a:endParaRPr lang="ja-JP" altLang="en-US" sz="1400">
              <a:solidFill>
                <a:srgbClr val="6DE21E"/>
              </a:solidFill>
              <a:latin typeface="Consola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C591CE-FBAA-46A8-AEDF-6D095A5E50DE}"/>
              </a:ext>
            </a:extLst>
          </p:cNvPr>
          <p:cNvSpPr txBox="1"/>
          <p:nvPr/>
        </p:nvSpPr>
        <p:spPr>
          <a:xfrm>
            <a:off x="1016000" y="35814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500" b="1">
                <a:solidFill>
                  <a:srgbClr val="333333"/>
                </a:solidFill>
              </a:rPr>
              <a:t>2. </a:t>
            </a:r>
            <a:r>
              <a:rPr lang="ja-JP" altLang="en-US" sz="1500" b="1">
                <a:solidFill>
                  <a:srgbClr val="333333"/>
                </a:solidFill>
              </a:rPr>
              <a:t>展開する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3F87AAD-4806-4A4F-A105-42B529D6A858}"/>
              </a:ext>
            </a:extLst>
          </p:cNvPr>
          <p:cNvSpPr/>
          <p:nvPr/>
        </p:nvSpPr>
        <p:spPr>
          <a:xfrm>
            <a:off x="1016000" y="3987800"/>
            <a:ext cx="10160000" cy="571500"/>
          </a:xfrm>
          <a:prstGeom prst="roundRect">
            <a:avLst/>
          </a:prstGeom>
          <a:solidFill>
            <a:srgbClr val="1E1E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3151708-A53E-406C-81C6-9B163B2EAFB3}"/>
              </a:ext>
            </a:extLst>
          </p:cNvPr>
          <p:cNvSpPr txBox="1"/>
          <p:nvPr/>
        </p:nvSpPr>
        <p:spPr>
          <a:xfrm>
            <a:off x="1206500" y="40894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400">
                <a:solidFill>
                  <a:srgbClr val="6DE21E"/>
                </a:solidFill>
                <a:latin typeface="Consolas"/>
              </a:rPr>
              <a:t>unzip llm-security-scan.zip</a:t>
            </a:r>
            <a:endParaRPr lang="ja-JP" altLang="en-US" sz="1400">
              <a:solidFill>
                <a:srgbClr val="6DE21E"/>
              </a:solidFill>
              <a:latin typeface="Consola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50F40DF-0996-49BE-8158-9EC3FC787A17}"/>
              </a:ext>
            </a:extLst>
          </p:cNvPr>
          <p:cNvSpPr txBox="1"/>
          <p:nvPr/>
        </p:nvSpPr>
        <p:spPr>
          <a:xfrm>
            <a:off x="1016000" y="47244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1500" b="1">
                <a:solidFill>
                  <a:srgbClr val="333333"/>
                </a:solidFill>
              </a:rPr>
              <a:t>3. Claude Code </a:t>
            </a:r>
            <a:r>
              <a:rPr lang="ja-JP" altLang="en-US" sz="1500" b="1">
                <a:solidFill>
                  <a:srgbClr val="333333"/>
                </a:solidFill>
              </a:rPr>
              <a:t>に </a:t>
            </a:r>
            <a:r>
              <a:rPr lang="en-US" altLang="ja-JP" sz="1500" b="1">
                <a:solidFill>
                  <a:srgbClr val="333333"/>
                </a:solidFill>
              </a:rPr>
              <a:t>skill </a:t>
            </a:r>
            <a:r>
              <a:rPr lang="ja-JP" altLang="en-US" sz="1500" b="1">
                <a:solidFill>
                  <a:srgbClr val="333333"/>
                </a:solidFill>
              </a:rPr>
              <a:t>が認識されたか確認：  </a:t>
            </a:r>
            <a:r>
              <a:rPr lang="en-US" altLang="ja-JP" sz="1500" b="1">
                <a:solidFill>
                  <a:srgbClr val="333333"/>
                </a:solidFill>
              </a:rPr>
              <a:t>&gt; skill</a:t>
            </a:r>
            <a:endParaRPr lang="ja-JP" altLang="en-US" sz="1500" b="1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076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41B9B-345A-0460-64FA-F5290B97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実行フロー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5559475-7728-46CF-8455-C48B64F1B154}"/>
              </a:ext>
            </a:extLst>
          </p:cNvPr>
          <p:cNvSpPr/>
          <p:nvPr/>
        </p:nvSpPr>
        <p:spPr>
          <a:xfrm>
            <a:off x="952500" y="2349500"/>
            <a:ext cx="1460500" cy="1016000"/>
          </a:xfrm>
          <a:prstGeom prst="roundRect">
            <a:avLst/>
          </a:prstGeom>
          <a:solidFill>
            <a:srgbClr val="5C11F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1. Claude CLI </a:t>
            </a:r>
            <a:r>
              <a:rPr lang="ja-JP" altLang="en-US" sz="1400" b="1">
                <a:solidFill>
                  <a:srgbClr val="FFFFFF"/>
                </a:solidFill>
              </a:rPr>
              <a:t>起動
（プロジェクトディレクトリで）</a:t>
            </a: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BBE798C3-D9D7-4AA0-BD87-ECE3DC0F549B}"/>
              </a:ext>
            </a:extLst>
          </p:cNvPr>
          <p:cNvSpPr/>
          <p:nvPr/>
        </p:nvSpPr>
        <p:spPr>
          <a:xfrm>
            <a:off x="2489200" y="2755900"/>
            <a:ext cx="152400" cy="2032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93577EC-B4B9-4347-8ECD-991F5F8D557E}"/>
              </a:ext>
            </a:extLst>
          </p:cNvPr>
          <p:cNvSpPr/>
          <p:nvPr/>
        </p:nvSpPr>
        <p:spPr>
          <a:xfrm>
            <a:off x="2717800" y="2349500"/>
            <a:ext cx="1460500" cy="1016000"/>
          </a:xfrm>
          <a:prstGeom prst="roundRect">
            <a:avLst/>
          </a:prstGeom>
          <a:solidFill>
            <a:srgbClr val="7B3F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2. "</a:t>
            </a:r>
            <a:r>
              <a:rPr lang="ja-JP" altLang="en-US" sz="1400" b="1">
                <a:solidFill>
                  <a:srgbClr val="FFFFFF"/>
                </a:solidFill>
              </a:rPr>
              <a:t>セキュリティスキャンを
実行して</a:t>
            </a:r>
            <a:r>
              <a:rPr lang="en-US" altLang="ja-JP" sz="1400" b="1">
                <a:solidFill>
                  <a:srgbClr val="FFFFFF"/>
                </a:solidFill>
              </a:rPr>
              <a:t>" </a:t>
            </a:r>
            <a:r>
              <a:rPr lang="ja-JP" altLang="en-US" sz="1400" b="1">
                <a:solidFill>
                  <a:srgbClr val="FFFFFF"/>
                </a:solidFill>
              </a:rPr>
              <a:t>と指示</a:t>
            </a:r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B2DD3838-D97E-4732-888F-861D479862D9}"/>
              </a:ext>
            </a:extLst>
          </p:cNvPr>
          <p:cNvSpPr/>
          <p:nvPr/>
        </p:nvSpPr>
        <p:spPr>
          <a:xfrm>
            <a:off x="4254500" y="2755900"/>
            <a:ext cx="152400" cy="2032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3F970FB-F1B5-404B-B00B-A69ACCFBF208}"/>
              </a:ext>
            </a:extLst>
          </p:cNvPr>
          <p:cNvSpPr/>
          <p:nvPr/>
        </p:nvSpPr>
        <p:spPr>
          <a:xfrm>
            <a:off x="4483100" y="2349500"/>
            <a:ext cx="1460500" cy="1016000"/>
          </a:xfrm>
          <a:prstGeom prst="roundRect">
            <a:avLst/>
          </a:prstGeom>
          <a:solidFill>
            <a:srgbClr val="089F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3. MCP Serena </a:t>
            </a:r>
            <a:r>
              <a:rPr lang="ja-JP" altLang="en-US" sz="1400" b="1">
                <a:solidFill>
                  <a:srgbClr val="FFFFFF"/>
                </a:solidFill>
              </a:rPr>
              <a:t>が
初期化（初回のみ）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E0AB7121-0B0C-46A5-9A94-38C39EBC586B}"/>
              </a:ext>
            </a:extLst>
          </p:cNvPr>
          <p:cNvSpPr/>
          <p:nvPr/>
        </p:nvSpPr>
        <p:spPr>
          <a:xfrm>
            <a:off x="6019800" y="2755900"/>
            <a:ext cx="152400" cy="2032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C1910FE-1D6B-4ED0-AD7B-7E2F8C6E87B1}"/>
              </a:ext>
            </a:extLst>
          </p:cNvPr>
          <p:cNvSpPr/>
          <p:nvPr/>
        </p:nvSpPr>
        <p:spPr>
          <a:xfrm>
            <a:off x="6248400" y="2349500"/>
            <a:ext cx="1460500" cy="1016000"/>
          </a:xfrm>
          <a:prstGeom prst="roundRect">
            <a:avLst/>
          </a:prstGeom>
          <a:solidFill>
            <a:srgbClr val="089F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4. Claude AI </a:t>
            </a:r>
            <a:r>
              <a:rPr lang="ja-JP" altLang="en-US" sz="1400" b="1">
                <a:solidFill>
                  <a:srgbClr val="FFFFFF"/>
                </a:solidFill>
              </a:rPr>
              <a:t>が
コードを分析</a:t>
            </a:r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A625B2EA-25EB-4EF1-9ACB-A46CFE12B23B}"/>
              </a:ext>
            </a:extLst>
          </p:cNvPr>
          <p:cNvSpPr/>
          <p:nvPr/>
        </p:nvSpPr>
        <p:spPr>
          <a:xfrm>
            <a:off x="7785100" y="2755900"/>
            <a:ext cx="152400" cy="2032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E53ACB89-A473-4797-B4A9-A7FED3998EE0}"/>
              </a:ext>
            </a:extLst>
          </p:cNvPr>
          <p:cNvSpPr/>
          <p:nvPr/>
        </p:nvSpPr>
        <p:spPr>
          <a:xfrm>
            <a:off x="8013700" y="2349500"/>
            <a:ext cx="1460500" cy="1016000"/>
          </a:xfrm>
          <a:prstGeom prst="roundRect">
            <a:avLst/>
          </a:prstGeom>
          <a:solidFill>
            <a:srgbClr val="6DE2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5. </a:t>
            </a:r>
            <a:r>
              <a:rPr lang="ja-JP" altLang="en-US" sz="1400" b="1">
                <a:solidFill>
                  <a:srgbClr val="FFFFFF"/>
                </a:solidFill>
              </a:rPr>
              <a:t>セキュリティ
レポート生成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D2A4204B-9426-44E1-A60C-1BCD706673F3}"/>
              </a:ext>
            </a:extLst>
          </p:cNvPr>
          <p:cNvSpPr/>
          <p:nvPr/>
        </p:nvSpPr>
        <p:spPr>
          <a:xfrm>
            <a:off x="9550400" y="2755900"/>
            <a:ext cx="152400" cy="203200"/>
          </a:xfrm>
          <a:prstGeom prst="rightArrow">
            <a:avLst/>
          </a:prstGeom>
          <a:solidFill>
            <a:srgbClr val="CCCC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64201C3-A1DE-4301-B370-DFFDD7A729D4}"/>
              </a:ext>
            </a:extLst>
          </p:cNvPr>
          <p:cNvSpPr/>
          <p:nvPr/>
        </p:nvSpPr>
        <p:spPr>
          <a:xfrm>
            <a:off x="9779000" y="2349500"/>
            <a:ext cx="1460500" cy="1016000"/>
          </a:xfrm>
          <a:prstGeom prst="roundRect">
            <a:avLst/>
          </a:prstGeom>
          <a:solidFill>
            <a:srgbClr val="6DE21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6. </a:t>
            </a:r>
            <a:r>
              <a:rPr lang="ja-JP" altLang="en-US" sz="1400" b="1">
                <a:solidFill>
                  <a:srgbClr val="FFFFFF"/>
                </a:solidFill>
              </a:rPr>
              <a:t>結果を
ファイル保存
（オプション）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C5229F4-45B1-4F22-93A1-82014D17AE90}"/>
              </a:ext>
            </a:extLst>
          </p:cNvPr>
          <p:cNvSpPr txBox="1"/>
          <p:nvPr/>
        </p:nvSpPr>
        <p:spPr>
          <a:xfrm>
            <a:off x="4318000" y="3683000"/>
            <a:ext cx="355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zh-TW" altLang="en-US" b="1">
                <a:solidFill>
                  <a:srgbClr val="DA0000"/>
                </a:solidFill>
              </a:rPr>
              <a:t>⏱️ 所要時間：約 </a:t>
            </a:r>
            <a:r>
              <a:rPr lang="en-US" altLang="zh-TW" b="1">
                <a:solidFill>
                  <a:srgbClr val="DA0000"/>
                </a:solidFill>
              </a:rPr>
              <a:t>10 </a:t>
            </a:r>
            <a:r>
              <a:rPr lang="zh-TW" altLang="en-US" b="1">
                <a:solidFill>
                  <a:srgbClr val="DA0000"/>
                </a:solidFill>
              </a:rPr>
              <a:t>分</a:t>
            </a:r>
            <a:endParaRPr lang="ja-JP" altLang="en-US" b="1">
              <a:solidFill>
                <a:srgbClr val="DA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028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E05990-5F53-1D84-EC2A-430E3C5F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スキャンで検出される項目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FABF83-56D6-4255-A2A8-CFDECE63FA9C}"/>
              </a:ext>
            </a:extLst>
          </p:cNvPr>
          <p:cNvSpPr txBox="1"/>
          <p:nvPr/>
        </p:nvSpPr>
        <p:spPr>
          <a:xfrm>
            <a:off x="762000" y="1778000"/>
            <a:ext cx="5207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800" b="1" dirty="0">
                <a:solidFill>
                  <a:srgbClr val="5C11F3"/>
                </a:solidFill>
                <a:latin typeface="Calibri"/>
                <a:ea typeface="Yu Gothic"/>
              </a:rPr>
              <a:t>セキュリティ脆弱性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XSS（クロスサイトスクリプティング）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SQL インジェクション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認証・認可の問題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依存関係の脆弱性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暗号化関連の問題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61632F1-D4EB-4FF9-9651-0F6A7B14E9FA}"/>
              </a:ext>
            </a:extLst>
          </p:cNvPr>
          <p:cNvSpPr txBox="1"/>
          <p:nvPr/>
        </p:nvSpPr>
        <p:spPr>
          <a:xfrm>
            <a:off x="6350000" y="1778000"/>
            <a:ext cx="5207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800" b="1" dirty="0">
                <a:solidFill>
                  <a:srgbClr val="089FEA"/>
                </a:solidFill>
                <a:latin typeface="Calibri"/>
                <a:ea typeface="Yu Gothic"/>
              </a:rPr>
              <a:t>コード品質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セキュリティアンチパターン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危険な関数の使用</a:t>
            </a:r>
          </a:p>
          <a:p>
            <a:pPr marL="342900" indent="-342900">
              <a:spcBef>
                <a:spcPts val="400"/>
              </a:spcBef>
              <a:buFont typeface="Arial"/>
              <a:buChar char="✓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設定ファイルの問題</a:t>
            </a:r>
          </a:p>
        </p:txBody>
      </p:sp>
    </p:spTree>
    <p:extLst>
      <p:ext uri="{BB962C8B-B14F-4D97-AF65-F5344CB8AC3E}">
        <p14:creationId xmlns:p14="http://schemas.microsoft.com/office/powerpoint/2010/main" val="687666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5DFE52-2BB5-98D6-B19A-C83F2666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入力と出力の流れ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9CB45E-0583-4D29-84C0-EF157FAF1119}"/>
              </a:ext>
            </a:extLst>
          </p:cNvPr>
          <p:cNvSpPr txBox="1"/>
          <p:nvPr/>
        </p:nvSpPr>
        <p:spPr>
          <a:xfrm>
            <a:off x="1016000" y="17145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5C11F3"/>
                </a:solidFill>
              </a:rPr>
              <a:t>入力（何をスキャンするか）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1FF24D-D2C8-4F7E-8185-259F5B5F5AFE}"/>
              </a:ext>
            </a:extLst>
          </p:cNvPr>
          <p:cNvSpPr txBox="1"/>
          <p:nvPr/>
        </p:nvSpPr>
        <p:spPr>
          <a:xfrm>
            <a:off x="1016000" y="2159000"/>
            <a:ext cx="5080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Claude CLI を起動したディレクトリ以下を自動探索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/>
                <a:ea typeface="Yu Gothic"/>
              </a:rPr>
              <a:t>package.json で JavaScript/Node.js を検出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Vue.js/React/Express.js のフレームワークを判定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プロジェクト型（CLI/SV/Hybrid）を判定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60CA961-C0BF-4B41-823F-41BD46DDC8DC}"/>
              </a:ext>
            </a:extLst>
          </p:cNvPr>
          <p:cNvSpPr txBox="1"/>
          <p:nvPr/>
        </p:nvSpPr>
        <p:spPr>
          <a:xfrm>
            <a:off x="6477000" y="1714500"/>
            <a:ext cx="5334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b="1">
                <a:solidFill>
                  <a:srgbClr val="089FEA"/>
                </a:solidFill>
              </a:rPr>
              <a:t>出力（スキャン結果をどこで見るか）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F19A95-6755-4BB6-A26E-F7364EFB7BFC}"/>
              </a:ext>
            </a:extLst>
          </p:cNvPr>
          <p:cNvSpPr txBox="1"/>
          <p:nvPr/>
        </p:nvSpPr>
        <p:spPr>
          <a:xfrm>
            <a:off x="6477000" y="2159000"/>
            <a:ext cx="5334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b="1" dirty="0">
                <a:solidFill>
                  <a:srgbClr val="333333"/>
                </a:solidFill>
                <a:latin typeface="Calibri"/>
                <a:ea typeface="Yu Gothic"/>
              </a:rPr>
              <a:t>ターミナル（Claude CLI）</a:t>
            </a:r>
          </a:p>
          <a:p>
            <a:pPr marL="571500" indent="-228600">
              <a:spcBef>
                <a:spcPts val="200"/>
              </a:spcBef>
              <a:buFont typeface="Arial"/>
              <a:buChar char="–"/>
            </a:pP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リアルタイム確認、スキャン実行中に自動表示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400" b="1" dirty="0">
                <a:solidFill>
                  <a:srgbClr val="333333"/>
                </a:solidFill>
                <a:latin typeface="Calibri"/>
                <a:ea typeface="Yu Gothic"/>
              </a:rPr>
              <a:t>ファイル保存</a:t>
            </a:r>
          </a:p>
          <a:p>
            <a:pPr marL="571500" indent="-228600">
              <a:spcBef>
                <a:spcPts val="200"/>
              </a:spcBef>
              <a:buFont typeface="Arial"/>
              <a:buChar char="–"/>
            </a:pP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「レポートをファイルに保存して」で Markdown 生成</a:t>
            </a:r>
          </a:p>
          <a:p>
            <a:pPr marL="571500" indent="-228600">
              <a:spcBef>
                <a:spcPts val="200"/>
              </a:spcBef>
              <a:buFont typeface="Arial"/>
              <a:buChar char="–"/>
            </a:pP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例：security-report-2026-03-10.md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C30D016-6543-43EA-8365-162BE77EE1DF}"/>
              </a:ext>
            </a:extLst>
          </p:cNvPr>
          <p:cNvSpPr/>
          <p:nvPr/>
        </p:nvSpPr>
        <p:spPr>
          <a:xfrm>
            <a:off x="6248400" y="1778000"/>
            <a:ext cx="25400" cy="31750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A1C6E8-9D0B-4BD9-BA5F-C86BC1853F76}"/>
              </a:ext>
            </a:extLst>
          </p:cNvPr>
          <p:cNvSpPr txBox="1"/>
          <p:nvPr/>
        </p:nvSpPr>
        <p:spPr>
          <a:xfrm>
            <a:off x="1016000" y="4826000"/>
            <a:ext cx="1016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500" b="1">
                <a:solidFill>
                  <a:srgbClr val="DA0000"/>
                </a:solidFill>
              </a:rPr>
              <a:t>自動判定：起動ディレクトリ以下のプロジェクト型を自動判定</a:t>
            </a:r>
          </a:p>
        </p:txBody>
      </p:sp>
    </p:spTree>
    <p:extLst>
      <p:ext uri="{BB962C8B-B14F-4D97-AF65-F5344CB8AC3E}">
        <p14:creationId xmlns:p14="http://schemas.microsoft.com/office/powerpoint/2010/main" val="786569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2E795D-92DB-E837-CE69-4A3F52DDC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期待される成果物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E207E8-F796-446C-94AF-A5C8C697F31A}"/>
              </a:ext>
            </a:extLst>
          </p:cNvPr>
          <p:cNvSpPr txBox="1"/>
          <p:nvPr/>
        </p:nvSpPr>
        <p:spPr>
          <a:xfrm>
            <a:off x="1016000" y="1778000"/>
            <a:ext cx="10160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800" b="1" dirty="0">
                <a:solidFill>
                  <a:srgbClr val="5C11F3"/>
                </a:solidFill>
                <a:latin typeface="Calibri"/>
                <a:ea typeface="Yu Gothic"/>
              </a:rPr>
              <a:t>セキュリティレポート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検出された脆弱性リスト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重大度別の分類（</a:t>
            </a:r>
            <a:r>
              <a:rPr lang="en-US" sz="1500" b="1" dirty="0">
                <a:solidFill>
                  <a:srgbClr val="DA0000"/>
                </a:solidFill>
                <a:latin typeface="Calibri"/>
                <a:ea typeface="Yu Gothic"/>
              </a:rPr>
              <a:t>Critical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/ </a:t>
            </a:r>
            <a:r>
              <a:rPr lang="en-US" sz="1500" b="1" dirty="0">
                <a:solidFill>
                  <a:srgbClr val="F79646"/>
                </a:solidFill>
                <a:latin typeface="Calibri"/>
                <a:ea typeface="Yu Gothic"/>
              </a:rPr>
              <a:t>High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/ </a:t>
            </a:r>
            <a:r>
              <a:rPr lang="en-US" sz="1500" b="1" dirty="0">
                <a:solidFill>
                  <a:srgbClr val="089FEA"/>
                </a:solidFill>
                <a:latin typeface="Calibri"/>
                <a:ea typeface="Yu Gothic"/>
              </a:rPr>
              <a:t>Medium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 / </a:t>
            </a:r>
            <a:r>
              <a:rPr lang="en-US" sz="1500" b="1" dirty="0">
                <a:solidFill>
                  <a:srgbClr val="6DE21E"/>
                </a:solidFill>
                <a:latin typeface="Calibri"/>
                <a:ea typeface="Yu Gothic"/>
              </a:rPr>
              <a:t>Low</a:t>
            </a: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）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具体的な修正方法の提案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影響範囲の説明</a:t>
            </a:r>
          </a:p>
          <a:p>
            <a:pPr algn="l">
              <a:spcBef>
                <a:spcPts val="800"/>
              </a:spcBef>
              <a:buNone/>
            </a:pPr>
            <a:r>
              <a:rPr lang="ja-JP" sz="1800" b="1" dirty="0">
                <a:solidFill>
                  <a:srgbClr val="5C11F3"/>
                </a:solidFill>
                <a:latin typeface="Calibri"/>
                <a:ea typeface="Yu Gothic"/>
              </a:rPr>
              <a:t>ファイルに保存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「得られたレポートをファイルに保存して」と指示</a:t>
            </a:r>
          </a:p>
          <a:p>
            <a:pPr marL="342900" indent="-342900">
              <a:spcBef>
                <a:spcPts val="400"/>
              </a:spcBef>
              <a:buFont typeface="Arial"/>
              <a:buChar char="•"/>
            </a:pPr>
            <a:r>
              <a:rPr lang="ja-JP" sz="1500" dirty="0">
                <a:solidFill>
                  <a:srgbClr val="333333"/>
                </a:solidFill>
                <a:latin typeface="Calibri"/>
                <a:ea typeface="Yu Gothic"/>
              </a:rPr>
              <a:t>Markdown 形式で出力・共有可能</a:t>
            </a:r>
          </a:p>
        </p:txBody>
      </p:sp>
    </p:spTree>
    <p:extLst>
      <p:ext uri="{BB962C8B-B14F-4D97-AF65-F5344CB8AC3E}">
        <p14:creationId xmlns:p14="http://schemas.microsoft.com/office/powerpoint/2010/main" val="3849099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149CD-68C1-9C87-1254-E121EF33F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付録 </a:t>
            </a:r>
            <a:r>
              <a:rPr kumimoji="1" lang="en-US" altLang="ja-JP" sz="2800" b="1"/>
              <a:t>A</a:t>
            </a:r>
            <a:r>
              <a:rPr kumimoji="1" lang="ja-JP" altLang="en-US" sz="2800" b="1"/>
              <a:t>：</a:t>
            </a:r>
            <a:r>
              <a:rPr kumimoji="1" lang="en-US" altLang="ja-JP" sz="2800" b="1"/>
              <a:t>v1.0.0 </a:t>
            </a:r>
            <a:r>
              <a:rPr kumimoji="1" lang="ja-JP" altLang="en-US" sz="2800" b="1"/>
              <a:t>仕様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3F632A-EC87-4752-B0F4-4F45CF36A677}"/>
              </a:ext>
            </a:extLst>
          </p:cNvPr>
          <p:cNvSpPr txBox="1"/>
          <p:nvPr/>
        </p:nvSpPr>
        <p:spPr>
          <a:xfrm>
            <a:off x="762000" y="1778000"/>
            <a:ext cx="5334000" cy="444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600" b="1" dirty="0">
                <a:solidFill>
                  <a:srgbClr val="5C11F3"/>
                </a:solidFill>
                <a:latin typeface="Calibri"/>
                <a:ea typeface="Yu Gothic"/>
              </a:rPr>
              <a:t>プロジェクト型の自動判定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b="1" dirty="0">
                <a:solidFill>
                  <a:srgbClr val="333333"/>
                </a:solidFill>
                <a:latin typeface="Calibri"/>
                <a:ea typeface="Yu Gothic"/>
              </a:rPr>
              <a:t>判定基準：</a:t>
            </a: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package.json の存在とディレクトリ構造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b="1" dirty="0">
                <a:solidFill>
                  <a:srgbClr val="333333"/>
                </a:solidFill>
                <a:latin typeface="Calibri"/>
                <a:ea typeface="Yu Gothic"/>
              </a:rPr>
              <a:t>対応 FW：</a:t>
            </a: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Vue.js, React, Express.js, NestJS など</a:t>
            </a:r>
          </a:p>
          <a:p>
            <a:pPr algn="l">
              <a:spcBef>
                <a:spcPts val="600"/>
              </a:spcBef>
              <a:buNone/>
            </a:pPr>
            <a:r>
              <a:rPr lang="ja-JP" sz="1600" b="1" dirty="0">
                <a:solidFill>
                  <a:srgbClr val="5C11F3"/>
                </a:solidFill>
                <a:latin typeface="Calibri"/>
                <a:ea typeface="Yu Gothic"/>
              </a:rPr>
              <a:t>プロジェクト分類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b="1" dirty="0">
                <a:solidFill>
                  <a:srgbClr val="089FEA"/>
                </a:solidFill>
                <a:latin typeface="Calibri"/>
                <a:ea typeface="Yu Gothic"/>
              </a:rPr>
              <a:t>CLI（クライアント）</a:t>
            </a: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 — Vue.js/React 等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b="1" dirty="0">
                <a:solidFill>
                  <a:srgbClr val="089FEA"/>
                </a:solidFill>
                <a:latin typeface="Calibri"/>
                <a:ea typeface="Yu Gothic"/>
              </a:rPr>
              <a:t>SV（サーバー）</a:t>
            </a: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 — Express.js/NestJS 等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ja-JP" sz="1400" b="1" dirty="0">
                <a:solidFill>
                  <a:srgbClr val="089FEA"/>
                </a:solidFill>
                <a:latin typeface="Calibri"/>
                <a:ea typeface="Yu Gothic"/>
              </a:rPr>
              <a:t>Hybrid（ハイブリッド）</a:t>
            </a: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 — フルスタック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52E3D0-214C-4D6B-AF04-E002AB08F401}"/>
              </a:ext>
            </a:extLst>
          </p:cNvPr>
          <p:cNvSpPr txBox="1"/>
          <p:nvPr/>
        </p:nvSpPr>
        <p:spPr>
          <a:xfrm>
            <a:off x="6350000" y="1778000"/>
            <a:ext cx="5461000" cy="444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600" b="1" dirty="0">
                <a:solidFill>
                  <a:srgbClr val="5C11F3"/>
                </a:solidFill>
                <a:latin typeface="Calibri"/>
                <a:ea typeface="Yu Gothic"/>
              </a:rPr>
              <a:t>セキュリティチェックリスト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ja-JP" sz="1400" b="1" dirty="0">
                <a:solidFill>
                  <a:srgbClr val="333333"/>
                </a:solidFill>
                <a:latin typeface="Calibri"/>
                <a:ea typeface="Yu Gothic"/>
              </a:rPr>
              <a:t>CLI向け：</a:t>
            </a: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トークン管理、XSS対策、API通信、依存関係、データ保護</a:t>
            </a:r>
          </a:p>
          <a:p>
            <a:pPr marL="342900" indent="-342900">
              <a:spcBef>
                <a:spcPts val="200"/>
              </a:spcBef>
              <a:buFont typeface="Arial"/>
              <a:buChar char="•"/>
            </a:pPr>
            <a:r>
              <a:rPr lang="ja-JP" sz="1400" b="1" dirty="0">
                <a:solidFill>
                  <a:srgbClr val="333333"/>
                </a:solidFill>
                <a:latin typeface="Calibri"/>
                <a:ea typeface="Yu Gothic"/>
              </a:rPr>
              <a:t>SV向け：</a:t>
            </a: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JWT管理、DBセキュリティ、入力検証、CORS、エラー処理、レート制限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AD68540-0C2C-4727-8BE1-6A87C796AEF2}"/>
              </a:ext>
            </a:extLst>
          </p:cNvPr>
          <p:cNvSpPr/>
          <p:nvPr/>
        </p:nvSpPr>
        <p:spPr>
          <a:xfrm>
            <a:off x="6159500" y="1841500"/>
            <a:ext cx="25400" cy="3937000"/>
          </a:xfrm>
          <a:prstGeom prst="rect">
            <a:avLst/>
          </a:prstGeom>
          <a:solidFill>
            <a:srgbClr val="DDDDD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34240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E781D5-352B-1402-873F-3BC18050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対応言語とプロジェクト型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B749B26-0003-4783-A664-38E53D868C3D}"/>
              </a:ext>
            </a:extLst>
          </p:cNvPr>
          <p:cNvSpPr txBox="1"/>
          <p:nvPr/>
        </p:nvSpPr>
        <p:spPr>
          <a:xfrm>
            <a:off x="1016000" y="17145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b="1">
                <a:solidFill>
                  <a:srgbClr val="5C11F3"/>
                </a:solidFill>
              </a:rPr>
              <a:t>v1.0.0 </a:t>
            </a:r>
            <a:r>
              <a:rPr lang="ja-JP" altLang="en-US" b="1">
                <a:solidFill>
                  <a:srgbClr val="5C11F3"/>
                </a:solidFill>
              </a:rPr>
              <a:t>対応言語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4470D1A3-B2DE-4E84-B9F3-6E2A4917B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593044"/>
              </p:ext>
            </p:extLst>
          </p:nvPr>
        </p:nvGraphicFramePr>
        <p:xfrm>
          <a:off x="1016000" y="2222500"/>
          <a:ext cx="10160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436444338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570932326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161605221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33419878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言語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フレームワーク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サポート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備考</a:t>
                      </a:r>
                    </a:p>
                  </a:txBody>
                  <a:tcPr anchor="ctr">
                    <a:solidFill>
                      <a:srgbClr val="5C1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56775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333333"/>
                          </a:solidFill>
                        </a:rPr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Vue.js, React, Angular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✅ 完全対応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クライアント向けチェック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494513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333333"/>
                          </a:solidFill>
                        </a:rPr>
                        <a:t>TypeScript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Next.js, Nuxt.js, Remix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✅ 完全対応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型安全性チェック含む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511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>
                          <a:solidFill>
                            <a:srgbClr val="333333"/>
                          </a:solidFill>
                        </a:rPr>
                        <a:t>Node.js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Express.js, NestJS, Koa, Fastify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✅ 完全対応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solidFill>
                            <a:srgbClr val="333333"/>
                          </a:solidFill>
                        </a:rPr>
                        <a:t>サーバー向けチェック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2364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3544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6C515-A5C6-A597-3495-A3FDE700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b="1"/>
              <a:t>付録 </a:t>
            </a:r>
            <a:r>
              <a:rPr kumimoji="1" lang="en-US" altLang="ja-JP" sz="2800" b="1"/>
              <a:t>B</a:t>
            </a:r>
            <a:r>
              <a:rPr kumimoji="1" lang="ja-JP" altLang="en-US" sz="2800" b="1"/>
              <a:t>：よくある質問（</a:t>
            </a:r>
            <a:r>
              <a:rPr kumimoji="1" lang="en-US" altLang="ja-JP" sz="2800" b="1"/>
              <a:t>Q&amp;A</a:t>
            </a:r>
            <a:r>
              <a:rPr kumimoji="1" lang="ja-JP" altLang="en-US" sz="2800" b="1"/>
              <a:t>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7DBB47-D81A-4AC1-B51F-F540563034E1}"/>
              </a:ext>
            </a:extLst>
          </p:cNvPr>
          <p:cNvSpPr txBox="1"/>
          <p:nvPr/>
        </p:nvSpPr>
        <p:spPr>
          <a:xfrm>
            <a:off x="762000" y="1778000"/>
            <a:ext cx="5334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400" b="1" dirty="0">
                <a:solidFill>
                  <a:srgbClr val="5C11F3"/>
                </a:solidFill>
                <a:latin typeface="Calibri"/>
                <a:ea typeface="Yu Gothic"/>
              </a:rPr>
              <a:t>Q1: npm audit の実行を聞かれた場合？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A: 別フェーズで実行するため「実行しない」を選択</a:t>
            </a:r>
          </a:p>
          <a:p>
            <a:pPr algn="l">
              <a:spcBef>
                <a:spcPts val="600"/>
              </a:spcBef>
              <a:buNone/>
            </a:pPr>
            <a:r>
              <a:rPr lang="ja-JP" sz="1400" b="1" dirty="0">
                <a:solidFill>
                  <a:srgbClr val="5C11F3"/>
                </a:solidFill>
                <a:latin typeface="Calibri"/>
                <a:ea typeface="Yu Gothic"/>
              </a:rPr>
              <a:t>Q2: スキャン結果の信頼性は？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A: Claude AI による分析のため、最終確認はチーム内で行うことを推奨</a:t>
            </a:r>
          </a:p>
          <a:p>
            <a:pPr algn="l">
              <a:spcBef>
                <a:spcPts val="600"/>
              </a:spcBef>
              <a:buNone/>
            </a:pPr>
            <a:r>
              <a:rPr lang="ja-JP" sz="1400" b="1" dirty="0">
                <a:solidFill>
                  <a:srgbClr val="5C11F3"/>
                </a:solidFill>
                <a:latin typeface="Calibri"/>
                <a:ea typeface="Yu Gothic"/>
              </a:rPr>
              <a:t>Q3: 同じプロジェクトを再スキャンできる？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A: はい、何回でも実行可能（2回目以降は高速化）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C12212-EA2E-4513-A74F-96CBCB75F6C7}"/>
              </a:ext>
            </a:extLst>
          </p:cNvPr>
          <p:cNvSpPr txBox="1"/>
          <p:nvPr/>
        </p:nvSpPr>
        <p:spPr>
          <a:xfrm>
            <a:off x="6350000" y="1778000"/>
            <a:ext cx="5461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ja-JP" sz="1400" b="1" dirty="0">
                <a:solidFill>
                  <a:srgbClr val="5C11F3"/>
                </a:solidFill>
                <a:latin typeface="Calibri"/>
                <a:ea typeface="Yu Gothic"/>
              </a:rPr>
              <a:t>Q4: スキャン結果をファイルに保存できる？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A: はい、「レポートをファイルに保存して」と指示</a:t>
            </a:r>
          </a:p>
          <a:p>
            <a:pPr algn="l">
              <a:spcBef>
                <a:spcPts val="600"/>
              </a:spcBef>
              <a:buNone/>
            </a:pPr>
            <a:r>
              <a:rPr lang="ja-JP" sz="1400" b="1" dirty="0">
                <a:solidFill>
                  <a:srgbClr val="5C11F3"/>
                </a:solidFill>
                <a:latin typeface="Calibri"/>
                <a:ea typeface="Yu Gothic"/>
              </a:rPr>
              <a:t>Q5: Python/Java プロジェクトもスキャンできる？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A: 現在は JavaScript/Node.js が公式対応。他言語は技術的に検討中</a:t>
            </a:r>
          </a:p>
          <a:p>
            <a:pPr algn="l">
              <a:spcBef>
                <a:spcPts val="600"/>
              </a:spcBef>
              <a:buNone/>
            </a:pPr>
            <a:r>
              <a:rPr lang="ja-JP" sz="1400" b="1" dirty="0">
                <a:solidFill>
                  <a:srgbClr val="5C11F3"/>
                </a:solidFill>
                <a:latin typeface="Calibri"/>
                <a:ea typeface="Yu Gothic"/>
              </a:rPr>
              <a:t>Q6: 出力結果はどこで見られる？</a:t>
            </a:r>
          </a:p>
          <a:p>
            <a:pPr algn="l">
              <a:spcBef>
                <a:spcPts val="200"/>
              </a:spcBef>
              <a:buNone/>
            </a:pPr>
            <a:r>
              <a:rPr lang="ja-JP" sz="1400" dirty="0">
                <a:solidFill>
                  <a:srgbClr val="333333"/>
                </a:solidFill>
                <a:latin typeface="Calibri"/>
                <a:ea typeface="Yu Gothic"/>
              </a:rPr>
              <a:t>A: 2つの方法</a:t>
            </a:r>
          </a:p>
          <a:p>
            <a:pPr marL="571500" indent="-228600">
              <a:spcBef>
                <a:spcPts val="100"/>
              </a:spcBef>
              <a:buFont typeface="Arial"/>
              <a:buChar char="–"/>
            </a:pP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リアルタイム：Claude CLI のターミナル画面</a:t>
            </a:r>
          </a:p>
          <a:p>
            <a:pPr marL="571500" indent="-228600">
              <a:spcBef>
                <a:spcPts val="100"/>
              </a:spcBef>
              <a:buFont typeface="Arial"/>
              <a:buChar char="–"/>
            </a:pPr>
            <a:r>
              <a:rPr lang="ja-JP" sz="1400" dirty="0">
                <a:solidFill>
                  <a:srgbClr val="555555"/>
                </a:solidFill>
                <a:latin typeface="Calibri"/>
                <a:ea typeface="Yu Gothic"/>
              </a:rPr>
              <a:t>保存：Markdown ファイルとして生成・保存可能</a:t>
            </a:r>
          </a:p>
        </p:txBody>
      </p:sp>
    </p:spTree>
    <p:extLst>
      <p:ext uri="{BB962C8B-B14F-4D97-AF65-F5344CB8AC3E}">
        <p14:creationId xmlns:p14="http://schemas.microsoft.com/office/powerpoint/2010/main" val="189891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LLM Security Scan">
      <a:dk1>
        <a:srgbClr val="000000"/>
      </a:dk1>
      <a:lt1>
        <a:srgbClr val="FFFFFF"/>
      </a:lt1>
      <a:dk2>
        <a:srgbClr val="DA0000"/>
      </a:dk2>
      <a:lt2>
        <a:srgbClr val="EEECE1"/>
      </a:lt2>
      <a:accent1>
        <a:srgbClr val="5C11F3"/>
      </a:accent1>
      <a:accent2>
        <a:srgbClr val="FF4F4F"/>
      </a:accent2>
      <a:accent3>
        <a:srgbClr val="089FEA"/>
      </a:accent3>
      <a:accent4>
        <a:srgbClr val="6DE21E"/>
      </a:accent4>
      <a:accent5>
        <a:srgbClr val="F79646"/>
      </a:accent5>
      <a:accent6>
        <a:srgbClr val="C2BB93"/>
      </a:accent6>
      <a:hlink>
        <a:srgbClr val="467886"/>
      </a:hlink>
      <a:folHlink>
        <a:srgbClr val="96607D"/>
      </a:folHlink>
    </a:clrScheme>
    <a:fontScheme name="LLM Security Scan">
      <a:majorFont>
        <a:latin typeface="Calibri" panose="02110004020202020204"/>
        <a:ea typeface="Yu Gothi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Yu Gothi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F99F1B-EC07-4550-BBE0-7030CCD478DA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1007</Words>
  <Application>Microsoft Office PowerPoint</Application>
  <PresentationFormat>ワイド画面</PresentationFormat>
  <Paragraphs>152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テーマ</vt:lpstr>
      <vt:lpstr>LLM Security Scan</vt:lpstr>
      <vt:lpstr>目次</vt:lpstr>
      <vt:lpstr>LLM Security Scan とは</vt:lpstr>
      <vt:lpstr>従来のセキュリティスキャンとの違い</vt:lpstr>
      <vt:lpstr>必要な準備</vt:lpstr>
      <vt:lpstr>セットアップ手順（ステップ 1/3）</vt:lpstr>
      <vt:lpstr>セットアップ手順（ステップ 2/3）</vt:lpstr>
      <vt:lpstr>セットアップ手順（ステップ 3/3）</vt:lpstr>
      <vt:lpstr>実行フロー</vt:lpstr>
      <vt:lpstr>スキャンで検出される項目</vt:lpstr>
      <vt:lpstr>入力と出力の流れ</vt:lpstr>
      <vt:lpstr>期待される成果物</vt:lpstr>
      <vt:lpstr>付録 A：v1.0.0 仕様</vt:lpstr>
      <vt:lpstr>対応言語とプロジェクト型</vt:lpstr>
      <vt:lpstr>付録 B：よくある質問（Q&amp;A）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引地 信之</dc:creator>
  <cp:lastModifiedBy>引地 信之</cp:lastModifiedBy>
  <cp:revision>1</cp:revision>
  <dcterms:created xsi:type="dcterms:W3CDTF">2026-03-10T04:57:05Z</dcterms:created>
  <dcterms:modified xsi:type="dcterms:W3CDTF">2026-03-10T05:15:13Z</dcterms:modified>
</cp:coreProperties>
</file>